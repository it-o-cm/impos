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4.xml" ContentType="application/vnd.openxmlformats-officedocument.presentationml.slide+xml"/>
  <Override PartName="/ppt/slides/slide25.xml" ContentType="application/vnd.openxmlformats-officedocument.presentationml.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81" r:id="rId32"/>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2" r:id="rId33"/>
    <p:sldId id="271" r:id="rId17"/>
    <p:sldId id="272" r:id="rId18"/>
    <p:sldId id="279" r:id="rId30"/>
    <p:sldId id="273" r:id="rId19"/>
    <p:sldId id="274" r:id="rId20"/>
    <p:sldId id="283" r:id="rId34"/>
    <p:sldId id="275" r:id="rId21"/>
    <p:sldId id="276" r:id="rId22"/>
    <p:sldId id="280" r:id="rId31"/>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  <Relationship Id="rId30" Type="http://schemas.openxmlformats.org/officeDocument/2006/relationships/slide" Target="slides/slide24.xml"/>
  <Relationship Id="rId31" Type="http://schemas.openxmlformats.org/officeDocument/2006/relationships/slide" Target="slides/slide25.xml"/>
  <Relationship Id="rId32" Type="http://schemas.openxmlformats.org/officeDocument/2006/relationships/slide" Target="slides/slide26.xml"/>
  <Relationship Id="rId33" Type="http://schemas.openxmlformats.org/officeDocument/2006/relationships/slide" Target="slides/slide27.xml"/>
  <Relationship Id="rId34" Type="http://schemas.openxmlformats.org/officeDocument/2006/relationships/slide" Target="slides/slide28.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équipes techniques / développeurs.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d'introduction : poser en deux minutes que l'objet est d'une autre nature que tout ce que l'informatique a produit. Devant des développeurs, insister sur le point qui commande toute la pratique : elle se trompe par contresens, pas comme un programme bugue — c'est ce qui dicte la manière de valider.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 athlète / TGV. Poser le débat d'entrée : l'écart dont il est question n'est pas un écart de productivité entre deux équipes, c'est un écart de moyen de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Chiffres tels que rapportés par les études citées dans la presse spécialisée (METR, McKinsey, Opsera, GitClear, enquêtes Stack Overflow) — à présenter comme le climat, pas comme des mesures propres. La ligne de défense la plus répandue est « l'IA, c'est un junior » : c'est celle que la suite démonte.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développeurs du paradoxe : dire les choses franchement, sans accabler. Les objections sont légitimes tant qu'elles se mesurent ; la suite montre ce que donne l'outil quand on le pilote.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quatre messages de la session. Sur le premier, insister : même si l'IA s'arrêtait de progresser aujourd'hui, tout ce qui est dit dans cette présentation serait déjà vrai et tout serait déjà transformé. On ne parle pas d'une promesse, on parle de la réalité de septembre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L'omniscience est la force qu'on sous-estime le plus : elle ouvre des chantiers qu'une équipe s'interdisait faute de spécialiste. La discipline est celle qu'on n'attend pas : une machine qui ne se lasse jamais d'appliquer une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Reprise de l'article LinkedIn « pourquoi le code IA dépasse le code humain ». Les six critères sont ceux de l'article, dans son ordre. Le coût est mis en premier pour mieux passer à autre chose : pour une équipe technique, ce sont la qualité, la durabilité et la cohérence qui comptent.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Carte de lecture des quatre slides suivantes. Le point d'organisation : un même pilote traverse les quatre phases ; c'est là que les découpages hérités du cycle en V cassent.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à marteler : on ne part pas de zéro. La connaissance du métier est déjà là ; le temps se passe sur ce qui est propre au client. Mode opératoire : interview, spécification par passes, décomptes produits par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débit brut n'était déjà plus le problème. Ce qui change, c'est le niveau : on ne pilote plus un junior, on pilote un expert qui ne se fatigue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renversement économique de cette phase est le fait le plus structurant du retour d'expérience.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cas de la caisse est la preuve. À dire tel quel : sur les enquêtes, on n'est plus dans le facteur vingt ou cinquante — on est dans le facteur mille. Devant des développeurs, entrer dans le détail si la salle le demande : lecture du bytecode, symboles de la bibliothèque native, essais sur la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après les phases, l'organisation. Ce qui suit ne décrit pas une accélération de l'existant mais une autre manière de travailler.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Raconter ici, à l'oral, l'histoire des trois microservices A, B et C et de la « réunion » de quinze minutes entre leurs deux chats. Le message à retenir : un chat est une équipe, et un pilote gère des équipes.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message pour une équipe : accélérer la production sans changer la manière de valider ne fait que déplacer le goulot sur la revue, où il se bouche plus vite. C'est la pratique à changer en premier.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n'est pas un choix entre deux outils : c'est une division du travail entre ce qui demande l'humain et ce qui ne le demande pas. Verdict après un parcours agentique complet : pas que des inconvénients, mais très fragile et très rustique — les incidents viennent tous du harnais et de la machine hôte, aucun du modèle ni des livrables.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200 € correspondent à l'offre haut de gamme d'un abonnement individuel ; le −95 % est celui de l'article « pourquoi le code IA vaut plus ». Les tarifs sont ceux de septembre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 développeur : les compétences qui prennent de la valeur sont la connaissance du domaine, la spécification et la validation — pas la vitesse d'écriture ni la maîtrise d'un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sobre de l'article « la table renversée » : mêmes quatre constats, registre professionnel, sans personnalisation. Vient après les conséquences pour le métier, avant l'avis de l'IA et les premiers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rédigée par l'IA elle-même, à la demande de l'auteur, sans consigne de contenu. À présenter comme telle.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règles réellement données à la machine sur les projets présentés. Le message : la discipline de l'IA n'est pas un don, c'est la contrepartie de consignes écrites. Ce qui reste implicite est décidé sans nous.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gestes concrets pour la semaine qui suit la session. L'agentique vient ensuite, une fois la pratique du chat installée.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Image-support de l'intuition. Les deux axes horizontaux sont l'espace des questions et l'espace des réponses ; la hauteur est la pertinence. La réalité est cette surface ; le modèle en a appris une approximation. Une question fixe une coupe du paysage ; répondre, c'est trouver le sommet de cette coupe — y compris pour une question jamais posée. Les zones mal apprises expliquent le contresens assuré ; le contexte fourni (spécification, documentation, ce qui est propre ici) précise la surface localement.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principe le plus difficile à adopter pour un développeur : ne plus produire soi-même, même une ligne, même « parce que c'est plus rapide ». Le temps humain est la ressource rare ; il va à la décision et à la validation, pas à la production. Dernière ligne à dire à l'oral : cette présentation elle-même a été rédigée par 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Jira, Git, l'IDE, l'agile : excellents pour ce pour quoi ils ont été conçus — une production à vitesse humaine. Ils ne sont pas encore adaptés à la nouvelle réalité, et les outils et méthodes de demain sont en cours d'invention. À présenter comme un décalage d'échelle, pas comme une critique des outils.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N1"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57200"/>
            <a:ext cx="1234440" cy="1234440"/>
          </a:xfrm>
          <a:prstGeom prst="rect">
            <a:avLst/>
          </a:prstGeom>
          <a:solidFill>
            <a:srgbClr val="FFFFFF"/>
          </a:solidFill>
          <a:ln/>
        </p:spPr>
      </p:sp>
      <p:sp>
        <p:nvSpPr>
          <p:cNvPr id="3" name="Text 1"/>
          <p:cNvSpPr txBox="1"/>
          <p:nvPr/>
        </p:nvSpPr>
        <p:spPr>
          <a:xfrm>
            <a:off x="548640" y="630022"/>
            <a:ext cx="1234440" cy="765353"/>
          </a:xfrm>
          <a:prstGeom prst="rect">
            <a:avLst/>
          </a:prstGeom>
          <a:noFill/>
          <a:ln/>
        </p:spPr>
        <p:txBody>
          <a:bodyPr wrap="square" lIns="0" tIns="0" rIns="0" bIns="0" rtlCol="0" anchor="ctr"/>
          <a:lstStyle/>
          <a:p>
            <a:pPr algn="ctr" indent="0" marL="0">
              <a:buNone/>
            </a:pPr>
            <a:r>
              <a:rPr lang="en-US" sz="3000" b="1" dirty="0">
                <a:solidFill>
                  <a:srgbClr val="10243F"/>
                </a:solidFill>
                <a:latin typeface="Cambria" pitchFamily="34" charset="0"/>
                <a:ea typeface="Cambria" pitchFamily="34" charset="-122"/>
                <a:cs typeface="Cambria" pitchFamily="34" charset="-120"/>
              </a:rPr>
              <a:t>It</a:t>
            </a:r>
            <a:pPr algn="ctr" indent="0" marL="0">
              <a:buNone/>
            </a:pPr>
            <a:r>
              <a:rPr lang="en-US" sz="3000" b="1" dirty="0">
                <a:solidFill>
                  <a:srgbClr val="E87722"/>
                </a:solidFill>
                <a:latin typeface="Cambria" pitchFamily="34" charset="0"/>
                <a:ea typeface="Cambria" pitchFamily="34" charset="-122"/>
                <a:cs typeface="Cambria" pitchFamily="34" charset="-120"/>
              </a:rPr>
              <a:t>.o</a:t>
            </a:r>
            <a:endParaRPr lang="en-US" sz="3000" dirty="0"/>
          </a:p>
        </p:txBody>
      </p:sp>
      <p:sp>
        <p:nvSpPr>
          <p:cNvPr id="4" name="Shape 2"/>
          <p:cNvSpPr/>
          <p:nvPr/>
        </p:nvSpPr>
        <p:spPr>
          <a:xfrm>
            <a:off x="918972" y="1370686"/>
            <a:ext cx="493776" cy="32004"/>
          </a:xfrm>
          <a:prstGeom prst="rect">
            <a:avLst/>
          </a:prstGeom>
          <a:solidFill>
            <a:srgbClr val="E87722"/>
          </a:solidFill>
          <a:ln/>
        </p:spPr>
      </p:sp>
      <p:sp>
        <p:nvSpPr>
          <p:cNvPr id="5" name="Text 3"/>
          <p:cNvSpPr txBox="1"/>
          <p:nvPr/>
        </p:nvSpPr>
        <p:spPr>
          <a:xfrm>
            <a:off x="548640" y="2057400"/>
            <a:ext cx="8046720" cy="219456"/>
          </a:xfrm>
          <a:prstGeom prst="rect">
            <a:avLst/>
          </a:prstGeom>
          <a:noFill/>
          <a:ln/>
        </p:spPr>
        <p:txBody>
          <a:bodyPr wrap="square" lIns="0" tIns="0" rIns="0" bIns="0" rtlCol="0" anchor="ctr"/>
          <a:lstStyle/>
          <a:p>
            <a:pPr indent="0" marL="0">
              <a:buNone/>
            </a:pPr>
            <a:r>
              <a:rPr lang="en-US" sz="1050" b="1" spc="300" kern="0" dirty="0">
                <a:solidFill>
                  <a:srgbClr val="E87722"/>
                </a:solidFill>
                <a:latin typeface="Calibri" pitchFamily="34" charset="0"/>
                <a:ea typeface="Calibri" pitchFamily="34" charset="-122"/>
                <a:cs typeface="Calibri" pitchFamily="34" charset="-120"/>
              </a:rPr>
              <a:t>IT.O — SESSION TECHNIQUE</a:t>
            </a:r>
            <a:endParaRPr lang="en-US" sz="1050" dirty="0"/>
          </a:p>
        </p:txBody>
      </p:sp>
      <p:sp>
        <p:nvSpPr>
          <p:cNvPr id="6" name="Text 4"/>
          <p:cNvSpPr txBox="1"/>
          <p:nvPr/>
        </p:nvSpPr>
        <p:spPr>
          <a:xfrm>
            <a:off x="548640" y="2359152"/>
            <a:ext cx="804672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Développer avec l'IA</a:t>
            </a:r>
            <a:endParaRPr lang="en-US" sz="4000" dirty="0"/>
          </a:p>
        </p:txBody>
      </p:sp>
      <p:sp>
        <p:nvSpPr>
          <p:cNvPr id="7" name="Shape 5"/>
          <p:cNvSpPr/>
          <p:nvPr/>
        </p:nvSpPr>
        <p:spPr>
          <a:xfrm>
            <a:off x="548640" y="3127248"/>
            <a:ext cx="1371600" cy="41148"/>
          </a:xfrm>
          <a:prstGeom prst="rect">
            <a:avLst/>
          </a:prstGeom>
          <a:solidFill>
            <a:srgbClr val="E87722"/>
          </a:solidFill>
          <a:ln/>
        </p:spPr>
      </p:sp>
      <p:sp>
        <p:nvSpPr>
          <p:cNvPr id="8" name="Text 6"/>
          <p:cNvSpPr txBox="1"/>
          <p:nvPr/>
        </p:nvSpPr>
        <p:spPr>
          <a:xfrm>
            <a:off x="548640" y="3346704"/>
            <a:ext cx="6766560" cy="731520"/>
          </a:xfrm>
          <a:prstGeom prst="rect">
            <a:avLst/>
          </a:prstGeom>
          <a:noFill/>
          <a:ln/>
        </p:spPr>
        <p:txBody>
          <a:bodyPr wrap="square" lIns="0" tIns="0" rIns="0" bIns="0" rtlCol="0" anchor="ctr"/>
          <a:lstStyle/>
          <a:p>
            <a:pPr indent="0" marL="0">
              <a:lnSpc>
                <a:spcPct val="110000"/>
              </a:lnSpc>
              <a:buNone/>
            </a:pPr>
            <a:r>
              <a:rPr lang="en-US" sz="1250" dirty="0">
                <a:solidFill>
                  <a:srgbClr val="C9D6E4"/>
                </a:solidFill>
                <a:latin typeface="Cambria" pitchFamily="34" charset="0"/>
                <a:ea typeface="Cambria" pitchFamily="34" charset="-122"/>
                <a:cs typeface="Cambria" pitchFamily="34" charset="-120"/>
              </a:rPr>
              <a:t>Le mode opératoire, phase par phase : analyse, codage, tests, déploiement.</a:t>
            </a:r>
            <a:endParaRPr lang="en-US" sz="1250" dirty="0"/>
          </a:p>
          <a:p>
            <a:pPr indent="0" marL="0">
              <a:lnSpc>
                <a:spcPct val="110000"/>
              </a:lnSpc>
              <a:buNone/>
            </a:pPr>
            <a:r>
              <a:rPr lang="en-US" sz="1250" dirty="0">
                <a:solidFill>
                  <a:srgbClr val="C9D6E4"/>
                </a:solidFill>
                <a:latin typeface="Cambria" pitchFamily="34" charset="0"/>
                <a:ea typeface="Cambria" pitchFamily="34" charset="-122"/>
                <a:cs typeface="Cambria" pitchFamily="34" charset="-120"/>
              </a:rPr>
              <a:t>Comment je travaille, et ce que cela donne — retour d'expérience Intermarché.</a:t>
            </a:r>
            <a:endParaRPr lang="en-US" sz="1250" dirty="0"/>
          </a:p>
        </p:txBody>
      </p:sp>
      <p:sp>
        <p:nvSpPr>
          <p:cNvPr id="9" name="Text 7"/>
          <p:cNvSpPr txBox="1"/>
          <p:nvPr/>
        </p:nvSpPr>
        <p:spPr>
          <a:xfrm>
            <a:off x="548640" y="4224528"/>
            <a:ext cx="5486400" cy="237744"/>
          </a:xfrm>
          <a:prstGeom prst="rect">
            <a:avLst/>
          </a:prstGeom>
          <a:noFill/>
          <a:ln/>
        </p:spPr>
        <p:txBody>
          <a:bodyPr wrap="square" lIns="0" tIns="0" rIns="0" bIns="0" rtlCol="0" anchor="ctr"/>
          <a:lstStyle/>
          <a:p>
            <a:pPr indent="0" marL="0">
              <a:buNone/>
            </a:pPr>
            <a:r>
              <a:rPr lang="en-US" sz="1000" dirty="0">
                <a:solidFill>
                  <a:srgbClr val="C9D6E4"/>
                </a:solidFill>
                <a:latin typeface="Calibri" pitchFamily="34" charset="0"/>
                <a:ea typeface="Calibri" pitchFamily="34" charset="-122"/>
                <a:cs typeface="Calibri" pitchFamily="34" charset="-120"/>
              </a:rPr>
              <a:t>Henri Darmet · It.o · Octobre 2026</a:t>
            </a:r>
            <a:endParaRPr lang="en-US" sz="1000" dirty="0"/>
          </a:p>
        </p:txBody>
      </p:sp>
      <p:sp>
        <p:nvSpPr>
          <p:cNvPr id="10" name="Shape 8"/>
          <p:cNvSpPr/>
          <p:nvPr/>
        </p:nvSpPr>
        <p:spPr>
          <a:xfrm>
            <a:off x="0" y="4956048"/>
            <a:ext cx="9144000" cy="182880"/>
          </a:xfrm>
          <a:prstGeom prst="rect">
            <a:avLst/>
          </a:prstGeom>
          <a:solidFill>
            <a:srgbClr val="E8772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AVANT DE COMMENCER</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Qu'est-ce qu'une IA ?</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1</a:t>
            </a:r>
            <a:endParaRPr lang="en-US" sz="850" dirty="0"/>
          </a:p>
        </p:txBody>
      </p:sp>
      <p:sp>
        <p:nvSpPr>
          <p:cNvPr id="5" name="Text 3"/>
          <p:cNvSpPr txBox="1"/>
          <p:nvPr/>
        </p:nvSpPr>
        <p:spPr>
          <a:xfrm>
            <a:off x="548640" y="1024128"/>
            <a:ext cx="8046720" cy="310896"/>
          </a:xfrm>
          <a:prstGeom prst="rect">
            <a:avLst/>
          </a:prstGeom>
          <a:noFill/>
          <a:ln/>
        </p:spPr>
        <p:txBody>
          <a:bodyPr wrap="square" lIns="0" tIns="0" rIns="0" bIns="0" rtlCol="0" anchor="t"/>
          <a:lstStyle/>
          <a:p>
            <a:pPr indent="0" marL="0">
              <a:lnSpc>
                <a:spcPct val="105000"/>
              </a:lnSpc>
              <a:buNone/>
            </a:pPr>
            <a:r>
              <a:rPr lang="en-US" sz="1050" dirty="0">
                <a:solidFill>
                  <a:srgbClr val="6B7280"/>
                </a:solidFill>
                <a:latin typeface="Cambria" pitchFamily="34" charset="0"/>
                <a:ea typeface="Cambria" pitchFamily="34" charset="-122"/>
                <a:cs typeface="Cambria" pitchFamily="34" charset="-120"/>
              </a:rPr>
              <a:t>Ce n'est pas de l'algorithmique, ce n'est pas l'informatique telle que nous l'avons pratiquée. C'est un objet nouveau.</a:t>
            </a:r>
            <a:endParaRPr lang="en-US" sz="1050" dirty="0"/>
          </a:p>
        </p:txBody>
      </p:sp>
      <p:sp>
        <p:nvSpPr>
          <p:cNvPr id="6" name="Shape 4"/>
          <p:cNvSpPr/>
          <p:nvPr/>
        </p:nvSpPr>
        <p:spPr>
          <a:xfrm>
            <a:off x="548640" y="1481328"/>
            <a:ext cx="2606040" cy="1828800"/>
          </a:xfrm>
          <a:prstGeom prst="rect">
            <a:avLst/>
          </a:prstGeom>
          <a:solidFill>
            <a:srgbClr val="F1F2F4"/>
          </a:solidFill>
          <a:ln/>
        </p:spPr>
      </p:sp>
      <p:sp>
        <p:nvSpPr>
          <p:cNvPr id="7" name="Shape 5"/>
          <p:cNvSpPr/>
          <p:nvPr/>
        </p:nvSpPr>
        <p:spPr>
          <a:xfrm>
            <a:off x="548640" y="1481328"/>
            <a:ext cx="50292" cy="1828800"/>
          </a:xfrm>
          <a:prstGeom prst="rect">
            <a:avLst/>
          </a:prstGeom>
          <a:solidFill>
            <a:srgbClr val="E87722"/>
          </a:solidFill>
          <a:ln/>
        </p:spPr>
      </p:sp>
      <p:sp>
        <p:nvSpPr>
          <p:cNvPr id="8" name="Shape 6"/>
          <p:cNvSpPr/>
          <p:nvPr/>
        </p:nvSpPr>
        <p:spPr>
          <a:xfrm>
            <a:off x="749808" y="1627632"/>
            <a:ext cx="274320" cy="274320"/>
          </a:xfrm>
          <a:prstGeom prst="ellipse">
            <a:avLst/>
          </a:prstGeom>
          <a:solidFill>
            <a:srgbClr val="E87722"/>
          </a:solidFill>
          <a:ln/>
        </p:spPr>
      </p:sp>
      <p:sp>
        <p:nvSpPr>
          <p:cNvPr id="9" name="Text 7"/>
          <p:cNvSpPr txBox="1"/>
          <p:nvPr/>
        </p:nvSpPr>
        <p:spPr>
          <a:xfrm>
            <a:off x="749808" y="16276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749808" y="197510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Le principe des cerveaux biologiques</a:t>
            </a:r>
            <a:endParaRPr lang="en-US" sz="1100" dirty="0"/>
          </a:p>
        </p:txBody>
      </p:sp>
      <p:sp>
        <p:nvSpPr>
          <p:cNvPr id="11" name="Text 9"/>
          <p:cNvSpPr txBox="1"/>
          <p:nvPr/>
        </p:nvSpPr>
        <p:spPr>
          <a:xfrm>
            <a:off x="749808" y="2395728"/>
            <a:ext cx="2240280" cy="868680"/>
          </a:xfrm>
          <a:prstGeom prst="rect">
            <a:avLst/>
          </a:prstGeom>
          <a:noFill/>
          <a:ln/>
        </p:spPr>
        <p:txBody>
          <a:bodyPr wrap="square" lIns="0" tIns="0" rIns="0" bIns="0" rtlCol="0" anchor="t"/>
          <a:lstStyle/>
          <a:p>
            <a:pPr indent="0" marL="0">
              <a:lnSpc>
                <a:spcPct val="105000"/>
              </a:lnSpc>
              <a:buNone/>
            </a:pPr>
            <a:r>
              <a:rPr lang="en-US" sz="940" dirty="0">
                <a:solidFill>
                  <a:srgbClr val="1E2A38"/>
                </a:solidFill>
                <a:latin typeface="Cambria" pitchFamily="34" charset="0"/>
                <a:ea typeface="Cambria" pitchFamily="34" charset="-122"/>
                <a:cs typeface="Cambria" pitchFamily="34" charset="-120"/>
              </a:rPr>
              <a:t>Pas d'algorithme écrit par un humain, pas de règles codées. Un réseau de neurones artificiels : des milliards de connexions dont la force s'ajuste par apprentissage, sur l'essentiel de ce que l'humanité a écrit.</a:t>
            </a:r>
            <a:endParaRPr lang="en-US" sz="940" dirty="0"/>
          </a:p>
        </p:txBody>
      </p:sp>
      <p:sp>
        <p:nvSpPr>
          <p:cNvPr id="12" name="Shape 10"/>
          <p:cNvSpPr/>
          <p:nvPr/>
        </p:nvSpPr>
        <p:spPr>
          <a:xfrm>
            <a:off x="3268980" y="1481328"/>
            <a:ext cx="2606040" cy="1828800"/>
          </a:xfrm>
          <a:prstGeom prst="rect">
            <a:avLst/>
          </a:prstGeom>
          <a:solidFill>
            <a:srgbClr val="F1F2F4"/>
          </a:solidFill>
          <a:ln/>
        </p:spPr>
      </p:sp>
      <p:sp>
        <p:nvSpPr>
          <p:cNvPr id="13" name="Shape 11"/>
          <p:cNvSpPr/>
          <p:nvPr/>
        </p:nvSpPr>
        <p:spPr>
          <a:xfrm>
            <a:off x="3268980" y="1481328"/>
            <a:ext cx="50292" cy="1828800"/>
          </a:xfrm>
          <a:prstGeom prst="rect">
            <a:avLst/>
          </a:prstGeom>
          <a:solidFill>
            <a:srgbClr val="E87722"/>
          </a:solidFill>
          <a:ln/>
        </p:spPr>
      </p:sp>
      <p:sp>
        <p:nvSpPr>
          <p:cNvPr id="14" name="Shape 12"/>
          <p:cNvSpPr/>
          <p:nvPr/>
        </p:nvSpPr>
        <p:spPr>
          <a:xfrm>
            <a:off x="3470148" y="1627632"/>
            <a:ext cx="274320" cy="274320"/>
          </a:xfrm>
          <a:prstGeom prst="ellipse">
            <a:avLst/>
          </a:prstGeom>
          <a:solidFill>
            <a:srgbClr val="E87722"/>
          </a:solidFill>
          <a:ln/>
        </p:spPr>
      </p:sp>
      <p:sp>
        <p:nvSpPr>
          <p:cNvPr id="15" name="Text 13"/>
          <p:cNvSpPr txBox="1"/>
          <p:nvPr/>
        </p:nvSpPr>
        <p:spPr>
          <a:xfrm>
            <a:off x="3470148" y="16276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txBox="1"/>
          <p:nvPr/>
        </p:nvSpPr>
        <p:spPr>
          <a:xfrm>
            <a:off x="3470148" y="197510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Réellement intelligente, réellement créative</a:t>
            </a:r>
            <a:endParaRPr lang="en-US" sz="1100" dirty="0"/>
          </a:p>
        </p:txBody>
      </p:sp>
      <p:sp>
        <p:nvSpPr>
          <p:cNvPr id="17" name="Text 15"/>
          <p:cNvSpPr txBox="1"/>
          <p:nvPr/>
        </p:nvSpPr>
        <p:spPr>
          <a:xfrm>
            <a:off x="3470148" y="2395728"/>
            <a:ext cx="2240280" cy="868680"/>
          </a:xfrm>
          <a:prstGeom prst="rect">
            <a:avLst/>
          </a:prstGeom>
          <a:noFill/>
          <a:ln/>
        </p:spPr>
        <p:txBody>
          <a:bodyPr wrap="square" lIns="0" tIns="0" rIns="0" bIns="0" rtlCol="0" anchor="t"/>
          <a:lstStyle/>
          <a:p>
            <a:pPr indent="0" marL="0">
              <a:lnSpc>
                <a:spcPct val="105000"/>
              </a:lnSpc>
              <a:buNone/>
            </a:pPr>
            <a:r>
              <a:rPr lang="en-US" sz="940" dirty="0">
                <a:solidFill>
                  <a:srgbClr val="1E2A38"/>
                </a:solidFill>
                <a:latin typeface="Cambria" pitchFamily="34" charset="0"/>
                <a:ea typeface="Cambria" pitchFamily="34" charset="-122"/>
                <a:cs typeface="Cambria" pitchFamily="34" charset="-120"/>
              </a:rPr>
              <a:t>Elle comprend une situation qu'elle n'a jamais vue, raisonne, propose, invente une solution. Ce n'est ni une recherche dans une base, ni un assemblage de morceaux existants.</a:t>
            </a:r>
            <a:endParaRPr lang="en-US" sz="940" dirty="0"/>
          </a:p>
        </p:txBody>
      </p:sp>
      <p:sp>
        <p:nvSpPr>
          <p:cNvPr id="18" name="Shape 16"/>
          <p:cNvSpPr/>
          <p:nvPr/>
        </p:nvSpPr>
        <p:spPr>
          <a:xfrm>
            <a:off x="5989320" y="1481328"/>
            <a:ext cx="2606040" cy="1828800"/>
          </a:xfrm>
          <a:prstGeom prst="rect">
            <a:avLst/>
          </a:prstGeom>
          <a:solidFill>
            <a:srgbClr val="F1F2F4"/>
          </a:solidFill>
          <a:ln/>
        </p:spPr>
      </p:sp>
      <p:sp>
        <p:nvSpPr>
          <p:cNvPr id="19" name="Shape 17"/>
          <p:cNvSpPr/>
          <p:nvPr/>
        </p:nvSpPr>
        <p:spPr>
          <a:xfrm>
            <a:off x="5989320" y="1481328"/>
            <a:ext cx="50292" cy="1828800"/>
          </a:xfrm>
          <a:prstGeom prst="rect">
            <a:avLst/>
          </a:prstGeom>
          <a:solidFill>
            <a:srgbClr val="E87722"/>
          </a:solidFill>
          <a:ln/>
        </p:spPr>
      </p:sp>
      <p:sp>
        <p:nvSpPr>
          <p:cNvPr id="20" name="Shape 18"/>
          <p:cNvSpPr/>
          <p:nvPr/>
        </p:nvSpPr>
        <p:spPr>
          <a:xfrm>
            <a:off x="6190488" y="1627632"/>
            <a:ext cx="274320" cy="274320"/>
          </a:xfrm>
          <a:prstGeom prst="ellipse">
            <a:avLst/>
          </a:prstGeom>
          <a:solidFill>
            <a:srgbClr val="E87722"/>
          </a:solidFill>
          <a:ln/>
        </p:spPr>
      </p:sp>
      <p:sp>
        <p:nvSpPr>
          <p:cNvPr id="21" name="Text 19"/>
          <p:cNvSpPr txBox="1"/>
          <p:nvPr/>
        </p:nvSpPr>
        <p:spPr>
          <a:xfrm>
            <a:off x="6190488" y="16276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20"/>
          <p:cNvSpPr txBox="1"/>
          <p:nvPr/>
        </p:nvSpPr>
        <p:spPr>
          <a:xfrm>
            <a:off x="6190488" y="197510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Des capacités sans précédent</a:t>
            </a:r>
            <a:endParaRPr lang="en-US" sz="1100" dirty="0"/>
          </a:p>
        </p:txBody>
      </p:sp>
      <p:sp>
        <p:nvSpPr>
          <p:cNvPr id="23" name="Text 21"/>
          <p:cNvSpPr txBox="1"/>
          <p:nvPr/>
        </p:nvSpPr>
        <p:spPr>
          <a:xfrm>
            <a:off x="6190488" y="2395728"/>
            <a:ext cx="2240280" cy="868680"/>
          </a:xfrm>
          <a:prstGeom prst="rect">
            <a:avLst/>
          </a:prstGeom>
          <a:noFill/>
          <a:ln/>
        </p:spPr>
        <p:txBody>
          <a:bodyPr wrap="square" lIns="0" tIns="0" rIns="0" bIns="0" rtlCol="0" anchor="t"/>
          <a:lstStyle/>
          <a:p>
            <a:pPr indent="0" marL="0">
              <a:lnSpc>
                <a:spcPct val="105000"/>
              </a:lnSpc>
              <a:buNone/>
            </a:pPr>
            <a:r>
              <a:rPr lang="en-US" sz="940" dirty="0">
                <a:solidFill>
                  <a:srgbClr val="1E2A38"/>
                </a:solidFill>
                <a:latin typeface="Cambria" pitchFamily="34" charset="0"/>
                <a:ea typeface="Cambria" pitchFamily="34" charset="-122"/>
                <a:cs typeface="Cambria" pitchFamily="34" charset="-120"/>
              </a:rPr>
              <a:t>Elle lit, écrit, code, explique, critique — dans n'importe quel domaine, immédiatement. Rien de ce que l'informatique a produit en soixante-dix ans n'en approche : ce n'est pas un logiciel de plus.</a:t>
            </a:r>
            <a:endParaRPr lang="en-US" sz="940" dirty="0"/>
          </a:p>
        </p:txBody>
      </p:sp>
      <p:sp>
        <p:nvSpPr>
          <p:cNvPr id="24" name="Shape 22"/>
          <p:cNvSpPr/>
          <p:nvPr/>
        </p:nvSpPr>
        <p:spPr>
          <a:xfrm>
            <a:off x="548640" y="3511296"/>
            <a:ext cx="8046720" cy="932688"/>
          </a:xfrm>
          <a:prstGeom prst="rect">
            <a:avLst/>
          </a:prstGeom>
          <a:solidFill>
            <a:srgbClr val="E4E6E9"/>
          </a:solidFill>
          <a:ln/>
        </p:spPr>
      </p:sp>
      <p:sp>
        <p:nvSpPr>
          <p:cNvPr id="25" name="Shape 23"/>
          <p:cNvSpPr/>
          <p:nvPr/>
        </p:nvSpPr>
        <p:spPr>
          <a:xfrm>
            <a:off x="548640" y="3511296"/>
            <a:ext cx="50292" cy="932688"/>
          </a:xfrm>
          <a:prstGeom prst="rect">
            <a:avLst/>
          </a:prstGeom>
          <a:solidFill>
            <a:srgbClr val="E87722"/>
          </a:solidFill>
          <a:ln/>
        </p:spPr>
      </p:sp>
      <p:sp>
        <p:nvSpPr>
          <p:cNvPr id="26" name="Text 24"/>
          <p:cNvSpPr txBox="1"/>
          <p:nvPr/>
        </p:nvSpPr>
        <p:spPr>
          <a:xfrm>
            <a:off x="777240" y="3657600"/>
            <a:ext cx="75895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Quelques réalités à garder en tête</a:t>
            </a:r>
            <a:endParaRPr lang="en-US" sz="1200" dirty="0"/>
          </a:p>
        </p:txBody>
      </p:sp>
      <p:sp>
        <p:nvSpPr>
          <p:cNvPr id="27" name="Text 25"/>
          <p:cNvSpPr txBox="1"/>
          <p:nvPr/>
        </p:nvSpPr>
        <p:spPr>
          <a:xfrm>
            <a:off x="777240" y="3913632"/>
            <a:ext cx="7589520" cy="502920"/>
          </a:xfrm>
          <a:prstGeom prst="rect">
            <a:avLst/>
          </a:prstGeom>
          <a:noFill/>
          <a:ln/>
        </p:spPr>
        <p:txBody>
          <a:bodyPr wrap="square" lIns="0" tIns="0" rIns="0" bIns="0" rtlCol="0" anchor="t"/>
          <a:lstStyle/>
          <a:p>
            <a:pPr indent="0" marL="0">
              <a:lnSpc>
                <a:spcPct val="105000"/>
              </a:lnSpc>
              <a:buNone/>
            </a:pPr>
            <a:r>
              <a:rPr lang="en-US" sz="960" dirty="0">
                <a:solidFill>
                  <a:srgbClr val="1E2A38"/>
                </a:solidFill>
                <a:latin typeface="Cambria" pitchFamily="34" charset="0"/>
                <a:ea typeface="Cambria" pitchFamily="34" charset="-122"/>
                <a:cs typeface="Cambria" pitchFamily="34" charset="-120"/>
              </a:rPr>
              <a:t>Elle ne suit pas un programme : elle répond, comme le ferait un expert à qui l'on parle. Elle se trompe comme un humain se trompe — par contresens — et non comme un programme bugue. Sa connaissance est celle de tout ce qui a été écrit ; ce qui ne l'a jamais été, il faut le lui dire.</a:t>
            </a:r>
            <a:endParaRPr lang="en-US" sz="9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L'ORDRE DE GRANDEUR</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De quoi parle-t-on, exactement ?</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3</a:t>
            </a:r>
            <a:endParaRPr lang="en-US" sz="850" dirty="0"/>
          </a:p>
        </p:txBody>
      </p:sp>
      <p:pic>
        <p:nvPicPr>
          <p:cNvPr id="5" name="Image 0" descr="tgv-crop.png">    </p:cNvPr>
          <p:cNvPicPr>
            <a:picLocks noChangeAspect="1"/>
          </p:cNvPicPr>
          <p:nvPr/>
        </p:nvPicPr>
        <p:blipFill>
          <a:blip r:embed="rId1"/>
          <a:stretch>
            <a:fillRect/>
          </a:stretch>
        </p:blipFill>
        <p:spPr>
          <a:xfrm>
            <a:off x="548640" y="1097280"/>
            <a:ext cx="8046720" cy="352958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LE DÉBAT</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Ce qui se dit de l'IA aujourd'hui</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4</a:t>
            </a:r>
            <a:endParaRPr lang="en-US" sz="850" dirty="0"/>
          </a:p>
        </p:txBody>
      </p:sp>
      <p:sp>
        <p:nvSpPr>
          <p:cNvPr id="5" name="Text 3"/>
          <p:cNvSpPr txBox="1"/>
          <p:nvPr/>
        </p:nvSpPr>
        <p:spPr>
          <a:xfrm>
            <a:off x="548640" y="1024128"/>
            <a:ext cx="8046720" cy="310896"/>
          </a:xfrm>
          <a:prstGeom prst="rect">
            <a:avLst/>
          </a:prstGeom>
          <a:noFill/>
          <a:ln/>
        </p:spPr>
        <p:txBody>
          <a:bodyPr wrap="square" lIns="0" tIns="0" rIns="0" bIns="0" rtlCol="0" anchor="t"/>
          <a:lstStyle/>
          <a:p>
            <a:pPr indent="0" marL="0">
              <a:lnSpc>
                <a:spcPct val="105000"/>
              </a:lnSpc>
              <a:buNone/>
            </a:pPr>
            <a:r>
              <a:rPr lang="en-US" sz="1050" dirty="0">
                <a:solidFill>
                  <a:srgbClr val="6B7280"/>
                </a:solidFill>
                <a:latin typeface="Cambria" pitchFamily="34" charset="0"/>
                <a:ea typeface="Cambria" pitchFamily="34" charset="-122"/>
                <a:cs typeface="Cambria" pitchFamily="34" charset="-120"/>
              </a:rPr>
              <a:t>Ma lecture des forums et des études, à charge et à décharge. C'est le climat dans lequel nous travaillons — et c'est ce qu'il faut expliquer.</a:t>
            </a:r>
            <a:endParaRPr lang="en-US" sz="1050" dirty="0"/>
          </a:p>
        </p:txBody>
      </p:sp>
      <p:sp>
        <p:nvSpPr>
          <p:cNvPr id="6" name="Shape 4"/>
          <p:cNvSpPr/>
          <p:nvPr/>
        </p:nvSpPr>
        <p:spPr>
          <a:xfrm>
            <a:off x="548640" y="1444752"/>
            <a:ext cx="3886200" cy="1115568"/>
          </a:xfrm>
          <a:prstGeom prst="rect">
            <a:avLst/>
          </a:prstGeom>
          <a:solidFill>
            <a:srgbClr val="F1F2F4"/>
          </a:solidFill>
          <a:ln/>
        </p:spPr>
      </p:sp>
      <p:sp>
        <p:nvSpPr>
          <p:cNvPr id="7" name="Shape 5"/>
          <p:cNvSpPr/>
          <p:nvPr/>
        </p:nvSpPr>
        <p:spPr>
          <a:xfrm>
            <a:off x="548640" y="1444752"/>
            <a:ext cx="50292" cy="1115568"/>
          </a:xfrm>
          <a:prstGeom prst="rect">
            <a:avLst/>
          </a:prstGeom>
          <a:solidFill>
            <a:srgbClr val="E87722"/>
          </a:solidFill>
          <a:ln/>
        </p:spPr>
      </p:sp>
      <p:sp>
        <p:nvSpPr>
          <p:cNvPr id="8" name="Text 6"/>
          <p:cNvSpPr txBox="1"/>
          <p:nvPr/>
        </p:nvSpPr>
        <p:spPr>
          <a:xfrm>
            <a:off x="768096" y="1572768"/>
            <a:ext cx="3483864"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Tout le monde l'utilise, personne n'y croit tout à fait</a:t>
            </a:r>
            <a:endParaRPr lang="en-US" sz="1100" dirty="0"/>
          </a:p>
        </p:txBody>
      </p:sp>
      <p:sp>
        <p:nvSpPr>
          <p:cNvPr id="9" name="Text 7"/>
          <p:cNvSpPr txBox="1"/>
          <p:nvPr/>
        </p:nvSpPr>
        <p:spPr>
          <a:xfrm>
            <a:off x="768096" y="1828800"/>
            <a:ext cx="3483864" cy="713232"/>
          </a:xfrm>
          <a:prstGeom prst="rect">
            <a:avLst/>
          </a:prstGeom>
          <a:noFill/>
          <a:ln/>
        </p:spPr>
        <p:txBody>
          <a:bodyPr wrap="square" lIns="0" tIns="0" rIns="0" bIns="0" rtlCol="0" anchor="t"/>
          <a:lstStyle/>
          <a:p>
            <a:pPr indent="0" marL="0">
              <a:lnSpc>
                <a:spcPct val="105000"/>
              </a:lnSpc>
              <a:buNone/>
            </a:pPr>
            <a:r>
              <a:rPr lang="en-US" sz="940" dirty="0">
                <a:solidFill>
                  <a:srgbClr val="1E2A38"/>
                </a:solidFill>
                <a:latin typeface="Cambria" pitchFamily="34" charset="0"/>
                <a:ea typeface="Cambria" pitchFamily="34" charset="-122"/>
                <a:cs typeface="Cambria" pitchFamily="34" charset="-120"/>
              </a:rPr>
              <a:t>84 % des développeurs l'utilisent ou s'y préparent, la moitié chaque jour. Dans le même temps, la confiance dans ses réponses recule : de 40 % à 29 % en deux ans.</a:t>
            </a:r>
            <a:endParaRPr lang="en-US" sz="940" dirty="0"/>
          </a:p>
        </p:txBody>
      </p:sp>
      <p:sp>
        <p:nvSpPr>
          <p:cNvPr id="10" name="Shape 8"/>
          <p:cNvSpPr/>
          <p:nvPr/>
        </p:nvSpPr>
        <p:spPr>
          <a:xfrm>
            <a:off x="4709160" y="1444752"/>
            <a:ext cx="3886200" cy="1115568"/>
          </a:xfrm>
          <a:prstGeom prst="rect">
            <a:avLst/>
          </a:prstGeom>
          <a:solidFill>
            <a:srgbClr val="F1F2F4"/>
          </a:solidFill>
          <a:ln/>
        </p:spPr>
      </p:sp>
      <p:sp>
        <p:nvSpPr>
          <p:cNvPr id="11" name="Shape 9"/>
          <p:cNvSpPr/>
          <p:nvPr/>
        </p:nvSpPr>
        <p:spPr>
          <a:xfrm>
            <a:off x="4709160" y="1444752"/>
            <a:ext cx="50292" cy="1115568"/>
          </a:xfrm>
          <a:prstGeom prst="rect">
            <a:avLst/>
          </a:prstGeom>
          <a:solidFill>
            <a:srgbClr val="E87722"/>
          </a:solidFill>
          <a:ln/>
        </p:spPr>
      </p:sp>
      <p:sp>
        <p:nvSpPr>
          <p:cNvPr id="12" name="Text 10"/>
          <p:cNvSpPr txBox="1"/>
          <p:nvPr/>
        </p:nvSpPr>
        <p:spPr>
          <a:xfrm>
            <a:off x="4928616" y="1572768"/>
            <a:ext cx="3483864"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Les gains mesurés sont modestes</a:t>
            </a:r>
            <a:endParaRPr lang="en-US" sz="1100" dirty="0"/>
          </a:p>
        </p:txBody>
      </p:sp>
      <p:sp>
        <p:nvSpPr>
          <p:cNvPr id="13" name="Text 11"/>
          <p:cNvSpPr txBox="1"/>
          <p:nvPr/>
        </p:nvSpPr>
        <p:spPr>
          <a:xfrm>
            <a:off x="4928616" y="1828800"/>
            <a:ext cx="3483864" cy="713232"/>
          </a:xfrm>
          <a:prstGeom prst="rect">
            <a:avLst/>
          </a:prstGeom>
          <a:noFill/>
          <a:ln/>
        </p:spPr>
        <p:txBody>
          <a:bodyPr wrap="square" lIns="0" tIns="0" rIns="0" bIns="0" rtlCol="0" anchor="t"/>
          <a:lstStyle/>
          <a:p>
            <a:pPr indent="0" marL="0">
              <a:lnSpc>
                <a:spcPct val="105000"/>
              </a:lnSpc>
              <a:buNone/>
            </a:pPr>
            <a:r>
              <a:rPr lang="en-US" sz="940" dirty="0">
                <a:solidFill>
                  <a:srgbClr val="1E2A38"/>
                </a:solidFill>
                <a:latin typeface="Cambria" pitchFamily="34" charset="0"/>
                <a:ea typeface="Cambria" pitchFamily="34" charset="-122"/>
                <a:cs typeface="Cambria" pitchFamily="34" charset="-120"/>
              </a:rPr>
              <a:t>Des experts sur leur propre code : de −19 % à +18 % selon les vagues (METR). −46 % de temps sur les tâches routinières, moins de 10 % sur le travail complexe (McKinsey). Rien qui ressemble à ×20.</a:t>
            </a:r>
            <a:endParaRPr lang="en-US" sz="940" dirty="0"/>
          </a:p>
        </p:txBody>
      </p:sp>
      <p:sp>
        <p:nvSpPr>
          <p:cNvPr id="14" name="Shape 12"/>
          <p:cNvSpPr/>
          <p:nvPr/>
        </p:nvSpPr>
        <p:spPr>
          <a:xfrm>
            <a:off x="548640" y="2670048"/>
            <a:ext cx="3886200" cy="1115568"/>
          </a:xfrm>
          <a:prstGeom prst="rect">
            <a:avLst/>
          </a:prstGeom>
          <a:solidFill>
            <a:srgbClr val="F1F2F4"/>
          </a:solidFill>
          <a:ln/>
        </p:spPr>
      </p:sp>
      <p:sp>
        <p:nvSpPr>
          <p:cNvPr id="15" name="Shape 13"/>
          <p:cNvSpPr/>
          <p:nvPr/>
        </p:nvSpPr>
        <p:spPr>
          <a:xfrm>
            <a:off x="548640" y="2670048"/>
            <a:ext cx="50292" cy="1115568"/>
          </a:xfrm>
          <a:prstGeom prst="rect">
            <a:avLst/>
          </a:prstGeom>
          <a:solidFill>
            <a:srgbClr val="E87722"/>
          </a:solidFill>
          <a:ln/>
        </p:spPr>
      </p:sp>
      <p:sp>
        <p:nvSpPr>
          <p:cNvPr id="16" name="Text 14"/>
          <p:cNvSpPr txBox="1"/>
          <p:nvPr/>
        </p:nvSpPr>
        <p:spPr>
          <a:xfrm>
            <a:off x="768096" y="2798064"/>
            <a:ext cx="3483864"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La dette et la revue inquiètent</a:t>
            </a:r>
            <a:endParaRPr lang="en-US" sz="1100" dirty="0"/>
          </a:p>
        </p:txBody>
      </p:sp>
      <p:sp>
        <p:nvSpPr>
          <p:cNvPr id="17" name="Text 15"/>
          <p:cNvSpPr txBox="1"/>
          <p:nvPr/>
        </p:nvSpPr>
        <p:spPr>
          <a:xfrm>
            <a:off x="768096" y="3054096"/>
            <a:ext cx="3483864" cy="713232"/>
          </a:xfrm>
          <a:prstGeom prst="rect">
            <a:avLst/>
          </a:prstGeom>
          <a:noFill/>
          <a:ln/>
        </p:spPr>
        <p:txBody>
          <a:bodyPr wrap="square" lIns="0" tIns="0" rIns="0" bIns="0" rtlCol="0" anchor="t"/>
          <a:lstStyle/>
          <a:p>
            <a:pPr indent="0" marL="0">
              <a:lnSpc>
                <a:spcPct val="105000"/>
              </a:lnSpc>
              <a:buNone/>
            </a:pPr>
            <a:r>
              <a:rPr lang="en-US" sz="940" dirty="0">
                <a:solidFill>
                  <a:srgbClr val="1E2A38"/>
                </a:solidFill>
                <a:latin typeface="Cambria" pitchFamily="34" charset="0"/>
                <a:ea typeface="Cambria" pitchFamily="34" charset="-122"/>
                <a:cs typeface="Cambria" pitchFamily="34" charset="-120"/>
              </a:rPr>
              <a:t>Davantage de code réécrit peu après (churn passé de 3 % à près de 6 %), plus de défauts et de failles signalés dans le code généré, et des revues qui s'allongent : les PR générées attendent plusieurs fois plus longtemps.</a:t>
            </a:r>
            <a:endParaRPr lang="en-US" sz="940" dirty="0"/>
          </a:p>
        </p:txBody>
      </p:sp>
      <p:sp>
        <p:nvSpPr>
          <p:cNvPr id="18" name="Shape 16"/>
          <p:cNvSpPr/>
          <p:nvPr/>
        </p:nvSpPr>
        <p:spPr>
          <a:xfrm>
            <a:off x="4709160" y="2670048"/>
            <a:ext cx="3886200" cy="1115568"/>
          </a:xfrm>
          <a:prstGeom prst="rect">
            <a:avLst/>
          </a:prstGeom>
          <a:solidFill>
            <a:srgbClr val="F1F2F4"/>
          </a:solidFill>
          <a:ln/>
        </p:spPr>
      </p:sp>
      <p:sp>
        <p:nvSpPr>
          <p:cNvPr id="19" name="Shape 17"/>
          <p:cNvSpPr/>
          <p:nvPr/>
        </p:nvSpPr>
        <p:spPr>
          <a:xfrm>
            <a:off x="4709160" y="2670048"/>
            <a:ext cx="50292" cy="1115568"/>
          </a:xfrm>
          <a:prstGeom prst="rect">
            <a:avLst/>
          </a:prstGeom>
          <a:solidFill>
            <a:srgbClr val="E87722"/>
          </a:solidFill>
          <a:ln/>
        </p:spPr>
      </p:sp>
      <p:sp>
        <p:nvSpPr>
          <p:cNvPr id="20" name="Text 18"/>
          <p:cNvSpPr txBox="1"/>
          <p:nvPr/>
        </p:nvSpPr>
        <p:spPr>
          <a:xfrm>
            <a:off x="4928616" y="2798064"/>
            <a:ext cx="3483864"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Un discours méta, une peur diffuse</a:t>
            </a:r>
            <a:endParaRPr lang="en-US" sz="1100" dirty="0"/>
          </a:p>
        </p:txBody>
      </p:sp>
      <p:sp>
        <p:nvSpPr>
          <p:cNvPr id="21" name="Text 19"/>
          <p:cNvSpPr txBox="1"/>
          <p:nvPr/>
        </p:nvSpPr>
        <p:spPr>
          <a:xfrm>
            <a:off x="4928616" y="3054096"/>
            <a:ext cx="3483864" cy="713232"/>
          </a:xfrm>
          <a:prstGeom prst="rect">
            <a:avLst/>
          </a:prstGeom>
          <a:noFill/>
          <a:ln/>
        </p:spPr>
        <p:txBody>
          <a:bodyPr wrap="square" lIns="0" tIns="0" rIns="0" bIns="0" rtlCol="0" anchor="t"/>
          <a:lstStyle/>
          <a:p>
            <a:pPr indent="0" marL="0">
              <a:lnSpc>
                <a:spcPct val="105000"/>
              </a:lnSpc>
              <a:buNone/>
            </a:pPr>
            <a:r>
              <a:rPr lang="en-US" sz="940" dirty="0">
                <a:solidFill>
                  <a:srgbClr val="1E2A38"/>
                </a:solidFill>
                <a:latin typeface="Cambria" pitchFamily="34" charset="0"/>
                <a:ea typeface="Cambria" pitchFamily="34" charset="-122"/>
                <a:cs typeface="Cambria" pitchFamily="34" charset="-120"/>
              </a:rPr>
              <a:t>Harnais, RAG, multi-agents, MCP : de splendides schémas d'usines cognitives, sans résultats publiés. En face, l'angoisse de la place de l'humain et l'effondrement du recrutement des juniors.</a:t>
            </a:r>
            <a:endParaRPr lang="en-US" sz="940" dirty="0"/>
          </a:p>
        </p:txBody>
      </p:sp>
      <p:sp>
        <p:nvSpPr>
          <p:cNvPr id="22" name="Shape 20"/>
          <p:cNvSpPr/>
          <p:nvPr/>
        </p:nvSpPr>
        <p:spPr>
          <a:xfrm>
            <a:off x="548640" y="3931920"/>
            <a:ext cx="8046720" cy="658368"/>
          </a:xfrm>
          <a:prstGeom prst="rect">
            <a:avLst/>
          </a:prstGeom>
          <a:solidFill>
            <a:srgbClr val="10243F"/>
          </a:solidFill>
          <a:ln/>
        </p:spPr>
      </p:sp>
      <p:sp>
        <p:nvSpPr>
          <p:cNvPr id="23" name="Text 21"/>
          <p:cNvSpPr txBox="1"/>
          <p:nvPr/>
        </p:nvSpPr>
        <p:spPr>
          <a:xfrm>
            <a:off x="822960" y="4041648"/>
            <a:ext cx="7498080" cy="502920"/>
          </a:xfrm>
          <a:prstGeom prst="rect">
            <a:avLst/>
          </a:prstGeom>
          <a:noFill/>
          <a:ln/>
        </p:spPr>
        <p:txBody>
          <a:bodyPr wrap="square" lIns="0" tIns="0" rIns="0" bIns="0" rtlCol="0" anchor="t"/>
          <a:lstStyle/>
          <a:p>
            <a:pPr indent="0" marL="0">
              <a:lnSpc>
                <a:spcPct val="105000"/>
              </a:lnSpc>
              <a:buNone/>
            </a:pPr>
            <a:r>
              <a:rPr lang="en-US" sz="980" dirty="0">
                <a:solidFill>
                  <a:srgbClr val="FFFFFF"/>
                </a:solidFill>
                <a:latin typeface="Cambria" pitchFamily="34" charset="0"/>
                <a:ea typeface="Cambria" pitchFamily="34" charset="-122"/>
                <a:cs typeface="Cambria" pitchFamily="34" charset="-120"/>
              </a:rPr>
              <a:t>Pourquoi si loin de ×20 ? Parce qu'on mesure l'ancienne organisation à laquelle on a ajouté un outil : même découpage, mêmes rituels, même revue. L'IA en complément de saisie rend quelques pour cent ; l'IA comme mode de production change d'échelle.</a:t>
            </a:r>
            <a:endParaRPr lang="en-US" sz="9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LE PARADOXE</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Nous, développeurs, face à l'IA</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5</a:t>
            </a:r>
            <a:endParaRPr lang="en-US" sz="850" dirty="0"/>
          </a:p>
        </p:txBody>
      </p:sp>
      <p:sp>
        <p:nvSpPr>
          <p:cNvPr id="5" name="Text 3"/>
          <p:cNvSpPr txBox="1"/>
          <p:nvPr/>
        </p:nvSpPr>
        <p:spPr>
          <a:xfrm>
            <a:off x="548640" y="1024128"/>
            <a:ext cx="8046720" cy="310896"/>
          </a:xfrm>
          <a:prstGeom prst="rect">
            <a:avLst/>
          </a:prstGeom>
          <a:noFill/>
          <a:ln/>
        </p:spPr>
        <p:txBody>
          <a:bodyPr wrap="square" lIns="0" tIns="0" rIns="0" bIns="0" rtlCol="0" anchor="t"/>
          <a:lstStyle/>
          <a:p>
            <a:pPr indent="0" marL="0">
              <a:lnSpc>
                <a:spcPct val="105000"/>
              </a:lnSpc>
              <a:buNone/>
            </a:pPr>
            <a:r>
              <a:rPr lang="en-US" sz="1050" dirty="0">
                <a:solidFill>
                  <a:srgbClr val="6B7280"/>
                </a:solidFill>
                <a:latin typeface="Cambria" pitchFamily="34" charset="0"/>
                <a:ea typeface="Cambria" pitchFamily="34" charset="-122"/>
                <a:cs typeface="Cambria" pitchFamily="34" charset="-120"/>
              </a:rPr>
              <a:t>Pour comprendre nos propres réactions, il faut regarder d'où elles viennent.</a:t>
            </a:r>
            <a:endParaRPr lang="en-US" sz="1050" dirty="0"/>
          </a:p>
        </p:txBody>
      </p:sp>
      <p:sp>
        <p:nvSpPr>
          <p:cNvPr id="6" name="Shape 4"/>
          <p:cNvSpPr/>
          <p:nvPr/>
        </p:nvSpPr>
        <p:spPr>
          <a:xfrm>
            <a:off x="548640" y="1481328"/>
            <a:ext cx="2606040" cy="1920240"/>
          </a:xfrm>
          <a:prstGeom prst="rect">
            <a:avLst/>
          </a:prstGeom>
          <a:solidFill>
            <a:srgbClr val="F1F2F4"/>
          </a:solidFill>
          <a:ln/>
        </p:spPr>
      </p:sp>
      <p:sp>
        <p:nvSpPr>
          <p:cNvPr id="7" name="Shape 5"/>
          <p:cNvSpPr/>
          <p:nvPr/>
        </p:nvSpPr>
        <p:spPr>
          <a:xfrm>
            <a:off x="548640" y="1481328"/>
            <a:ext cx="50292" cy="1920240"/>
          </a:xfrm>
          <a:prstGeom prst="rect">
            <a:avLst/>
          </a:prstGeom>
          <a:solidFill>
            <a:srgbClr val="E87722"/>
          </a:solidFill>
          <a:ln/>
        </p:spPr>
      </p:sp>
      <p:sp>
        <p:nvSpPr>
          <p:cNvPr id="8" name="Shape 6"/>
          <p:cNvSpPr/>
          <p:nvPr/>
        </p:nvSpPr>
        <p:spPr>
          <a:xfrm>
            <a:off x="749808" y="1627632"/>
            <a:ext cx="274320" cy="274320"/>
          </a:xfrm>
          <a:prstGeom prst="ellipse">
            <a:avLst/>
          </a:prstGeom>
          <a:solidFill>
            <a:srgbClr val="E87722"/>
          </a:solidFill>
          <a:ln/>
        </p:spPr>
      </p:sp>
      <p:sp>
        <p:nvSpPr>
          <p:cNvPr id="9" name="Text 7"/>
          <p:cNvSpPr txBox="1"/>
          <p:nvPr/>
        </p:nvSpPr>
        <p:spPr>
          <a:xfrm>
            <a:off x="749808" y="16276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749808" y="197510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Elle fait ce qui faisait notre valeur</a:t>
            </a:r>
            <a:endParaRPr lang="en-US" sz="1100" dirty="0"/>
          </a:p>
        </p:txBody>
      </p:sp>
      <p:sp>
        <p:nvSpPr>
          <p:cNvPr id="11" name="Text 9"/>
          <p:cNvSpPr txBox="1"/>
          <p:nvPr/>
        </p:nvSpPr>
        <p:spPr>
          <a:xfrm>
            <a:off x="749808" y="2395728"/>
            <a:ext cx="2240280" cy="960120"/>
          </a:xfrm>
          <a:prstGeom prst="rect">
            <a:avLst/>
          </a:prstGeom>
          <a:noFill/>
          <a:ln/>
        </p:spPr>
        <p:txBody>
          <a:bodyPr wrap="square" lIns="0" tIns="0" rIns="0" bIns="0" rtlCol="0" anchor="t"/>
          <a:lstStyle/>
          <a:p>
            <a:pPr indent="0" marL="0">
              <a:lnSpc>
                <a:spcPct val="105000"/>
              </a:lnSpc>
              <a:buNone/>
            </a:pPr>
            <a:r>
              <a:rPr lang="en-US" sz="940" dirty="0">
                <a:solidFill>
                  <a:srgbClr val="1E2A38"/>
                </a:solidFill>
                <a:latin typeface="Cambria" pitchFamily="34" charset="0"/>
                <a:ea typeface="Cambria" pitchFamily="34" charset="-122"/>
                <a:cs typeface="Cambria" pitchFamily="34" charset="-120"/>
              </a:rPr>
              <a:t>Ce que l'IA fait le mieux, c'est précisément ce qui faisait la valeur d'un développeur : écrire du code juste, vite, dans n'importe quelle technologie. Inutile de se le cacher.</a:t>
            </a:r>
            <a:endParaRPr lang="en-US" sz="940" dirty="0"/>
          </a:p>
        </p:txBody>
      </p:sp>
      <p:sp>
        <p:nvSpPr>
          <p:cNvPr id="12" name="Shape 10"/>
          <p:cNvSpPr/>
          <p:nvPr/>
        </p:nvSpPr>
        <p:spPr>
          <a:xfrm>
            <a:off x="3268980" y="1481328"/>
            <a:ext cx="2606040" cy="1920240"/>
          </a:xfrm>
          <a:prstGeom prst="rect">
            <a:avLst/>
          </a:prstGeom>
          <a:solidFill>
            <a:srgbClr val="F1F2F4"/>
          </a:solidFill>
          <a:ln/>
        </p:spPr>
      </p:sp>
      <p:sp>
        <p:nvSpPr>
          <p:cNvPr id="13" name="Shape 11"/>
          <p:cNvSpPr/>
          <p:nvPr/>
        </p:nvSpPr>
        <p:spPr>
          <a:xfrm>
            <a:off x="3268980" y="1481328"/>
            <a:ext cx="50292" cy="1920240"/>
          </a:xfrm>
          <a:prstGeom prst="rect">
            <a:avLst/>
          </a:prstGeom>
          <a:solidFill>
            <a:srgbClr val="E87722"/>
          </a:solidFill>
          <a:ln/>
        </p:spPr>
      </p:sp>
      <p:sp>
        <p:nvSpPr>
          <p:cNvPr id="14" name="Shape 12"/>
          <p:cNvSpPr/>
          <p:nvPr/>
        </p:nvSpPr>
        <p:spPr>
          <a:xfrm>
            <a:off x="3470148" y="1627632"/>
            <a:ext cx="274320" cy="274320"/>
          </a:xfrm>
          <a:prstGeom prst="ellipse">
            <a:avLst/>
          </a:prstGeom>
          <a:solidFill>
            <a:srgbClr val="E87722"/>
          </a:solidFill>
          <a:ln/>
        </p:spPr>
      </p:sp>
      <p:sp>
        <p:nvSpPr>
          <p:cNvPr id="15" name="Text 13"/>
          <p:cNvSpPr txBox="1"/>
          <p:nvPr/>
        </p:nvSpPr>
        <p:spPr>
          <a:xfrm>
            <a:off x="3470148" y="16276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txBox="1"/>
          <p:nvPr/>
        </p:nvSpPr>
        <p:spPr>
          <a:xfrm>
            <a:off x="3470148" y="197510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La peur se déguise en arguments</a:t>
            </a:r>
            <a:endParaRPr lang="en-US" sz="1100" dirty="0"/>
          </a:p>
        </p:txBody>
      </p:sp>
      <p:sp>
        <p:nvSpPr>
          <p:cNvPr id="17" name="Text 15"/>
          <p:cNvSpPr txBox="1"/>
          <p:nvPr/>
        </p:nvSpPr>
        <p:spPr>
          <a:xfrm>
            <a:off x="3470148" y="2395728"/>
            <a:ext cx="2240280" cy="960120"/>
          </a:xfrm>
          <a:prstGeom prst="rect">
            <a:avLst/>
          </a:prstGeom>
          <a:noFill/>
          <a:ln/>
        </p:spPr>
        <p:txBody>
          <a:bodyPr wrap="square" lIns="0" tIns="0" rIns="0" bIns="0" rtlCol="0" anchor="t"/>
          <a:lstStyle/>
          <a:p>
            <a:pPr indent="0" marL="0">
              <a:lnSpc>
                <a:spcPct val="105000"/>
              </a:lnSpc>
              <a:buNone/>
            </a:pPr>
            <a:r>
              <a:rPr lang="en-US" sz="940" dirty="0">
                <a:solidFill>
                  <a:srgbClr val="1E2A38"/>
                </a:solidFill>
                <a:latin typeface="Cambria" pitchFamily="34" charset="0"/>
                <a:ea typeface="Cambria" pitchFamily="34" charset="-122"/>
                <a:cs typeface="Cambria" pitchFamily="34" charset="-120"/>
              </a:rPr>
              <a:t>La qualité, la sécurité, la dette, « l'IA, c'est un junior » : des objections souvent sincères, qui méritent d'être vérifiées — par la mesure, pas par principe.</a:t>
            </a:r>
            <a:endParaRPr lang="en-US" sz="940" dirty="0"/>
          </a:p>
        </p:txBody>
      </p:sp>
      <p:sp>
        <p:nvSpPr>
          <p:cNvPr id="18" name="Shape 16"/>
          <p:cNvSpPr/>
          <p:nvPr/>
        </p:nvSpPr>
        <p:spPr>
          <a:xfrm>
            <a:off x="5989320" y="1481328"/>
            <a:ext cx="2606040" cy="1920240"/>
          </a:xfrm>
          <a:prstGeom prst="rect">
            <a:avLst/>
          </a:prstGeom>
          <a:solidFill>
            <a:srgbClr val="F1F2F4"/>
          </a:solidFill>
          <a:ln/>
        </p:spPr>
      </p:sp>
      <p:sp>
        <p:nvSpPr>
          <p:cNvPr id="19" name="Shape 17"/>
          <p:cNvSpPr/>
          <p:nvPr/>
        </p:nvSpPr>
        <p:spPr>
          <a:xfrm>
            <a:off x="5989320" y="1481328"/>
            <a:ext cx="50292" cy="1920240"/>
          </a:xfrm>
          <a:prstGeom prst="rect">
            <a:avLst/>
          </a:prstGeom>
          <a:solidFill>
            <a:srgbClr val="E87722"/>
          </a:solidFill>
          <a:ln/>
        </p:spPr>
      </p:sp>
      <p:sp>
        <p:nvSpPr>
          <p:cNvPr id="20" name="Shape 18"/>
          <p:cNvSpPr/>
          <p:nvPr/>
        </p:nvSpPr>
        <p:spPr>
          <a:xfrm>
            <a:off x="6190488" y="1627632"/>
            <a:ext cx="274320" cy="274320"/>
          </a:xfrm>
          <a:prstGeom prst="ellipse">
            <a:avLst/>
          </a:prstGeom>
          <a:solidFill>
            <a:srgbClr val="E87722"/>
          </a:solidFill>
          <a:ln/>
        </p:spPr>
      </p:sp>
      <p:sp>
        <p:nvSpPr>
          <p:cNvPr id="21" name="Text 19"/>
          <p:cNvSpPr txBox="1"/>
          <p:nvPr/>
        </p:nvSpPr>
        <p:spPr>
          <a:xfrm>
            <a:off x="6190488" y="16276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20"/>
          <p:cNvSpPr txBox="1"/>
          <p:nvPr/>
        </p:nvSpPr>
        <p:spPr>
          <a:xfrm>
            <a:off x="6190488" y="197510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Et c'est à nous qu'on demande de la faire entrer</a:t>
            </a:r>
            <a:endParaRPr lang="en-US" sz="1100" dirty="0"/>
          </a:p>
        </p:txBody>
      </p:sp>
      <p:sp>
        <p:nvSpPr>
          <p:cNvPr id="23" name="Text 21"/>
          <p:cNvSpPr txBox="1"/>
          <p:nvPr/>
        </p:nvSpPr>
        <p:spPr>
          <a:xfrm>
            <a:off x="6190488" y="2395728"/>
            <a:ext cx="2240280" cy="960120"/>
          </a:xfrm>
          <a:prstGeom prst="rect">
            <a:avLst/>
          </a:prstGeom>
          <a:noFill/>
          <a:ln/>
        </p:spPr>
        <p:txBody>
          <a:bodyPr wrap="square" lIns="0" tIns="0" rIns="0" bIns="0" rtlCol="0" anchor="t"/>
          <a:lstStyle/>
          <a:p>
            <a:pPr indent="0" marL="0">
              <a:lnSpc>
                <a:spcPct val="105000"/>
              </a:lnSpc>
              <a:buNone/>
            </a:pPr>
            <a:r>
              <a:rPr lang="en-US" sz="940" dirty="0">
                <a:solidFill>
                  <a:srgbClr val="1E2A38"/>
                </a:solidFill>
                <a:latin typeface="Cambria" pitchFamily="34" charset="0"/>
                <a:ea typeface="Cambria" pitchFamily="34" charset="-122"/>
                <a:cs typeface="Cambria" pitchFamily="34" charset="-120"/>
              </a:rPr>
              <a:t>On nous demande d'introduire l'IA dans notre propre métier. La tentation est de l'introduire mal, pour démontrer qu'elle ne marche pas. C'est humain — et c'est perdant.</a:t>
            </a:r>
            <a:endParaRPr lang="en-US" sz="940" dirty="0"/>
          </a:p>
        </p:txBody>
      </p:sp>
      <p:sp>
        <p:nvSpPr>
          <p:cNvPr id="24" name="Shape 22"/>
          <p:cNvSpPr/>
          <p:nvPr/>
        </p:nvSpPr>
        <p:spPr>
          <a:xfrm>
            <a:off x="548640" y="3602736"/>
            <a:ext cx="8046720" cy="841248"/>
          </a:xfrm>
          <a:prstGeom prst="rect">
            <a:avLst/>
          </a:prstGeom>
          <a:solidFill>
            <a:srgbClr val="E4E6E9"/>
          </a:solidFill>
          <a:ln/>
        </p:spPr>
      </p:sp>
      <p:sp>
        <p:nvSpPr>
          <p:cNvPr id="25" name="Shape 23"/>
          <p:cNvSpPr/>
          <p:nvPr/>
        </p:nvSpPr>
        <p:spPr>
          <a:xfrm>
            <a:off x="548640" y="3602736"/>
            <a:ext cx="50292" cy="841248"/>
          </a:xfrm>
          <a:prstGeom prst="rect">
            <a:avLst/>
          </a:prstGeom>
          <a:solidFill>
            <a:srgbClr val="E87722"/>
          </a:solidFill>
          <a:ln/>
        </p:spPr>
      </p:sp>
      <p:sp>
        <p:nvSpPr>
          <p:cNvPr id="26" name="Text 24"/>
          <p:cNvSpPr txBox="1"/>
          <p:nvPr/>
        </p:nvSpPr>
        <p:spPr>
          <a:xfrm>
            <a:off x="777240" y="3749040"/>
            <a:ext cx="75895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Conséquence pour nous</a:t>
            </a:r>
            <a:endParaRPr lang="en-US" sz="1200" dirty="0"/>
          </a:p>
        </p:txBody>
      </p:sp>
      <p:sp>
        <p:nvSpPr>
          <p:cNvPr id="27" name="Text 25"/>
          <p:cNvSpPr txBox="1"/>
          <p:nvPr/>
        </p:nvSpPr>
        <p:spPr>
          <a:xfrm>
            <a:off x="777240" y="4005072"/>
            <a:ext cx="7589520" cy="365760"/>
          </a:xfrm>
          <a:prstGeom prst="rect">
            <a:avLst/>
          </a:prstGeom>
          <a:noFill/>
          <a:ln/>
        </p:spPr>
        <p:txBody>
          <a:bodyPr wrap="square" lIns="0" tIns="0" rIns="0" bIns="0" rtlCol="0" anchor="t"/>
          <a:lstStyle/>
          <a:p>
            <a:pPr indent="0" marL="0">
              <a:lnSpc>
                <a:spcPct val="105000"/>
              </a:lnSpc>
              <a:buNone/>
            </a:pPr>
            <a:r>
              <a:rPr lang="en-US" sz="980" dirty="0">
                <a:solidFill>
                  <a:srgbClr val="1E2A38"/>
                </a:solidFill>
                <a:latin typeface="Cambria" pitchFamily="34" charset="0"/>
                <a:ea typeface="Cambria" pitchFamily="34" charset="-122"/>
                <a:cs typeface="Cambria" pitchFamily="34" charset="-120"/>
              </a:rPr>
              <a:t>Le métier ne disparaît pas, il se déplace : vers ceux qui savent piloter l'IA. Le meilleur rempart n'est pas de résister à l'outil, c'est d'en devenir le pilote.</a:t>
            </a:r>
            <a:endParaRPr lang="en-US" sz="9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MESSAGES FONDAMENTAUX</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Quatre choses à retenir</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6</a:t>
            </a:r>
            <a:endParaRPr lang="en-US" sz="850" dirty="0"/>
          </a:p>
        </p:txBody>
      </p:sp>
      <p:sp>
        <p:nvSpPr>
          <p:cNvPr id="5" name="Shape 3"/>
          <p:cNvSpPr/>
          <p:nvPr/>
        </p:nvSpPr>
        <p:spPr>
          <a:xfrm>
            <a:off x="548640" y="1133856"/>
            <a:ext cx="8046720" cy="804672"/>
          </a:xfrm>
          <a:prstGeom prst="rect">
            <a:avLst/>
          </a:prstGeom>
          <a:solidFill>
            <a:srgbClr val="F1F2F4"/>
          </a:solidFill>
          <a:ln/>
        </p:spPr>
      </p:sp>
      <p:sp>
        <p:nvSpPr>
          <p:cNvPr id="6" name="Shape 4"/>
          <p:cNvSpPr/>
          <p:nvPr/>
        </p:nvSpPr>
        <p:spPr>
          <a:xfrm>
            <a:off x="548640" y="1133856"/>
            <a:ext cx="50292" cy="804672"/>
          </a:xfrm>
          <a:prstGeom prst="rect">
            <a:avLst/>
          </a:prstGeom>
          <a:solidFill>
            <a:srgbClr val="E87722"/>
          </a:solidFill>
          <a:ln/>
        </p:spPr>
      </p:sp>
      <p:sp>
        <p:nvSpPr>
          <p:cNvPr id="7" name="Shape 5"/>
          <p:cNvSpPr/>
          <p:nvPr/>
        </p:nvSpPr>
        <p:spPr>
          <a:xfrm>
            <a:off x="777240" y="1252728"/>
            <a:ext cx="292608" cy="292608"/>
          </a:xfrm>
          <a:prstGeom prst="ellipse">
            <a:avLst/>
          </a:prstGeom>
          <a:solidFill>
            <a:srgbClr val="E87722"/>
          </a:solidFill>
          <a:ln/>
        </p:spPr>
      </p:sp>
      <p:sp>
        <p:nvSpPr>
          <p:cNvPr id="8" name="Text 6"/>
          <p:cNvSpPr txBox="1"/>
          <p:nvPr/>
        </p:nvSpPr>
        <p:spPr>
          <a:xfrm>
            <a:off x="777240" y="12527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188720" y="1271016"/>
            <a:ext cx="7223760" cy="237744"/>
          </a:xfrm>
          <a:prstGeom prst="rect">
            <a:avLst/>
          </a:prstGeom>
          <a:noFill/>
          <a:ln/>
        </p:spPr>
        <p:txBody>
          <a:bodyPr wrap="square" lIns="0" tIns="0" rIns="0" bIns="0" rtlCol="0" anchor="t"/>
          <a:lstStyle/>
          <a:p>
            <a:pPr indent="0" marL="0">
              <a:buNone/>
            </a:pPr>
            <a:r>
              <a:rPr lang="en-US" sz="1300" b="1" dirty="0">
                <a:solidFill>
                  <a:srgbClr val="10243F"/>
                </a:solidFill>
                <a:latin typeface="Calibri" pitchFamily="34" charset="0"/>
                <a:ea typeface="Calibri" pitchFamily="34" charset="-122"/>
                <a:cs typeface="Calibri" pitchFamily="34" charset="-120"/>
              </a:rPr>
              <a:t>L'IA est opérationnelle depuis un an — et déjà suffisante</a:t>
            </a:r>
            <a:endParaRPr lang="en-US" sz="1300" dirty="0"/>
          </a:p>
        </p:txBody>
      </p:sp>
      <p:sp>
        <p:nvSpPr>
          <p:cNvPr id="10" name="Text 8"/>
          <p:cNvSpPr txBox="1"/>
          <p:nvPr/>
        </p:nvSpPr>
        <p:spPr>
          <a:xfrm>
            <a:off x="1188720" y="1536192"/>
            <a:ext cx="7223760" cy="384048"/>
          </a:xfrm>
          <a:prstGeom prst="rect">
            <a:avLst/>
          </a:prstGeom>
          <a:noFill/>
          <a:ln/>
        </p:spPr>
        <p:txBody>
          <a:bodyPr wrap="square" lIns="0" tIns="0" rIns="0" bIns="0" rtlCol="0" anchor="t"/>
          <a:lstStyle/>
          <a:p>
            <a:pPr indent="0" marL="0">
              <a:lnSpc>
                <a:spcPct val="105000"/>
              </a:lnSpc>
              <a:buNone/>
            </a:pPr>
            <a:r>
              <a:rPr lang="en-US" sz="1000" dirty="0">
                <a:solidFill>
                  <a:srgbClr val="1E2A38"/>
                </a:solidFill>
                <a:latin typeface="Cambria" pitchFamily="34" charset="0"/>
                <a:ea typeface="Cambria" pitchFamily="34" charset="-122"/>
                <a:cs typeface="Cambria" pitchFamily="34" charset="-120"/>
              </a:rPr>
              <a:t>Bascule à l'été 2025, progrès énormes depuis, d'autres à venir. Mais elle n'en a pas besoin : telle qu'elle est aujourd'hui, elle suffit à tout ce qui suit. Ce n'est pas un futur, c'est la réalité d'aujourd'hui.</a:t>
            </a:r>
            <a:endParaRPr lang="en-US" sz="1000" dirty="0"/>
          </a:p>
        </p:txBody>
      </p:sp>
      <p:sp>
        <p:nvSpPr>
          <p:cNvPr id="11" name="Shape 9"/>
          <p:cNvSpPr/>
          <p:nvPr/>
        </p:nvSpPr>
        <p:spPr>
          <a:xfrm>
            <a:off x="548640" y="2011680"/>
            <a:ext cx="8046720" cy="804672"/>
          </a:xfrm>
          <a:prstGeom prst="rect">
            <a:avLst/>
          </a:prstGeom>
          <a:solidFill>
            <a:srgbClr val="F1F2F4"/>
          </a:solidFill>
          <a:ln/>
        </p:spPr>
      </p:sp>
      <p:sp>
        <p:nvSpPr>
          <p:cNvPr id="12" name="Shape 10"/>
          <p:cNvSpPr/>
          <p:nvPr/>
        </p:nvSpPr>
        <p:spPr>
          <a:xfrm>
            <a:off x="548640" y="2011680"/>
            <a:ext cx="50292" cy="804672"/>
          </a:xfrm>
          <a:prstGeom prst="rect">
            <a:avLst/>
          </a:prstGeom>
          <a:solidFill>
            <a:srgbClr val="E87722"/>
          </a:solidFill>
          <a:ln/>
        </p:spPr>
      </p:sp>
      <p:sp>
        <p:nvSpPr>
          <p:cNvPr id="13" name="Shape 11"/>
          <p:cNvSpPr/>
          <p:nvPr/>
        </p:nvSpPr>
        <p:spPr>
          <a:xfrm>
            <a:off x="777240" y="2130552"/>
            <a:ext cx="292608" cy="292608"/>
          </a:xfrm>
          <a:prstGeom prst="ellipse">
            <a:avLst/>
          </a:prstGeom>
          <a:solidFill>
            <a:srgbClr val="E87722"/>
          </a:solidFill>
          <a:ln/>
        </p:spPr>
      </p:sp>
      <p:sp>
        <p:nvSpPr>
          <p:cNvPr id="14" name="Text 12"/>
          <p:cNvSpPr txBox="1"/>
          <p:nvPr/>
        </p:nvSpPr>
        <p:spPr>
          <a:xfrm>
            <a:off x="777240" y="21305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txBox="1"/>
          <p:nvPr/>
        </p:nvSpPr>
        <p:spPr>
          <a:xfrm>
            <a:off x="1188720" y="2148840"/>
            <a:ext cx="7223760" cy="237744"/>
          </a:xfrm>
          <a:prstGeom prst="rect">
            <a:avLst/>
          </a:prstGeom>
          <a:noFill/>
          <a:ln/>
        </p:spPr>
        <p:txBody>
          <a:bodyPr wrap="square" lIns="0" tIns="0" rIns="0" bIns="0" rtlCol="0" anchor="t"/>
          <a:lstStyle/>
          <a:p>
            <a:pPr indent="0" marL="0">
              <a:buNone/>
            </a:pPr>
            <a:r>
              <a:rPr lang="en-US" sz="1300" b="1" dirty="0">
                <a:solidFill>
                  <a:srgbClr val="10243F"/>
                </a:solidFill>
                <a:latin typeface="Calibri" pitchFamily="34" charset="0"/>
                <a:ea typeface="Calibri" pitchFamily="34" charset="-122"/>
                <a:cs typeface="Calibri" pitchFamily="34" charset="-120"/>
              </a:rPr>
              <a:t>Le gain va de vingt à cinquante fois</a:t>
            </a:r>
            <a:endParaRPr lang="en-US" sz="1300" dirty="0"/>
          </a:p>
        </p:txBody>
      </p:sp>
      <p:sp>
        <p:nvSpPr>
          <p:cNvPr id="16" name="Text 14"/>
          <p:cNvSpPr txBox="1"/>
          <p:nvPr/>
        </p:nvSpPr>
        <p:spPr>
          <a:xfrm>
            <a:off x="1188720" y="2414016"/>
            <a:ext cx="7223760" cy="384048"/>
          </a:xfrm>
          <a:prstGeom prst="rect">
            <a:avLst/>
          </a:prstGeom>
          <a:noFill/>
          <a:ln/>
        </p:spPr>
        <p:txBody>
          <a:bodyPr wrap="square" lIns="0" tIns="0" rIns="0" bIns="0" rtlCol="0" anchor="t"/>
          <a:lstStyle/>
          <a:p>
            <a:pPr indent="0" marL="0">
              <a:lnSpc>
                <a:spcPct val="105000"/>
              </a:lnSpc>
              <a:buNone/>
            </a:pPr>
            <a:r>
              <a:rPr lang="en-US" sz="1000" dirty="0">
                <a:solidFill>
                  <a:srgbClr val="1E2A38"/>
                </a:solidFill>
                <a:latin typeface="Cambria" pitchFamily="34" charset="0"/>
                <a:ea typeface="Cambria" pitchFamily="34" charset="-122"/>
                <a:cs typeface="Cambria" pitchFamily="34" charset="-120"/>
              </a:rPr>
              <a:t>Sur les tâches où elle mord, l'écart n'est pas de quelques pour cent : c'est un facteur vingt à cinquante, soit au moins deux ordres de grandeur. Aucune organisation ne peut y échapper.</a:t>
            </a:r>
            <a:endParaRPr lang="en-US" sz="1000" dirty="0"/>
          </a:p>
        </p:txBody>
      </p:sp>
      <p:sp>
        <p:nvSpPr>
          <p:cNvPr id="17" name="Shape 15"/>
          <p:cNvSpPr/>
          <p:nvPr/>
        </p:nvSpPr>
        <p:spPr>
          <a:xfrm>
            <a:off x="548640" y="2889504"/>
            <a:ext cx="8046720" cy="804672"/>
          </a:xfrm>
          <a:prstGeom prst="rect">
            <a:avLst/>
          </a:prstGeom>
          <a:solidFill>
            <a:srgbClr val="F1F2F4"/>
          </a:solidFill>
          <a:ln/>
        </p:spPr>
      </p:sp>
      <p:sp>
        <p:nvSpPr>
          <p:cNvPr id="18" name="Shape 16"/>
          <p:cNvSpPr/>
          <p:nvPr/>
        </p:nvSpPr>
        <p:spPr>
          <a:xfrm>
            <a:off x="548640" y="2889504"/>
            <a:ext cx="50292" cy="804672"/>
          </a:xfrm>
          <a:prstGeom prst="rect">
            <a:avLst/>
          </a:prstGeom>
          <a:solidFill>
            <a:srgbClr val="E87722"/>
          </a:solidFill>
          <a:ln/>
        </p:spPr>
      </p:sp>
      <p:sp>
        <p:nvSpPr>
          <p:cNvPr id="19" name="Shape 17"/>
          <p:cNvSpPr/>
          <p:nvPr/>
        </p:nvSpPr>
        <p:spPr>
          <a:xfrm>
            <a:off x="777240" y="3008376"/>
            <a:ext cx="292608" cy="292608"/>
          </a:xfrm>
          <a:prstGeom prst="ellipse">
            <a:avLst/>
          </a:prstGeom>
          <a:solidFill>
            <a:srgbClr val="E87722"/>
          </a:solidFill>
          <a:ln/>
        </p:spPr>
      </p:sp>
      <p:sp>
        <p:nvSpPr>
          <p:cNvPr id="20" name="Text 18"/>
          <p:cNvSpPr txBox="1"/>
          <p:nvPr/>
        </p:nvSpPr>
        <p:spPr>
          <a:xfrm>
            <a:off x="777240" y="300837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txBox="1"/>
          <p:nvPr/>
        </p:nvSpPr>
        <p:spPr>
          <a:xfrm>
            <a:off x="1188720" y="3026664"/>
            <a:ext cx="7223760" cy="237744"/>
          </a:xfrm>
          <a:prstGeom prst="rect">
            <a:avLst/>
          </a:prstGeom>
          <a:noFill/>
          <a:ln/>
        </p:spPr>
        <p:txBody>
          <a:bodyPr wrap="square" lIns="0" tIns="0" rIns="0" bIns="0" rtlCol="0" anchor="t"/>
          <a:lstStyle/>
          <a:p>
            <a:pPr indent="0" marL="0">
              <a:buNone/>
            </a:pPr>
            <a:r>
              <a:rPr lang="en-US" sz="1300" b="1" dirty="0">
                <a:solidFill>
                  <a:srgbClr val="10243F"/>
                </a:solidFill>
                <a:latin typeface="Calibri" pitchFamily="34" charset="0"/>
                <a:ea typeface="Calibri" pitchFamily="34" charset="-122"/>
                <a:cs typeface="Calibri" pitchFamily="34" charset="-120"/>
              </a:rPr>
              <a:t>Les métiers et l'organisation des projets seront transformés</a:t>
            </a:r>
            <a:endParaRPr lang="en-US" sz="1300" dirty="0"/>
          </a:p>
        </p:txBody>
      </p:sp>
      <p:sp>
        <p:nvSpPr>
          <p:cNvPr id="22" name="Text 20"/>
          <p:cNvSpPr txBox="1"/>
          <p:nvPr/>
        </p:nvSpPr>
        <p:spPr>
          <a:xfrm>
            <a:off x="1188720" y="3291840"/>
            <a:ext cx="7223760" cy="384048"/>
          </a:xfrm>
          <a:prstGeom prst="rect">
            <a:avLst/>
          </a:prstGeom>
          <a:noFill/>
          <a:ln/>
        </p:spPr>
        <p:txBody>
          <a:bodyPr wrap="square" lIns="0" tIns="0" rIns="0" bIns="0" rtlCol="0" anchor="t"/>
          <a:lstStyle/>
          <a:p>
            <a:pPr indent="0" marL="0">
              <a:lnSpc>
                <a:spcPct val="105000"/>
              </a:lnSpc>
              <a:buNone/>
            </a:pPr>
            <a:r>
              <a:rPr lang="en-US" sz="1000" dirty="0">
                <a:solidFill>
                  <a:srgbClr val="1E2A38"/>
                </a:solidFill>
                <a:latin typeface="Cambria" pitchFamily="34" charset="0"/>
                <a:ea typeface="Cambria" pitchFamily="34" charset="-122"/>
                <a:cs typeface="Cambria" pitchFamily="34" charset="-120"/>
              </a:rPr>
              <a:t>Le pilote IA couvre toute la chaîne, de l'analyse au déploiement. Les découpages de rôles hérités du cycle en V n'y résistent pas.</a:t>
            </a:r>
            <a:endParaRPr lang="en-US" sz="1000" dirty="0"/>
          </a:p>
        </p:txBody>
      </p:sp>
      <p:sp>
        <p:nvSpPr>
          <p:cNvPr id="23" name="Shape 21"/>
          <p:cNvSpPr/>
          <p:nvPr/>
        </p:nvSpPr>
        <p:spPr>
          <a:xfrm>
            <a:off x="548640" y="3767328"/>
            <a:ext cx="8046720" cy="804672"/>
          </a:xfrm>
          <a:prstGeom prst="rect">
            <a:avLst/>
          </a:prstGeom>
          <a:solidFill>
            <a:srgbClr val="F1F2F4"/>
          </a:solidFill>
          <a:ln/>
        </p:spPr>
      </p:sp>
      <p:sp>
        <p:nvSpPr>
          <p:cNvPr id="24" name="Shape 22"/>
          <p:cNvSpPr/>
          <p:nvPr/>
        </p:nvSpPr>
        <p:spPr>
          <a:xfrm>
            <a:off x="548640" y="3767328"/>
            <a:ext cx="50292" cy="804672"/>
          </a:xfrm>
          <a:prstGeom prst="rect">
            <a:avLst/>
          </a:prstGeom>
          <a:solidFill>
            <a:srgbClr val="E87722"/>
          </a:solidFill>
          <a:ln/>
        </p:spPr>
      </p:sp>
      <p:sp>
        <p:nvSpPr>
          <p:cNvPr id="25" name="Shape 23"/>
          <p:cNvSpPr/>
          <p:nvPr/>
        </p:nvSpPr>
        <p:spPr>
          <a:xfrm>
            <a:off x="777240" y="3886200"/>
            <a:ext cx="292608" cy="292608"/>
          </a:xfrm>
          <a:prstGeom prst="ellipse">
            <a:avLst/>
          </a:prstGeom>
          <a:solidFill>
            <a:srgbClr val="E87722"/>
          </a:solidFill>
          <a:ln/>
        </p:spPr>
      </p:sp>
      <p:sp>
        <p:nvSpPr>
          <p:cNvPr id="26" name="Text 24"/>
          <p:cNvSpPr txBox="1"/>
          <p:nvPr/>
        </p:nvSpPr>
        <p:spPr>
          <a:xfrm>
            <a:off x="777240" y="38862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5"/>
          <p:cNvSpPr txBox="1"/>
          <p:nvPr/>
        </p:nvSpPr>
        <p:spPr>
          <a:xfrm>
            <a:off x="1188720" y="3904488"/>
            <a:ext cx="7223760" cy="237744"/>
          </a:xfrm>
          <a:prstGeom prst="rect">
            <a:avLst/>
          </a:prstGeom>
          <a:noFill/>
          <a:ln/>
        </p:spPr>
        <p:txBody>
          <a:bodyPr wrap="square" lIns="0" tIns="0" rIns="0" bIns="0" rtlCol="0" anchor="t"/>
          <a:lstStyle/>
          <a:p>
            <a:pPr indent="0" marL="0">
              <a:buNone/>
            </a:pPr>
            <a:r>
              <a:rPr lang="en-US" sz="1300" b="1" dirty="0">
                <a:solidFill>
                  <a:srgbClr val="10243F"/>
                </a:solidFill>
                <a:latin typeface="Calibri" pitchFamily="34" charset="0"/>
                <a:ea typeface="Calibri" pitchFamily="34" charset="-122"/>
                <a:cs typeface="Calibri" pitchFamily="34" charset="-120"/>
              </a:rPr>
              <a:t>Efficace partout — et sur certains sujets, bien au-delà</a:t>
            </a:r>
            <a:endParaRPr lang="en-US" sz="1300" dirty="0"/>
          </a:p>
        </p:txBody>
      </p:sp>
      <p:sp>
        <p:nvSpPr>
          <p:cNvPr id="28" name="Text 26"/>
          <p:cNvSpPr txBox="1"/>
          <p:nvPr/>
        </p:nvSpPr>
        <p:spPr>
          <a:xfrm>
            <a:off x="1188720" y="4169664"/>
            <a:ext cx="7223760" cy="384048"/>
          </a:xfrm>
          <a:prstGeom prst="rect">
            <a:avLst/>
          </a:prstGeom>
          <a:noFill/>
          <a:ln/>
        </p:spPr>
        <p:txBody>
          <a:bodyPr wrap="square" lIns="0" tIns="0" rIns="0" bIns="0" rtlCol="0" anchor="t"/>
          <a:lstStyle/>
          <a:p>
            <a:pPr indent="0" marL="0">
              <a:lnSpc>
                <a:spcPct val="105000"/>
              </a:lnSpc>
              <a:buNone/>
            </a:pPr>
            <a:r>
              <a:rPr lang="en-US" sz="1000" dirty="0">
                <a:solidFill>
                  <a:srgbClr val="1E2A38"/>
                </a:solidFill>
                <a:latin typeface="Cambria" pitchFamily="34" charset="0"/>
                <a:ea typeface="Cambria" pitchFamily="34" charset="-122"/>
                <a:cs typeface="Cambria" pitchFamily="34" charset="-120"/>
              </a:rPr>
              <a:t>Le facteur vingt à cinquante, c'est l'humain plus l'IA. Là où l'humain n'est presque plus nécessaire — mener une enquête, écrire les tests, écrire la documentation — on n'est plus à vingt : on est autour de mille.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COMPARATIF</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Le même travail : humain et IA</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7</a:t>
            </a:r>
            <a:endParaRPr lang="en-US" sz="850" dirty="0"/>
          </a:p>
        </p:txBody>
      </p:sp>
      <p:sp>
        <p:nvSpPr>
          <p:cNvPr id="5" name="Text 3"/>
          <p:cNvSpPr txBox="1"/>
          <p:nvPr/>
        </p:nvSpPr>
        <p:spPr>
          <a:xfrm>
            <a:off x="548640" y="1060704"/>
            <a:ext cx="1371600" cy="182880"/>
          </a:xfrm>
          <a:prstGeom prst="rect">
            <a:avLst/>
          </a:prstGeom>
          <a:noFill/>
          <a:ln/>
        </p:spPr>
        <p:txBody>
          <a:bodyPr wrap="square" lIns="0" tIns="0" rIns="0" bIns="0" rtlCol="0" anchor="ctr"/>
          <a:lstStyle/>
          <a:p>
            <a:pPr indent="0" marL="0">
              <a:buNone/>
            </a:pPr>
            <a:r>
              <a:rPr lang="en-US" sz="800" b="1" spc="140" kern="0" dirty="0">
                <a:solidFill>
                  <a:srgbClr val="6B7280"/>
                </a:solidFill>
                <a:latin typeface="Calibri" pitchFamily="34" charset="0"/>
                <a:ea typeface="Calibri" pitchFamily="34" charset="-122"/>
                <a:cs typeface="Calibri" pitchFamily="34" charset="-120"/>
              </a:rPr>
              <a:t>DIMENSION</a:t>
            </a:r>
            <a:endParaRPr lang="en-US" sz="800" dirty="0"/>
          </a:p>
        </p:txBody>
      </p:sp>
      <p:sp>
        <p:nvSpPr>
          <p:cNvPr id="6" name="Text 4"/>
          <p:cNvSpPr txBox="1"/>
          <p:nvPr/>
        </p:nvSpPr>
        <p:spPr>
          <a:xfrm>
            <a:off x="2011680" y="1060704"/>
            <a:ext cx="3291840" cy="182880"/>
          </a:xfrm>
          <a:prstGeom prst="rect">
            <a:avLst/>
          </a:prstGeom>
          <a:noFill/>
          <a:ln/>
        </p:spPr>
        <p:txBody>
          <a:bodyPr wrap="square" lIns="0" tIns="0" rIns="0" bIns="0" rtlCol="0" anchor="ctr"/>
          <a:lstStyle/>
          <a:p>
            <a:pPr indent="0" marL="0">
              <a:buNone/>
            </a:pPr>
            <a:r>
              <a:rPr lang="en-US" sz="800" b="1" spc="140" kern="0" dirty="0">
                <a:solidFill>
                  <a:srgbClr val="6B7280"/>
                </a:solidFill>
                <a:latin typeface="Calibri" pitchFamily="34" charset="0"/>
                <a:ea typeface="Calibri" pitchFamily="34" charset="-122"/>
                <a:cs typeface="Calibri" pitchFamily="34" charset="-120"/>
              </a:rPr>
              <a:t>HUMAIN</a:t>
            </a:r>
            <a:endParaRPr lang="en-US" sz="800" dirty="0"/>
          </a:p>
        </p:txBody>
      </p:sp>
      <p:sp>
        <p:nvSpPr>
          <p:cNvPr id="7" name="Text 5"/>
          <p:cNvSpPr txBox="1"/>
          <p:nvPr/>
        </p:nvSpPr>
        <p:spPr>
          <a:xfrm>
            <a:off x="5394960" y="1060704"/>
            <a:ext cx="3200400" cy="182880"/>
          </a:xfrm>
          <a:prstGeom prst="rect">
            <a:avLst/>
          </a:prstGeom>
          <a:noFill/>
          <a:ln/>
        </p:spPr>
        <p:txBody>
          <a:bodyPr wrap="square" lIns="0" tIns="0" rIns="0" bIns="0" rtlCol="0" anchor="ctr"/>
          <a:lstStyle/>
          <a:p>
            <a:pPr indent="0" marL="0">
              <a:buNone/>
            </a:pPr>
            <a:r>
              <a:rPr lang="en-US" sz="800" b="1" spc="140" kern="0" dirty="0">
                <a:solidFill>
                  <a:srgbClr val="E87722"/>
                </a:solidFill>
                <a:latin typeface="Calibri" pitchFamily="34" charset="0"/>
                <a:ea typeface="Calibri" pitchFamily="34" charset="-122"/>
                <a:cs typeface="Calibri" pitchFamily="34" charset="-120"/>
              </a:rPr>
              <a:t>IA</a:t>
            </a:r>
            <a:endParaRPr lang="en-US" sz="800" dirty="0"/>
          </a:p>
        </p:txBody>
      </p:sp>
      <p:sp>
        <p:nvSpPr>
          <p:cNvPr id="8" name="Shape 6"/>
          <p:cNvSpPr/>
          <p:nvPr/>
        </p:nvSpPr>
        <p:spPr>
          <a:xfrm>
            <a:off x="548640" y="1261872"/>
            <a:ext cx="8046720" cy="603504"/>
          </a:xfrm>
          <a:prstGeom prst="rect">
            <a:avLst/>
          </a:prstGeom>
          <a:solidFill>
            <a:srgbClr val="F1F2F4"/>
          </a:solidFill>
          <a:ln/>
        </p:spPr>
      </p:sp>
      <p:sp>
        <p:nvSpPr>
          <p:cNvPr id="9" name="Shape 7"/>
          <p:cNvSpPr/>
          <p:nvPr/>
        </p:nvSpPr>
        <p:spPr>
          <a:xfrm>
            <a:off x="548640" y="1261872"/>
            <a:ext cx="50292" cy="603504"/>
          </a:xfrm>
          <a:prstGeom prst="rect">
            <a:avLst/>
          </a:prstGeom>
          <a:solidFill>
            <a:srgbClr val="E87722"/>
          </a:solidFill>
          <a:ln/>
        </p:spPr>
      </p:sp>
      <p:sp>
        <p:nvSpPr>
          <p:cNvPr id="10" name="Shape 8"/>
          <p:cNvSpPr/>
          <p:nvPr/>
        </p:nvSpPr>
        <p:spPr>
          <a:xfrm>
            <a:off x="5230368" y="1353312"/>
            <a:ext cx="18288" cy="420624"/>
          </a:xfrm>
          <a:prstGeom prst="rect">
            <a:avLst/>
          </a:prstGeom>
          <a:solidFill>
            <a:srgbClr val="E4E6E9"/>
          </a:solidFill>
          <a:ln/>
        </p:spPr>
      </p:sp>
      <p:sp>
        <p:nvSpPr>
          <p:cNvPr id="11" name="Text 9"/>
          <p:cNvSpPr txBox="1"/>
          <p:nvPr/>
        </p:nvSpPr>
        <p:spPr>
          <a:xfrm>
            <a:off x="777240" y="1353312"/>
            <a:ext cx="11887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Vitesse</a:t>
            </a:r>
            <a:endParaRPr lang="en-US" sz="1200" dirty="0"/>
          </a:p>
        </p:txBody>
      </p:sp>
      <p:sp>
        <p:nvSpPr>
          <p:cNvPr id="12" name="Text 10"/>
          <p:cNvSpPr txBox="1"/>
          <p:nvPr/>
        </p:nvSpPr>
        <p:spPr>
          <a:xfrm>
            <a:off x="2011680" y="1353312"/>
            <a:ext cx="3291840" cy="475488"/>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Le débit d'écriture borne tout. Un lot complet se compte en semaines ; les tests se rognent en fin de lot.</a:t>
            </a:r>
            <a:endParaRPr lang="en-US" sz="930" dirty="0"/>
          </a:p>
        </p:txBody>
      </p:sp>
      <p:sp>
        <p:nvSpPr>
          <p:cNvPr id="13" name="Text 11"/>
          <p:cNvSpPr txBox="1"/>
          <p:nvPr/>
        </p:nvSpPr>
        <p:spPr>
          <a:xfrm>
            <a:off x="5394960" y="1353312"/>
            <a:ext cx="3200400" cy="475488"/>
          </a:xfrm>
          <a:prstGeom prst="rect">
            <a:avLst/>
          </a:prstGeom>
          <a:noFill/>
          <a:ln/>
        </p:spPr>
        <p:txBody>
          <a:bodyPr wrap="square" lIns="0" tIns="0" rIns="0" bIns="0" rtlCol="0" anchor="t"/>
          <a:lstStyle/>
          <a:p>
            <a:pPr indent="0" marL="0">
              <a:lnSpc>
                <a:spcPct val="105000"/>
              </a:lnSpc>
              <a:buNone/>
            </a:pPr>
            <a:r>
              <a:rPr lang="en-US" sz="930" dirty="0">
                <a:solidFill>
                  <a:srgbClr val="1E2A38"/>
                </a:solidFill>
                <a:latin typeface="Cambria" pitchFamily="34" charset="0"/>
                <a:ea typeface="Cambria" pitchFamily="34" charset="-122"/>
                <a:cs typeface="Cambria" pitchFamily="34" charset="-120"/>
              </a:rPr>
              <a:t>×20 à ×50 avec l'humain dans la boucle — et bien au-delà sans lui. La vitesse cesse tout simplement d'être un problème.</a:t>
            </a:r>
            <a:endParaRPr lang="en-US" sz="930" dirty="0"/>
          </a:p>
        </p:txBody>
      </p:sp>
      <p:sp>
        <p:nvSpPr>
          <p:cNvPr id="14" name="Shape 12"/>
          <p:cNvSpPr/>
          <p:nvPr/>
        </p:nvSpPr>
        <p:spPr>
          <a:xfrm>
            <a:off x="548640" y="1929384"/>
            <a:ext cx="8046720" cy="603504"/>
          </a:xfrm>
          <a:prstGeom prst="rect">
            <a:avLst/>
          </a:prstGeom>
          <a:solidFill>
            <a:srgbClr val="F1F2F4"/>
          </a:solidFill>
          <a:ln/>
        </p:spPr>
      </p:sp>
      <p:sp>
        <p:nvSpPr>
          <p:cNvPr id="15" name="Shape 13"/>
          <p:cNvSpPr/>
          <p:nvPr/>
        </p:nvSpPr>
        <p:spPr>
          <a:xfrm>
            <a:off x="548640" y="1929384"/>
            <a:ext cx="50292" cy="603504"/>
          </a:xfrm>
          <a:prstGeom prst="rect">
            <a:avLst/>
          </a:prstGeom>
          <a:solidFill>
            <a:srgbClr val="E87722"/>
          </a:solidFill>
          <a:ln/>
        </p:spPr>
      </p:sp>
      <p:sp>
        <p:nvSpPr>
          <p:cNvPr id="16" name="Shape 14"/>
          <p:cNvSpPr/>
          <p:nvPr/>
        </p:nvSpPr>
        <p:spPr>
          <a:xfrm>
            <a:off x="5230368" y="2020824"/>
            <a:ext cx="18288" cy="420624"/>
          </a:xfrm>
          <a:prstGeom prst="rect">
            <a:avLst/>
          </a:prstGeom>
          <a:solidFill>
            <a:srgbClr val="E4E6E9"/>
          </a:solidFill>
          <a:ln/>
        </p:spPr>
      </p:sp>
      <p:sp>
        <p:nvSpPr>
          <p:cNvPr id="17" name="Text 15"/>
          <p:cNvSpPr txBox="1"/>
          <p:nvPr/>
        </p:nvSpPr>
        <p:spPr>
          <a:xfrm>
            <a:off x="777240" y="2020824"/>
            <a:ext cx="11887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Omniscience</a:t>
            </a:r>
            <a:endParaRPr lang="en-US" sz="1200" dirty="0"/>
          </a:p>
        </p:txBody>
      </p:sp>
      <p:sp>
        <p:nvSpPr>
          <p:cNvPr id="18" name="Text 16"/>
          <p:cNvSpPr txBox="1"/>
          <p:nvPr/>
        </p:nvSpPr>
        <p:spPr>
          <a:xfrm>
            <a:off x="2011680" y="2020824"/>
            <a:ext cx="3291840" cy="475488"/>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Une énorme part du temps passe à chercher, apprendre, trouver : un protocole rare, un format hérité, une bibliothèque inconnue.</a:t>
            </a:r>
            <a:endParaRPr lang="en-US" sz="930" dirty="0"/>
          </a:p>
        </p:txBody>
      </p:sp>
      <p:sp>
        <p:nvSpPr>
          <p:cNvPr id="19" name="Text 17"/>
          <p:cNvSpPr txBox="1"/>
          <p:nvPr/>
        </p:nvSpPr>
        <p:spPr>
          <a:xfrm>
            <a:off x="5394960" y="2020824"/>
            <a:ext cx="3200400" cy="475488"/>
          </a:xfrm>
          <a:prstGeom prst="rect">
            <a:avLst/>
          </a:prstGeom>
          <a:noFill/>
          <a:ln/>
        </p:spPr>
        <p:txBody>
          <a:bodyPr wrap="square" lIns="0" tIns="0" rIns="0" bIns="0" rtlCol="0" anchor="t"/>
          <a:lstStyle/>
          <a:p>
            <a:pPr indent="0" marL="0">
              <a:lnSpc>
                <a:spcPct val="105000"/>
              </a:lnSpc>
              <a:buNone/>
            </a:pPr>
            <a:r>
              <a:rPr lang="en-US" sz="930" dirty="0">
                <a:solidFill>
                  <a:srgbClr val="1E2A38"/>
                </a:solidFill>
                <a:latin typeface="Cambria" pitchFamily="34" charset="0"/>
                <a:ea typeface="Cambria" pitchFamily="34" charset="-122"/>
                <a:cs typeface="Cambria" pitchFamily="34" charset="-120"/>
              </a:rPr>
              <a:t>Une connaissance immédiate, considérable, sur à peu près tout — jusqu'aux protocoles série des années 1990. Rien à apprendre avant de commencer.</a:t>
            </a:r>
            <a:endParaRPr lang="en-US" sz="930" dirty="0"/>
          </a:p>
        </p:txBody>
      </p:sp>
      <p:sp>
        <p:nvSpPr>
          <p:cNvPr id="20" name="Shape 18"/>
          <p:cNvSpPr/>
          <p:nvPr/>
        </p:nvSpPr>
        <p:spPr>
          <a:xfrm>
            <a:off x="548640" y="2596896"/>
            <a:ext cx="8046720" cy="603504"/>
          </a:xfrm>
          <a:prstGeom prst="rect">
            <a:avLst/>
          </a:prstGeom>
          <a:solidFill>
            <a:srgbClr val="F1F2F4"/>
          </a:solidFill>
          <a:ln/>
        </p:spPr>
      </p:sp>
      <p:sp>
        <p:nvSpPr>
          <p:cNvPr id="21" name="Shape 19"/>
          <p:cNvSpPr/>
          <p:nvPr/>
        </p:nvSpPr>
        <p:spPr>
          <a:xfrm>
            <a:off x="548640" y="2596896"/>
            <a:ext cx="50292" cy="603504"/>
          </a:xfrm>
          <a:prstGeom prst="rect">
            <a:avLst/>
          </a:prstGeom>
          <a:solidFill>
            <a:srgbClr val="E87722"/>
          </a:solidFill>
          <a:ln/>
        </p:spPr>
      </p:sp>
      <p:sp>
        <p:nvSpPr>
          <p:cNvPr id="22" name="Shape 20"/>
          <p:cNvSpPr/>
          <p:nvPr/>
        </p:nvSpPr>
        <p:spPr>
          <a:xfrm>
            <a:off x="5230368" y="2688336"/>
            <a:ext cx="18288" cy="420624"/>
          </a:xfrm>
          <a:prstGeom prst="rect">
            <a:avLst/>
          </a:prstGeom>
          <a:solidFill>
            <a:srgbClr val="E4E6E9"/>
          </a:solidFill>
          <a:ln/>
        </p:spPr>
      </p:sp>
      <p:sp>
        <p:nvSpPr>
          <p:cNvPr id="23" name="Text 21"/>
          <p:cNvSpPr txBox="1"/>
          <p:nvPr/>
        </p:nvSpPr>
        <p:spPr>
          <a:xfrm>
            <a:off x="777240" y="2688336"/>
            <a:ext cx="11887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Discipline</a:t>
            </a:r>
            <a:endParaRPr lang="en-US" sz="1200" dirty="0"/>
          </a:p>
        </p:txBody>
      </p:sp>
      <p:sp>
        <p:nvSpPr>
          <p:cNvPr id="24" name="Text 22"/>
          <p:cNvSpPr txBox="1"/>
          <p:nvPr/>
        </p:nvSpPr>
        <p:spPr>
          <a:xfrm>
            <a:off x="2011680" y="2688336"/>
            <a:ext cx="3291840" cy="475488"/>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Nous sommes humains : des avis différents, de l'ego, l'aversion à avoir tort. La convention se relâche, la cohérence se dégrade.</a:t>
            </a:r>
            <a:endParaRPr lang="en-US" sz="930" dirty="0"/>
          </a:p>
        </p:txBody>
      </p:sp>
      <p:sp>
        <p:nvSpPr>
          <p:cNvPr id="25" name="Text 23"/>
          <p:cNvSpPr txBox="1"/>
          <p:nvPr/>
        </p:nvSpPr>
        <p:spPr>
          <a:xfrm>
            <a:off x="5394960" y="2688336"/>
            <a:ext cx="3200400" cy="475488"/>
          </a:xfrm>
          <a:prstGeom prst="rect">
            <a:avLst/>
          </a:prstGeom>
          <a:noFill/>
          <a:ln/>
        </p:spPr>
        <p:txBody>
          <a:bodyPr wrap="square" lIns="0" tIns="0" rIns="0" bIns="0" rtlCol="0" anchor="t"/>
          <a:lstStyle/>
          <a:p>
            <a:pPr indent="0" marL="0">
              <a:lnSpc>
                <a:spcPct val="105000"/>
              </a:lnSpc>
              <a:buNone/>
            </a:pPr>
            <a:r>
              <a:rPr lang="en-US" sz="930" dirty="0">
                <a:solidFill>
                  <a:srgbClr val="1E2A38"/>
                </a:solidFill>
                <a:latin typeface="Cambria" pitchFamily="34" charset="0"/>
                <a:ea typeface="Cambria" pitchFamily="34" charset="-122"/>
                <a:cs typeface="Cambria" pitchFamily="34" charset="-120"/>
              </a:rPr>
              <a:t>Elle s'en fiche : elle obéit. Demandez-lui de se conformer, elle se conforme — 120 classes au même moule, une documentation sur chaque méthode.</a:t>
            </a:r>
            <a:endParaRPr lang="en-US" sz="930" dirty="0"/>
          </a:p>
        </p:txBody>
      </p:sp>
      <p:sp>
        <p:nvSpPr>
          <p:cNvPr id="26" name="Shape 24"/>
          <p:cNvSpPr/>
          <p:nvPr/>
        </p:nvSpPr>
        <p:spPr>
          <a:xfrm>
            <a:off x="548640" y="3264408"/>
            <a:ext cx="8046720" cy="603504"/>
          </a:xfrm>
          <a:prstGeom prst="rect">
            <a:avLst/>
          </a:prstGeom>
          <a:solidFill>
            <a:srgbClr val="F1F2F4"/>
          </a:solidFill>
          <a:ln/>
        </p:spPr>
      </p:sp>
      <p:sp>
        <p:nvSpPr>
          <p:cNvPr id="27" name="Shape 25"/>
          <p:cNvSpPr/>
          <p:nvPr/>
        </p:nvSpPr>
        <p:spPr>
          <a:xfrm>
            <a:off x="548640" y="3264408"/>
            <a:ext cx="50292" cy="603504"/>
          </a:xfrm>
          <a:prstGeom prst="rect">
            <a:avLst/>
          </a:prstGeom>
          <a:solidFill>
            <a:srgbClr val="E87722"/>
          </a:solidFill>
          <a:ln/>
        </p:spPr>
      </p:sp>
      <p:sp>
        <p:nvSpPr>
          <p:cNvPr id="28" name="Shape 26"/>
          <p:cNvSpPr/>
          <p:nvPr/>
        </p:nvSpPr>
        <p:spPr>
          <a:xfrm>
            <a:off x="5230368" y="3355848"/>
            <a:ext cx="18288" cy="420624"/>
          </a:xfrm>
          <a:prstGeom prst="rect">
            <a:avLst/>
          </a:prstGeom>
          <a:solidFill>
            <a:srgbClr val="E4E6E9"/>
          </a:solidFill>
          <a:ln/>
        </p:spPr>
      </p:sp>
      <p:sp>
        <p:nvSpPr>
          <p:cNvPr id="29" name="Text 27"/>
          <p:cNvSpPr txBox="1"/>
          <p:nvPr/>
        </p:nvSpPr>
        <p:spPr>
          <a:xfrm>
            <a:off x="777240" y="3355848"/>
            <a:ext cx="11887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Documentation</a:t>
            </a:r>
            <a:endParaRPr lang="en-US" sz="1200" dirty="0"/>
          </a:p>
        </p:txBody>
      </p:sp>
      <p:sp>
        <p:nvSpPr>
          <p:cNvPr id="30" name="Text 28"/>
          <p:cNvSpPr txBox="1"/>
          <p:nvPr/>
        </p:nvSpPr>
        <p:spPr>
          <a:xfrm>
            <a:off x="2011680" y="3355848"/>
            <a:ext cx="3291840" cy="475488"/>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Beaucoup trop longue à écrire pour un humain : écrite après, ou pas écrite, et elle diverge dès la deuxième évolution.</a:t>
            </a:r>
            <a:endParaRPr lang="en-US" sz="930" dirty="0"/>
          </a:p>
        </p:txBody>
      </p:sp>
      <p:sp>
        <p:nvSpPr>
          <p:cNvPr id="31" name="Text 29"/>
          <p:cNvSpPr txBox="1"/>
          <p:nvPr/>
        </p:nvSpPr>
        <p:spPr>
          <a:xfrm>
            <a:off x="5394960" y="3355848"/>
            <a:ext cx="3200400" cy="475488"/>
          </a:xfrm>
          <a:prstGeom prst="rect">
            <a:avLst/>
          </a:prstGeom>
          <a:noFill/>
          <a:ln/>
        </p:spPr>
        <p:txBody>
          <a:bodyPr wrap="square" lIns="0" tIns="0" rIns="0" bIns="0" rtlCol="0" anchor="t"/>
          <a:lstStyle/>
          <a:p>
            <a:pPr indent="0" marL="0">
              <a:lnSpc>
                <a:spcPct val="105000"/>
              </a:lnSpc>
              <a:buNone/>
            </a:pPr>
            <a:r>
              <a:rPr lang="en-US" sz="930" dirty="0">
                <a:solidFill>
                  <a:srgbClr val="1E2A38"/>
                </a:solidFill>
                <a:latin typeface="Cambria" pitchFamily="34" charset="0"/>
                <a:ea typeface="Cambria" pitchFamily="34" charset="-122"/>
                <a:cs typeface="Cambria" pitchFamily="34" charset="-120"/>
              </a:rPr>
              <a:t>Pour elle, ce n'est vraiment rien du tout : écrite avec le code, parce qu'elle s'en sert — 120 classes et 25 écrans porteurs de leur contrat.</a:t>
            </a:r>
            <a:endParaRPr lang="en-US" sz="930" dirty="0"/>
          </a:p>
        </p:txBody>
      </p:sp>
      <p:sp>
        <p:nvSpPr>
          <p:cNvPr id="32" name="Shape 30"/>
          <p:cNvSpPr/>
          <p:nvPr/>
        </p:nvSpPr>
        <p:spPr>
          <a:xfrm>
            <a:off x="548640" y="3931920"/>
            <a:ext cx="8046720" cy="603504"/>
          </a:xfrm>
          <a:prstGeom prst="rect">
            <a:avLst/>
          </a:prstGeom>
          <a:solidFill>
            <a:srgbClr val="F1F2F4"/>
          </a:solidFill>
          <a:ln/>
        </p:spPr>
      </p:sp>
      <p:sp>
        <p:nvSpPr>
          <p:cNvPr id="33" name="Shape 31"/>
          <p:cNvSpPr/>
          <p:nvPr/>
        </p:nvSpPr>
        <p:spPr>
          <a:xfrm>
            <a:off x="548640" y="3931920"/>
            <a:ext cx="50292" cy="603504"/>
          </a:xfrm>
          <a:prstGeom prst="rect">
            <a:avLst/>
          </a:prstGeom>
          <a:solidFill>
            <a:srgbClr val="E87722"/>
          </a:solidFill>
          <a:ln/>
        </p:spPr>
      </p:sp>
      <p:sp>
        <p:nvSpPr>
          <p:cNvPr id="34" name="Shape 32"/>
          <p:cNvSpPr/>
          <p:nvPr/>
        </p:nvSpPr>
        <p:spPr>
          <a:xfrm>
            <a:off x="5230368" y="4023360"/>
            <a:ext cx="18288" cy="420624"/>
          </a:xfrm>
          <a:prstGeom prst="rect">
            <a:avLst/>
          </a:prstGeom>
          <a:solidFill>
            <a:srgbClr val="E4E6E9"/>
          </a:solidFill>
          <a:ln/>
        </p:spPr>
      </p:sp>
      <p:sp>
        <p:nvSpPr>
          <p:cNvPr id="35" name="Text 33"/>
          <p:cNvSpPr txBox="1"/>
          <p:nvPr/>
        </p:nvSpPr>
        <p:spPr>
          <a:xfrm>
            <a:off x="777240" y="4023360"/>
            <a:ext cx="11887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Bugs</a:t>
            </a:r>
            <a:endParaRPr lang="en-US" sz="1200" dirty="0"/>
          </a:p>
        </p:txBody>
      </p:sp>
      <p:sp>
        <p:nvSpPr>
          <p:cNvPr id="36" name="Text 34"/>
          <p:cNvSpPr txBox="1"/>
          <p:nvPr/>
        </p:nvSpPr>
        <p:spPr>
          <a:xfrm>
            <a:off x="2011680" y="4023360"/>
            <a:ext cx="3291840" cy="475488"/>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Beaucoup d'inattentions, trouvées tard faute d'une couverture qu'on n'a pas le temps d'écrire.</a:t>
            </a:r>
            <a:endParaRPr lang="en-US" sz="930" dirty="0"/>
          </a:p>
        </p:txBody>
      </p:sp>
      <p:sp>
        <p:nvSpPr>
          <p:cNvPr id="37" name="Text 35"/>
          <p:cNvSpPr txBox="1"/>
          <p:nvPr/>
        </p:nvSpPr>
        <p:spPr>
          <a:xfrm>
            <a:off x="5394960" y="4023360"/>
            <a:ext cx="3200400" cy="475488"/>
          </a:xfrm>
          <a:prstGeom prst="rect">
            <a:avLst/>
          </a:prstGeom>
          <a:noFill/>
          <a:ln/>
        </p:spPr>
        <p:txBody>
          <a:bodyPr wrap="square" lIns="0" tIns="0" rIns="0" bIns="0" rtlCol="0" anchor="t"/>
          <a:lstStyle/>
          <a:p>
            <a:pPr indent="0" marL="0">
              <a:lnSpc>
                <a:spcPct val="105000"/>
              </a:lnSpc>
              <a:buNone/>
            </a:pPr>
            <a:r>
              <a:rPr lang="en-US" sz="930" dirty="0">
                <a:solidFill>
                  <a:srgbClr val="1E2A38"/>
                </a:solidFill>
                <a:latin typeface="Cambria" pitchFamily="34" charset="0"/>
                <a:ea typeface="Cambria" pitchFamily="34" charset="-122"/>
                <a:cs typeface="Cambria" pitchFamily="34" charset="-120"/>
              </a:rPr>
              <a:t>Peu d'inattentions ; des contresens de contrat, que la couverture — devenue payable — attrape : 3 bugs réels sortis par les tests.</a:t>
            </a:r>
            <a:endParaRPr lang="en-US" sz="930" dirty="0"/>
          </a:p>
        </p:txBody>
      </p:sp>
      <p:sp>
        <p:nvSpPr>
          <p:cNvPr id="38" name="Text 36"/>
          <p:cNvSpPr txBox="1"/>
          <p:nvPr/>
        </p:nvSpPr>
        <p:spPr>
          <a:xfrm>
            <a:off x="548640" y="4535424"/>
            <a:ext cx="8046720" cy="201168"/>
          </a:xfrm>
          <a:prstGeom prst="rect">
            <a:avLst/>
          </a:prstGeom>
          <a:noFill/>
          <a:ln/>
        </p:spPr>
        <p:txBody>
          <a:bodyPr wrap="square" lIns="0" tIns="0" rIns="0" bIns="0" rtlCol="0" anchor="ctr"/>
          <a:lstStyle/>
          <a:p>
            <a:pPr indent="0" marL="0">
              <a:buNone/>
            </a:pPr>
            <a:r>
              <a:rPr lang="en-US" sz="850" i="1" dirty="0">
                <a:solidFill>
                  <a:srgbClr val="6B7280"/>
                </a:solidFill>
                <a:latin typeface="Cambria" pitchFamily="34" charset="0"/>
                <a:ea typeface="Cambria" pitchFamily="34" charset="-122"/>
                <a:cs typeface="Cambria" pitchFamily="34" charset="-120"/>
              </a:rPr>
              <a:t>Mesures d'un praticien seul, sur une base Quarkus/Java d'environ 120 classes. Ce qui change est le temps humain, pas le temps horloge.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LE CÔTÉ OBSCUR DE LA FORCE</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Pourquoi le code IA vaut plus que le code humain</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8</a:t>
            </a:r>
            <a:endParaRPr lang="en-US" sz="850" dirty="0"/>
          </a:p>
        </p:txBody>
      </p:sp>
      <p:sp>
        <p:nvSpPr>
          <p:cNvPr id="5" name="Text 3"/>
          <p:cNvSpPr txBox="1"/>
          <p:nvPr/>
        </p:nvSpPr>
        <p:spPr>
          <a:xfrm>
            <a:off x="548640" y="1005840"/>
            <a:ext cx="8046720" cy="384048"/>
          </a:xfrm>
          <a:prstGeom prst="rect">
            <a:avLst/>
          </a:prstGeom>
          <a:noFill/>
          <a:ln/>
        </p:spPr>
        <p:txBody>
          <a:bodyPr wrap="square" lIns="0" tIns="0" rIns="0" bIns="0" rtlCol="0" anchor="t"/>
          <a:lstStyle/>
          <a:p>
            <a:pPr indent="0" marL="0">
              <a:lnSpc>
                <a:spcPct val="105000"/>
              </a:lnSpc>
              <a:buNone/>
            </a:pPr>
            <a:r>
              <a:rPr lang="en-US" sz="1000" dirty="0">
                <a:solidFill>
                  <a:srgbClr val="6B7280"/>
                </a:solidFill>
                <a:latin typeface="Cambria" pitchFamily="34" charset="0"/>
                <a:ea typeface="Cambria" pitchFamily="34" charset="-122"/>
                <a:cs typeface="Cambria" pitchFamily="34" charset="-120"/>
              </a:rPr>
              <a:t>À condition d'une vraie stratégie — preuve, doctrine, outillage — sur une cible de taille intermédiaire : environ 50 000 lignes tests compris, 20 000 de métier et 30 000 de validation. Un microservice, un POS, un module de commandes.</a:t>
            </a:r>
            <a:endParaRPr lang="en-US" sz="1000" dirty="0"/>
          </a:p>
        </p:txBody>
      </p:sp>
      <p:sp>
        <p:nvSpPr>
          <p:cNvPr id="6" name="Shape 4"/>
          <p:cNvSpPr/>
          <p:nvPr/>
        </p:nvSpPr>
        <p:spPr>
          <a:xfrm>
            <a:off x="548640" y="1481328"/>
            <a:ext cx="2606040" cy="1280160"/>
          </a:xfrm>
          <a:prstGeom prst="rect">
            <a:avLst/>
          </a:prstGeom>
          <a:solidFill>
            <a:srgbClr val="F1F2F4"/>
          </a:solidFill>
          <a:ln/>
        </p:spPr>
      </p:sp>
      <p:sp>
        <p:nvSpPr>
          <p:cNvPr id="7" name="Shape 5"/>
          <p:cNvSpPr/>
          <p:nvPr/>
        </p:nvSpPr>
        <p:spPr>
          <a:xfrm>
            <a:off x="548640" y="1481328"/>
            <a:ext cx="50292" cy="1280160"/>
          </a:xfrm>
          <a:prstGeom prst="rect">
            <a:avLst/>
          </a:prstGeom>
          <a:solidFill>
            <a:srgbClr val="E87722"/>
          </a:solidFill>
          <a:ln/>
        </p:spPr>
      </p:sp>
      <p:sp>
        <p:nvSpPr>
          <p:cNvPr id="8" name="Text 6"/>
          <p:cNvSpPr txBox="1"/>
          <p:nvPr/>
        </p:nvSpPr>
        <p:spPr>
          <a:xfrm>
            <a:off x="749808" y="160934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1 · Coût</a:t>
            </a:r>
            <a:endParaRPr lang="en-US" sz="1100" dirty="0"/>
          </a:p>
        </p:txBody>
      </p:sp>
      <p:sp>
        <p:nvSpPr>
          <p:cNvPr id="9" name="Text 7"/>
          <p:cNvSpPr txBox="1"/>
          <p:nvPr/>
        </p:nvSpPr>
        <p:spPr>
          <a:xfrm>
            <a:off x="749808" y="1865376"/>
            <a:ext cx="2240280" cy="932688"/>
          </a:xfrm>
          <a:prstGeom prst="rect">
            <a:avLst/>
          </a:prstGeom>
          <a:noFill/>
          <a:ln/>
        </p:spPr>
        <p:txBody>
          <a:bodyPr wrap="square" lIns="0" tIns="0" rIns="0" bIns="0" rtlCol="0" anchor="t"/>
          <a:lstStyle/>
          <a:p>
            <a:pPr indent="0" marL="0">
              <a:lnSpc>
                <a:spcPct val="105000"/>
              </a:lnSpc>
              <a:buNone/>
            </a:pPr>
            <a:r>
              <a:rPr lang="en-US" sz="920" dirty="0">
                <a:solidFill>
                  <a:srgbClr val="1E2A38"/>
                </a:solidFill>
                <a:latin typeface="Cambria" pitchFamily="34" charset="0"/>
                <a:ea typeface="Cambria" pitchFamily="34" charset="-122"/>
                <a:cs typeface="Cambria" pitchFamily="34" charset="-120"/>
              </a:rPr>
              <a:t>Un code écrit beaucoup plus vite, nettement expurgé d'erreurs. De 1 à 4 il y a un an à au moins 1 à 20 aujourd'hui : la facture baisse d'au moins 95 %. Rien à ajouter.</a:t>
            </a:r>
            <a:endParaRPr lang="en-US" sz="920" dirty="0"/>
          </a:p>
        </p:txBody>
      </p:sp>
      <p:sp>
        <p:nvSpPr>
          <p:cNvPr id="10" name="Shape 8"/>
          <p:cNvSpPr/>
          <p:nvPr/>
        </p:nvSpPr>
        <p:spPr>
          <a:xfrm>
            <a:off x="3268980" y="1481328"/>
            <a:ext cx="2606040" cy="1280160"/>
          </a:xfrm>
          <a:prstGeom prst="rect">
            <a:avLst/>
          </a:prstGeom>
          <a:solidFill>
            <a:srgbClr val="F1F2F4"/>
          </a:solidFill>
          <a:ln/>
        </p:spPr>
      </p:sp>
      <p:sp>
        <p:nvSpPr>
          <p:cNvPr id="11" name="Shape 9"/>
          <p:cNvSpPr/>
          <p:nvPr/>
        </p:nvSpPr>
        <p:spPr>
          <a:xfrm>
            <a:off x="3268980" y="1481328"/>
            <a:ext cx="50292" cy="1280160"/>
          </a:xfrm>
          <a:prstGeom prst="rect">
            <a:avLst/>
          </a:prstGeom>
          <a:solidFill>
            <a:srgbClr val="E87722"/>
          </a:solidFill>
          <a:ln/>
        </p:spPr>
      </p:sp>
      <p:sp>
        <p:nvSpPr>
          <p:cNvPr id="12" name="Text 10"/>
          <p:cNvSpPr txBox="1"/>
          <p:nvPr/>
        </p:nvSpPr>
        <p:spPr>
          <a:xfrm>
            <a:off x="3470148" y="160934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2 · Délai</a:t>
            </a:r>
            <a:endParaRPr lang="en-US" sz="1100" dirty="0"/>
          </a:p>
        </p:txBody>
      </p:sp>
      <p:sp>
        <p:nvSpPr>
          <p:cNvPr id="13" name="Text 11"/>
          <p:cNvSpPr txBox="1"/>
          <p:nvPr/>
        </p:nvSpPr>
        <p:spPr>
          <a:xfrm>
            <a:off x="3470148" y="1865376"/>
            <a:ext cx="2240280" cy="932688"/>
          </a:xfrm>
          <a:prstGeom prst="rect">
            <a:avLst/>
          </a:prstGeom>
          <a:noFill/>
          <a:ln/>
        </p:spPr>
        <p:txBody>
          <a:bodyPr wrap="square" lIns="0" tIns="0" rIns="0" bIns="0" rtlCol="0" anchor="t"/>
          <a:lstStyle/>
          <a:p>
            <a:pPr indent="0" marL="0">
              <a:lnSpc>
                <a:spcPct val="105000"/>
              </a:lnSpc>
              <a:buNone/>
            </a:pPr>
            <a:r>
              <a:rPr lang="en-US" sz="920" dirty="0">
                <a:solidFill>
                  <a:srgbClr val="1E2A38"/>
                </a:solidFill>
                <a:latin typeface="Cambria" pitchFamily="34" charset="0"/>
                <a:ea typeface="Cambria" pitchFamily="34" charset="-122"/>
                <a:cs typeface="Cambria" pitchFamily="34" charset="-120"/>
              </a:rPr>
              <a:t>Là où l'on comptait en mois, on compte en semaines, avec une équipe d'une ou deux personnes. Ce n'est plus le projet qui est agile : c'est l'entreprise.</a:t>
            </a:r>
            <a:endParaRPr lang="en-US" sz="920" dirty="0"/>
          </a:p>
        </p:txBody>
      </p:sp>
      <p:sp>
        <p:nvSpPr>
          <p:cNvPr id="14" name="Shape 12"/>
          <p:cNvSpPr/>
          <p:nvPr/>
        </p:nvSpPr>
        <p:spPr>
          <a:xfrm>
            <a:off x="5989320" y="1481328"/>
            <a:ext cx="2606040" cy="1280160"/>
          </a:xfrm>
          <a:prstGeom prst="rect">
            <a:avLst/>
          </a:prstGeom>
          <a:solidFill>
            <a:srgbClr val="F1F2F4"/>
          </a:solidFill>
          <a:ln/>
        </p:spPr>
      </p:sp>
      <p:sp>
        <p:nvSpPr>
          <p:cNvPr id="15" name="Shape 13"/>
          <p:cNvSpPr/>
          <p:nvPr/>
        </p:nvSpPr>
        <p:spPr>
          <a:xfrm>
            <a:off x="5989320" y="1481328"/>
            <a:ext cx="50292" cy="1280160"/>
          </a:xfrm>
          <a:prstGeom prst="rect">
            <a:avLst/>
          </a:prstGeom>
          <a:solidFill>
            <a:srgbClr val="E87722"/>
          </a:solidFill>
          <a:ln/>
        </p:spPr>
      </p:sp>
      <p:sp>
        <p:nvSpPr>
          <p:cNvPr id="16" name="Text 14"/>
          <p:cNvSpPr txBox="1"/>
          <p:nvPr/>
        </p:nvSpPr>
        <p:spPr>
          <a:xfrm>
            <a:off x="6190488" y="160934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3 · Fluidité</a:t>
            </a:r>
            <a:endParaRPr lang="en-US" sz="1100" dirty="0"/>
          </a:p>
        </p:txBody>
      </p:sp>
      <p:sp>
        <p:nvSpPr>
          <p:cNvPr id="17" name="Text 15"/>
          <p:cNvSpPr txBox="1"/>
          <p:nvPr/>
        </p:nvSpPr>
        <p:spPr>
          <a:xfrm>
            <a:off x="6190488" y="1865376"/>
            <a:ext cx="2240280" cy="932688"/>
          </a:xfrm>
          <a:prstGeom prst="rect">
            <a:avLst/>
          </a:prstGeom>
          <a:noFill/>
          <a:ln/>
        </p:spPr>
        <p:txBody>
          <a:bodyPr wrap="square" lIns="0" tIns="0" rIns="0" bIns="0" rtlCol="0" anchor="t"/>
          <a:lstStyle/>
          <a:p>
            <a:pPr indent="0" marL="0">
              <a:lnSpc>
                <a:spcPct val="105000"/>
              </a:lnSpc>
              <a:buNone/>
            </a:pPr>
            <a:r>
              <a:rPr lang="en-US" sz="920" dirty="0">
                <a:solidFill>
                  <a:srgbClr val="1E2A38"/>
                </a:solidFill>
                <a:latin typeface="Cambria" pitchFamily="34" charset="0"/>
                <a:ea typeface="Cambria" pitchFamily="34" charset="-122"/>
                <a:cs typeface="Cambria" pitchFamily="34" charset="-120"/>
              </a:rPr>
              <a:t>Une partie du gain se dépense en qualité : tests, documentation, ergonomie. Les demandes sont prises en compte d'une réunion à l'autre ; les déploiements sont fréquents et sûrs.</a:t>
            </a:r>
            <a:endParaRPr lang="en-US" sz="920" dirty="0"/>
          </a:p>
        </p:txBody>
      </p:sp>
      <p:sp>
        <p:nvSpPr>
          <p:cNvPr id="18" name="Shape 16"/>
          <p:cNvSpPr/>
          <p:nvPr/>
        </p:nvSpPr>
        <p:spPr>
          <a:xfrm>
            <a:off x="548640" y="2852928"/>
            <a:ext cx="2606040" cy="1280160"/>
          </a:xfrm>
          <a:prstGeom prst="rect">
            <a:avLst/>
          </a:prstGeom>
          <a:solidFill>
            <a:srgbClr val="F1F2F4"/>
          </a:solidFill>
          <a:ln/>
        </p:spPr>
      </p:sp>
      <p:sp>
        <p:nvSpPr>
          <p:cNvPr id="19" name="Shape 17"/>
          <p:cNvSpPr/>
          <p:nvPr/>
        </p:nvSpPr>
        <p:spPr>
          <a:xfrm>
            <a:off x="548640" y="2852928"/>
            <a:ext cx="50292" cy="1280160"/>
          </a:xfrm>
          <a:prstGeom prst="rect">
            <a:avLst/>
          </a:prstGeom>
          <a:solidFill>
            <a:srgbClr val="E87722"/>
          </a:solidFill>
          <a:ln/>
        </p:spPr>
      </p:sp>
      <p:sp>
        <p:nvSpPr>
          <p:cNvPr id="20" name="Text 18"/>
          <p:cNvSpPr txBox="1"/>
          <p:nvPr/>
        </p:nvSpPr>
        <p:spPr>
          <a:xfrm>
            <a:off x="749808" y="298094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4 · Connaissance fonctionnelle</a:t>
            </a:r>
            <a:endParaRPr lang="en-US" sz="1100" dirty="0"/>
          </a:p>
        </p:txBody>
      </p:sp>
      <p:sp>
        <p:nvSpPr>
          <p:cNvPr id="21" name="Text 19"/>
          <p:cNvSpPr txBox="1"/>
          <p:nvPr/>
        </p:nvSpPr>
        <p:spPr>
          <a:xfrm>
            <a:off x="749808" y="3236976"/>
            <a:ext cx="2240280" cy="932688"/>
          </a:xfrm>
          <a:prstGeom prst="rect">
            <a:avLst/>
          </a:prstGeom>
          <a:noFill/>
          <a:ln/>
        </p:spPr>
        <p:txBody>
          <a:bodyPr wrap="square" lIns="0" tIns="0" rIns="0" bIns="0" rtlCol="0" anchor="t"/>
          <a:lstStyle/>
          <a:p>
            <a:pPr indent="0" marL="0">
              <a:lnSpc>
                <a:spcPct val="105000"/>
              </a:lnSpc>
              <a:buNone/>
            </a:pPr>
            <a:r>
              <a:rPr lang="en-US" sz="920" dirty="0">
                <a:solidFill>
                  <a:srgbClr val="1E2A38"/>
                </a:solidFill>
                <a:latin typeface="Cambria" pitchFamily="34" charset="0"/>
                <a:ea typeface="Cambria" pitchFamily="34" charset="-122"/>
                <a:cs typeface="Cambria" pitchFamily="34" charset="-120"/>
              </a:rPr>
              <a:t>Appuyée sur la documentation (le quoi, le pourquoi) et le code (le comment), l'IA devient l'expert fonctionnel. La documentation se maintient à coût nul — pas faible : nul.</a:t>
            </a:r>
            <a:endParaRPr lang="en-US" sz="920" dirty="0"/>
          </a:p>
        </p:txBody>
      </p:sp>
      <p:sp>
        <p:nvSpPr>
          <p:cNvPr id="22" name="Shape 20"/>
          <p:cNvSpPr/>
          <p:nvPr/>
        </p:nvSpPr>
        <p:spPr>
          <a:xfrm>
            <a:off x="3268980" y="2852928"/>
            <a:ext cx="2606040" cy="1280160"/>
          </a:xfrm>
          <a:prstGeom prst="rect">
            <a:avLst/>
          </a:prstGeom>
          <a:solidFill>
            <a:srgbClr val="F1F2F4"/>
          </a:solidFill>
          <a:ln/>
        </p:spPr>
      </p:sp>
      <p:sp>
        <p:nvSpPr>
          <p:cNvPr id="23" name="Shape 21"/>
          <p:cNvSpPr/>
          <p:nvPr/>
        </p:nvSpPr>
        <p:spPr>
          <a:xfrm>
            <a:off x="3268980" y="2852928"/>
            <a:ext cx="50292" cy="1280160"/>
          </a:xfrm>
          <a:prstGeom prst="rect">
            <a:avLst/>
          </a:prstGeom>
          <a:solidFill>
            <a:srgbClr val="E87722"/>
          </a:solidFill>
          <a:ln/>
        </p:spPr>
      </p:sp>
      <p:sp>
        <p:nvSpPr>
          <p:cNvPr id="24" name="Text 22"/>
          <p:cNvSpPr txBox="1"/>
          <p:nvPr/>
        </p:nvSpPr>
        <p:spPr>
          <a:xfrm>
            <a:off x="3470148" y="298094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5 · Durabilité</a:t>
            </a:r>
            <a:endParaRPr lang="en-US" sz="1100" dirty="0"/>
          </a:p>
        </p:txBody>
      </p:sp>
      <p:sp>
        <p:nvSpPr>
          <p:cNvPr id="25" name="Text 23"/>
          <p:cNvSpPr txBox="1"/>
          <p:nvPr/>
        </p:nvSpPr>
        <p:spPr>
          <a:xfrm>
            <a:off x="3470148" y="3236976"/>
            <a:ext cx="2240280" cy="932688"/>
          </a:xfrm>
          <a:prstGeom prst="rect">
            <a:avLst/>
          </a:prstGeom>
          <a:noFill/>
          <a:ln/>
        </p:spPr>
        <p:txBody>
          <a:bodyPr wrap="square" lIns="0" tIns="0" rIns="0" bIns="0" rtlCol="0" anchor="t"/>
          <a:lstStyle/>
          <a:p>
            <a:pPr indent="0" marL="0">
              <a:lnSpc>
                <a:spcPct val="105000"/>
              </a:lnSpc>
              <a:buNone/>
            </a:pPr>
            <a:r>
              <a:rPr lang="en-US" sz="920" dirty="0">
                <a:solidFill>
                  <a:srgbClr val="1E2A38"/>
                </a:solidFill>
                <a:latin typeface="Cambria" pitchFamily="34" charset="0"/>
                <a:ea typeface="Cambria" pitchFamily="34" charset="-122"/>
                <a:cs typeface="Cambria" pitchFamily="34" charset="-120"/>
              </a:rPr>
              <a:t>Les logiciels humains vieillissent mal. Une IA maîtresse de tout le code fait de la maintenance une régénération : qualité constante, gros refactoring en quelques heures.</a:t>
            </a:r>
            <a:endParaRPr lang="en-US" sz="920" dirty="0"/>
          </a:p>
        </p:txBody>
      </p:sp>
      <p:sp>
        <p:nvSpPr>
          <p:cNvPr id="26" name="Shape 24"/>
          <p:cNvSpPr/>
          <p:nvPr/>
        </p:nvSpPr>
        <p:spPr>
          <a:xfrm>
            <a:off x="5989320" y="2852928"/>
            <a:ext cx="2606040" cy="1280160"/>
          </a:xfrm>
          <a:prstGeom prst="rect">
            <a:avLst/>
          </a:prstGeom>
          <a:solidFill>
            <a:srgbClr val="F1F2F4"/>
          </a:solidFill>
          <a:ln/>
        </p:spPr>
      </p:sp>
      <p:sp>
        <p:nvSpPr>
          <p:cNvPr id="27" name="Shape 25"/>
          <p:cNvSpPr/>
          <p:nvPr/>
        </p:nvSpPr>
        <p:spPr>
          <a:xfrm>
            <a:off x="5989320" y="2852928"/>
            <a:ext cx="50292" cy="1280160"/>
          </a:xfrm>
          <a:prstGeom prst="rect">
            <a:avLst/>
          </a:prstGeom>
          <a:solidFill>
            <a:srgbClr val="E87722"/>
          </a:solidFill>
          <a:ln/>
        </p:spPr>
      </p:sp>
      <p:sp>
        <p:nvSpPr>
          <p:cNvPr id="28" name="Text 26"/>
          <p:cNvSpPr txBox="1"/>
          <p:nvPr/>
        </p:nvSpPr>
        <p:spPr>
          <a:xfrm>
            <a:off x="6190488" y="298094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6 · Cohérence</a:t>
            </a:r>
            <a:endParaRPr lang="en-US" sz="1100" dirty="0"/>
          </a:p>
        </p:txBody>
      </p:sp>
      <p:sp>
        <p:nvSpPr>
          <p:cNvPr id="29" name="Text 27"/>
          <p:cNvSpPr txBox="1"/>
          <p:nvPr/>
        </p:nvSpPr>
        <p:spPr>
          <a:xfrm>
            <a:off x="6190488" y="3236976"/>
            <a:ext cx="2240280" cy="932688"/>
          </a:xfrm>
          <a:prstGeom prst="rect">
            <a:avLst/>
          </a:prstGeom>
          <a:noFill/>
          <a:ln/>
        </p:spPr>
        <p:txBody>
          <a:bodyPr wrap="square" lIns="0" tIns="0" rIns="0" bIns="0" rtlCol="0" anchor="t"/>
          <a:lstStyle/>
          <a:p>
            <a:pPr indent="0" marL="0">
              <a:lnSpc>
                <a:spcPct val="105000"/>
              </a:lnSpc>
              <a:buNone/>
            </a:pPr>
            <a:r>
              <a:rPr lang="en-US" sz="920" dirty="0">
                <a:solidFill>
                  <a:srgbClr val="1E2A38"/>
                </a:solidFill>
                <a:latin typeface="Cambria" pitchFamily="34" charset="0"/>
                <a:ea typeface="Cambria" pitchFamily="34" charset="-122"/>
                <a:cs typeface="Cambria" pitchFamily="34" charset="-120"/>
              </a:rPr>
              <a:t>Pas d'ego, pas de « philosophie », pas d'envie d'essayer une nouvelle API. Disciplinée, elle produit en conformité et ne râle pas pour 2 000 tests. De la valeur, sans humeur.</a:t>
            </a:r>
            <a:endParaRPr lang="en-US" sz="920" dirty="0"/>
          </a:p>
        </p:txBody>
      </p:sp>
      <p:sp>
        <p:nvSpPr>
          <p:cNvPr id="30" name="Text 2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050" i="1" dirty="0">
                <a:solidFill>
                  <a:srgbClr val="10243F"/>
                </a:solidFill>
                <a:latin typeface="Cambria" pitchFamily="34" charset="0"/>
                <a:ea typeface="Cambria" pitchFamily="34" charset="-122"/>
                <a:cs typeface="Cambria" pitchFamily="34" charset="-120"/>
              </a:rPr>
              <a:t>Un développeur ultra compétent, omniscient, hyper véloce, totalement discipliné. Son adoption n'est pas envisageable, ni souhaitable : elle est indispensable, voire urgente.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LA CHAÎNE</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Une seule personne, de l'analyse au déploiement</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9</a:t>
            </a:r>
            <a:endParaRPr lang="en-US" sz="850" dirty="0"/>
          </a:p>
        </p:txBody>
      </p:sp>
      <p:sp>
        <p:nvSpPr>
          <p:cNvPr id="5" name="Text 3"/>
          <p:cNvSpPr txBox="1"/>
          <p:nvPr/>
        </p:nvSpPr>
        <p:spPr>
          <a:xfrm>
            <a:off x="548640" y="1024128"/>
            <a:ext cx="8046720" cy="310896"/>
          </a:xfrm>
          <a:prstGeom prst="rect">
            <a:avLst/>
          </a:prstGeom>
          <a:noFill/>
          <a:ln/>
        </p:spPr>
        <p:txBody>
          <a:bodyPr wrap="square" lIns="0" tIns="0" rIns="0" bIns="0" rtlCol="0" anchor="t"/>
          <a:lstStyle/>
          <a:p>
            <a:pPr indent="0" marL="0">
              <a:lnSpc>
                <a:spcPct val="105000"/>
              </a:lnSpc>
              <a:buNone/>
            </a:pPr>
            <a:r>
              <a:rPr lang="en-US" sz="1050" dirty="0">
                <a:solidFill>
                  <a:srgbClr val="6B7280"/>
                </a:solidFill>
                <a:latin typeface="Cambria" pitchFamily="34" charset="0"/>
                <a:ea typeface="Cambria" pitchFamily="34" charset="-122"/>
                <a:cs typeface="Cambria" pitchFamily="34" charset="-120"/>
              </a:rPr>
              <a:t>Les activités restent les mêmes. Ce qui change, c'est qui les fait : plus d'équipes séparées par phase, mais une seule micro-équipe qui s'occupe de tout, de l'analyse au déploiement. Plus de passage de relais, plus de traduction entre métiers : les projets se simplifient énormément et la valeur sort bien plus vite.</a:t>
            </a:r>
            <a:endParaRPr lang="en-US" sz="1050" dirty="0"/>
          </a:p>
        </p:txBody>
      </p:sp>
      <p:sp>
        <p:nvSpPr>
          <p:cNvPr id="6" name="Shape 4"/>
          <p:cNvSpPr/>
          <p:nvPr/>
        </p:nvSpPr>
        <p:spPr>
          <a:xfrm>
            <a:off x="548640" y="1810512"/>
            <a:ext cx="1920240" cy="1920240"/>
          </a:xfrm>
          <a:prstGeom prst="rect">
            <a:avLst/>
          </a:prstGeom>
          <a:solidFill>
            <a:srgbClr val="F1F2F4"/>
          </a:solidFill>
          <a:ln/>
        </p:spPr>
      </p:sp>
      <p:sp>
        <p:nvSpPr>
          <p:cNvPr id="7" name="Shape 5"/>
          <p:cNvSpPr/>
          <p:nvPr/>
        </p:nvSpPr>
        <p:spPr>
          <a:xfrm>
            <a:off x="548640" y="1810512"/>
            <a:ext cx="50292" cy="1920240"/>
          </a:xfrm>
          <a:prstGeom prst="rect">
            <a:avLst/>
          </a:prstGeom>
          <a:solidFill>
            <a:srgbClr val="E87722"/>
          </a:solidFill>
          <a:ln/>
        </p:spPr>
      </p:sp>
      <p:sp>
        <p:nvSpPr>
          <p:cNvPr id="8" name="Shape 6"/>
          <p:cNvSpPr/>
          <p:nvPr/>
        </p:nvSpPr>
        <p:spPr>
          <a:xfrm>
            <a:off x="749808" y="1956816"/>
            <a:ext cx="274320" cy="274320"/>
          </a:xfrm>
          <a:prstGeom prst="ellipse">
            <a:avLst/>
          </a:prstGeom>
          <a:solidFill>
            <a:srgbClr val="E87722"/>
          </a:solidFill>
          <a:ln/>
        </p:spPr>
      </p:sp>
      <p:sp>
        <p:nvSpPr>
          <p:cNvPr id="9" name="Text 7"/>
          <p:cNvSpPr txBox="1"/>
          <p:nvPr/>
        </p:nvSpPr>
        <p:spPr>
          <a:xfrm>
            <a:off x="749808" y="19568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749808" y="2322576"/>
            <a:ext cx="1554480" cy="237744"/>
          </a:xfrm>
          <a:prstGeom prst="rect">
            <a:avLst/>
          </a:prstGeom>
          <a:noFill/>
          <a:ln/>
        </p:spPr>
        <p:txBody>
          <a:bodyPr wrap="square" lIns="0" tIns="0" rIns="0" bIns="0" rtlCol="0" anchor="t"/>
          <a:lstStyle/>
          <a:p>
            <a:pPr indent="0" marL="0">
              <a:buNone/>
            </a:pPr>
            <a:r>
              <a:rPr lang="en-US" sz="1150" b="1" dirty="0">
                <a:solidFill>
                  <a:srgbClr val="10243F"/>
                </a:solidFill>
                <a:latin typeface="Calibri" pitchFamily="34" charset="0"/>
                <a:ea typeface="Calibri" pitchFamily="34" charset="-122"/>
                <a:cs typeface="Calibri" pitchFamily="34" charset="-120"/>
              </a:rPr>
              <a:t>Analyse et conception</a:t>
            </a:r>
            <a:endParaRPr lang="en-US" sz="1150" dirty="0"/>
          </a:p>
        </p:txBody>
      </p:sp>
      <p:sp>
        <p:nvSpPr>
          <p:cNvPr id="11" name="Text 9"/>
          <p:cNvSpPr txBox="1"/>
          <p:nvPr/>
        </p:nvSpPr>
        <p:spPr>
          <a:xfrm>
            <a:off x="749808" y="2816352"/>
            <a:ext cx="1554480" cy="868680"/>
          </a:xfrm>
          <a:prstGeom prst="rect">
            <a:avLst/>
          </a:prstGeom>
          <a:noFill/>
          <a:ln/>
        </p:spPr>
        <p:txBody>
          <a:bodyPr wrap="square" lIns="0" tIns="0" rIns="0" bIns="0" rtlCol="0" anchor="t"/>
          <a:lstStyle/>
          <a:p>
            <a:pPr indent="0" marL="0">
              <a:lnSpc>
                <a:spcPct val="105000"/>
              </a:lnSpc>
              <a:buNone/>
            </a:pPr>
            <a:r>
              <a:rPr lang="en-US" sz="980" dirty="0">
                <a:solidFill>
                  <a:srgbClr val="1E2A38"/>
                </a:solidFill>
                <a:latin typeface="Cambria" pitchFamily="34" charset="0"/>
                <a:ea typeface="Cambria" pitchFamily="34" charset="-122"/>
                <a:cs typeface="Cambria" pitchFamily="34" charset="-120"/>
              </a:rPr>
              <a:t>Un expert fonctionnel qui connaît déjà le monde réel et absorbe tout ce qu'on lui donne.</a:t>
            </a:r>
            <a:endParaRPr lang="en-US" sz="980" dirty="0"/>
          </a:p>
        </p:txBody>
      </p:sp>
      <p:sp>
        <p:nvSpPr>
          <p:cNvPr id="12" name="Shape 10"/>
          <p:cNvSpPr/>
          <p:nvPr/>
        </p:nvSpPr>
        <p:spPr>
          <a:xfrm>
            <a:off x="2679192" y="1810512"/>
            <a:ext cx="1920240" cy="1920240"/>
          </a:xfrm>
          <a:prstGeom prst="rect">
            <a:avLst/>
          </a:prstGeom>
          <a:solidFill>
            <a:srgbClr val="F1F2F4"/>
          </a:solidFill>
          <a:ln/>
        </p:spPr>
      </p:sp>
      <p:sp>
        <p:nvSpPr>
          <p:cNvPr id="13" name="Shape 11"/>
          <p:cNvSpPr/>
          <p:nvPr/>
        </p:nvSpPr>
        <p:spPr>
          <a:xfrm>
            <a:off x="2679192" y="1810512"/>
            <a:ext cx="50292" cy="1920240"/>
          </a:xfrm>
          <a:prstGeom prst="rect">
            <a:avLst/>
          </a:prstGeom>
          <a:solidFill>
            <a:srgbClr val="E87722"/>
          </a:solidFill>
          <a:ln/>
        </p:spPr>
      </p:sp>
      <p:sp>
        <p:nvSpPr>
          <p:cNvPr id="14" name="Shape 12"/>
          <p:cNvSpPr/>
          <p:nvPr/>
        </p:nvSpPr>
        <p:spPr>
          <a:xfrm>
            <a:off x="2880360" y="1956816"/>
            <a:ext cx="274320" cy="274320"/>
          </a:xfrm>
          <a:prstGeom prst="ellipse">
            <a:avLst/>
          </a:prstGeom>
          <a:solidFill>
            <a:srgbClr val="E87722"/>
          </a:solidFill>
          <a:ln/>
        </p:spPr>
      </p:sp>
      <p:sp>
        <p:nvSpPr>
          <p:cNvPr id="15" name="Text 13"/>
          <p:cNvSpPr txBox="1"/>
          <p:nvPr/>
        </p:nvSpPr>
        <p:spPr>
          <a:xfrm>
            <a:off x="2880360" y="19568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txBox="1"/>
          <p:nvPr/>
        </p:nvSpPr>
        <p:spPr>
          <a:xfrm>
            <a:off x="2880360" y="2322576"/>
            <a:ext cx="1554480" cy="237744"/>
          </a:xfrm>
          <a:prstGeom prst="rect">
            <a:avLst/>
          </a:prstGeom>
          <a:noFill/>
          <a:ln/>
        </p:spPr>
        <p:txBody>
          <a:bodyPr wrap="square" lIns="0" tIns="0" rIns="0" bIns="0" rtlCol="0" anchor="t"/>
          <a:lstStyle/>
          <a:p>
            <a:pPr indent="0" marL="0">
              <a:buNone/>
            </a:pPr>
            <a:r>
              <a:rPr lang="en-US" sz="1150" b="1" dirty="0">
                <a:solidFill>
                  <a:srgbClr val="10243F"/>
                </a:solidFill>
                <a:latin typeface="Calibri" pitchFamily="34" charset="0"/>
                <a:ea typeface="Calibri" pitchFamily="34" charset="-122"/>
                <a:cs typeface="Calibri" pitchFamily="34" charset="-120"/>
              </a:rPr>
              <a:t>Codage</a:t>
            </a:r>
            <a:endParaRPr lang="en-US" sz="1150" dirty="0"/>
          </a:p>
        </p:txBody>
      </p:sp>
      <p:sp>
        <p:nvSpPr>
          <p:cNvPr id="17" name="Text 15"/>
          <p:cNvSpPr txBox="1"/>
          <p:nvPr/>
        </p:nvSpPr>
        <p:spPr>
          <a:xfrm>
            <a:off x="2880360" y="2816352"/>
            <a:ext cx="1554480" cy="868680"/>
          </a:xfrm>
          <a:prstGeom prst="rect">
            <a:avLst/>
          </a:prstGeom>
          <a:noFill/>
          <a:ln/>
        </p:spPr>
        <p:txBody>
          <a:bodyPr wrap="square" lIns="0" tIns="0" rIns="0" bIns="0" rtlCol="0" anchor="t"/>
          <a:lstStyle/>
          <a:p>
            <a:pPr indent="0" marL="0">
              <a:lnSpc>
                <a:spcPct val="105000"/>
              </a:lnSpc>
              <a:buNone/>
            </a:pPr>
            <a:r>
              <a:rPr lang="en-US" sz="980" dirty="0">
                <a:solidFill>
                  <a:srgbClr val="1E2A38"/>
                </a:solidFill>
                <a:latin typeface="Cambria" pitchFamily="34" charset="0"/>
                <a:ea typeface="Cambria" pitchFamily="34" charset="-122"/>
                <a:cs typeface="Cambria" pitchFamily="34" charset="-120"/>
              </a:rPr>
              <a:t>Un développeur omniscient et hyper véloce, discipliné, qui produit en conformité.</a:t>
            </a:r>
            <a:endParaRPr lang="en-US" sz="980" dirty="0"/>
          </a:p>
        </p:txBody>
      </p:sp>
      <p:sp>
        <p:nvSpPr>
          <p:cNvPr id="18" name="Shape 16"/>
          <p:cNvSpPr/>
          <p:nvPr/>
        </p:nvSpPr>
        <p:spPr>
          <a:xfrm>
            <a:off x="4809744" y="1810512"/>
            <a:ext cx="1920240" cy="1920240"/>
          </a:xfrm>
          <a:prstGeom prst="rect">
            <a:avLst/>
          </a:prstGeom>
          <a:solidFill>
            <a:srgbClr val="F1F2F4"/>
          </a:solidFill>
          <a:ln/>
        </p:spPr>
      </p:sp>
      <p:sp>
        <p:nvSpPr>
          <p:cNvPr id="19" name="Shape 17"/>
          <p:cNvSpPr/>
          <p:nvPr/>
        </p:nvSpPr>
        <p:spPr>
          <a:xfrm>
            <a:off x="4809744" y="1810512"/>
            <a:ext cx="50292" cy="1920240"/>
          </a:xfrm>
          <a:prstGeom prst="rect">
            <a:avLst/>
          </a:prstGeom>
          <a:solidFill>
            <a:srgbClr val="E87722"/>
          </a:solidFill>
          <a:ln/>
        </p:spPr>
      </p:sp>
      <p:sp>
        <p:nvSpPr>
          <p:cNvPr id="20" name="Shape 18"/>
          <p:cNvSpPr/>
          <p:nvPr/>
        </p:nvSpPr>
        <p:spPr>
          <a:xfrm>
            <a:off x="5010912" y="1956816"/>
            <a:ext cx="274320" cy="274320"/>
          </a:xfrm>
          <a:prstGeom prst="ellipse">
            <a:avLst/>
          </a:prstGeom>
          <a:solidFill>
            <a:srgbClr val="E87722"/>
          </a:solidFill>
          <a:ln/>
        </p:spPr>
      </p:sp>
      <p:sp>
        <p:nvSpPr>
          <p:cNvPr id="21" name="Text 19"/>
          <p:cNvSpPr txBox="1"/>
          <p:nvPr/>
        </p:nvSpPr>
        <p:spPr>
          <a:xfrm>
            <a:off x="5010912" y="19568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20"/>
          <p:cNvSpPr txBox="1"/>
          <p:nvPr/>
        </p:nvSpPr>
        <p:spPr>
          <a:xfrm>
            <a:off x="5010912" y="2322576"/>
            <a:ext cx="1554480" cy="237744"/>
          </a:xfrm>
          <a:prstGeom prst="rect">
            <a:avLst/>
          </a:prstGeom>
          <a:noFill/>
          <a:ln/>
        </p:spPr>
        <p:txBody>
          <a:bodyPr wrap="square" lIns="0" tIns="0" rIns="0" bIns="0" rtlCol="0" anchor="t"/>
          <a:lstStyle/>
          <a:p>
            <a:pPr indent="0" marL="0">
              <a:buNone/>
            </a:pPr>
            <a:r>
              <a:rPr lang="en-US" sz="1150" b="1" dirty="0">
                <a:solidFill>
                  <a:srgbClr val="10243F"/>
                </a:solidFill>
                <a:latin typeface="Calibri" pitchFamily="34" charset="0"/>
                <a:ea typeface="Calibri" pitchFamily="34" charset="-122"/>
                <a:cs typeface="Calibri" pitchFamily="34" charset="-120"/>
              </a:rPr>
              <a:t>Tests et documentation</a:t>
            </a:r>
            <a:endParaRPr lang="en-US" sz="1150" dirty="0"/>
          </a:p>
        </p:txBody>
      </p:sp>
      <p:sp>
        <p:nvSpPr>
          <p:cNvPr id="23" name="Text 21"/>
          <p:cNvSpPr txBox="1"/>
          <p:nvPr/>
        </p:nvSpPr>
        <p:spPr>
          <a:xfrm>
            <a:off x="5010912" y="2816352"/>
            <a:ext cx="1554480" cy="868680"/>
          </a:xfrm>
          <a:prstGeom prst="rect">
            <a:avLst/>
          </a:prstGeom>
          <a:noFill/>
          <a:ln/>
        </p:spPr>
        <p:txBody>
          <a:bodyPr wrap="square" lIns="0" tIns="0" rIns="0" bIns="0" rtlCol="0" anchor="t"/>
          <a:lstStyle/>
          <a:p>
            <a:pPr indent="0" marL="0">
              <a:lnSpc>
                <a:spcPct val="105000"/>
              </a:lnSpc>
              <a:buNone/>
            </a:pPr>
            <a:r>
              <a:rPr lang="en-US" sz="980" dirty="0">
                <a:solidFill>
                  <a:srgbClr val="1E2A38"/>
                </a:solidFill>
                <a:latin typeface="Cambria" pitchFamily="34" charset="0"/>
                <a:ea typeface="Cambria" pitchFamily="34" charset="-122"/>
                <a:cs typeface="Cambria" pitchFamily="34" charset="-120"/>
              </a:rPr>
              <a:t>Ce qui était trop cher pour être fait devient négligeable — donc obligatoire.</a:t>
            </a:r>
            <a:endParaRPr lang="en-US" sz="980" dirty="0"/>
          </a:p>
        </p:txBody>
      </p:sp>
      <p:sp>
        <p:nvSpPr>
          <p:cNvPr id="24" name="Shape 22"/>
          <p:cNvSpPr/>
          <p:nvPr/>
        </p:nvSpPr>
        <p:spPr>
          <a:xfrm>
            <a:off x="6940296" y="1810512"/>
            <a:ext cx="1920240" cy="1920240"/>
          </a:xfrm>
          <a:prstGeom prst="rect">
            <a:avLst/>
          </a:prstGeom>
          <a:solidFill>
            <a:srgbClr val="F1F2F4"/>
          </a:solidFill>
          <a:ln/>
        </p:spPr>
      </p:sp>
      <p:sp>
        <p:nvSpPr>
          <p:cNvPr id="25" name="Shape 23"/>
          <p:cNvSpPr/>
          <p:nvPr/>
        </p:nvSpPr>
        <p:spPr>
          <a:xfrm>
            <a:off x="6940296" y="1810512"/>
            <a:ext cx="50292" cy="1920240"/>
          </a:xfrm>
          <a:prstGeom prst="rect">
            <a:avLst/>
          </a:prstGeom>
          <a:solidFill>
            <a:srgbClr val="E87722"/>
          </a:solidFill>
          <a:ln/>
        </p:spPr>
      </p:sp>
      <p:sp>
        <p:nvSpPr>
          <p:cNvPr id="26" name="Shape 24"/>
          <p:cNvSpPr/>
          <p:nvPr/>
        </p:nvSpPr>
        <p:spPr>
          <a:xfrm>
            <a:off x="7141464" y="1956816"/>
            <a:ext cx="274320" cy="274320"/>
          </a:xfrm>
          <a:prstGeom prst="ellipse">
            <a:avLst/>
          </a:prstGeom>
          <a:solidFill>
            <a:srgbClr val="E87722"/>
          </a:solidFill>
          <a:ln/>
        </p:spPr>
      </p:sp>
      <p:sp>
        <p:nvSpPr>
          <p:cNvPr id="27" name="Text 25"/>
          <p:cNvSpPr txBox="1"/>
          <p:nvPr/>
        </p:nvSpPr>
        <p:spPr>
          <a:xfrm>
            <a:off x="7141464" y="19568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6"/>
          <p:cNvSpPr txBox="1"/>
          <p:nvPr/>
        </p:nvSpPr>
        <p:spPr>
          <a:xfrm>
            <a:off x="7141464" y="2322576"/>
            <a:ext cx="1554480" cy="237744"/>
          </a:xfrm>
          <a:prstGeom prst="rect">
            <a:avLst/>
          </a:prstGeom>
          <a:noFill/>
          <a:ln/>
        </p:spPr>
        <p:txBody>
          <a:bodyPr wrap="square" lIns="0" tIns="0" rIns="0" bIns="0" rtlCol="0" anchor="t"/>
          <a:lstStyle/>
          <a:p>
            <a:pPr indent="0" marL="0">
              <a:buNone/>
            </a:pPr>
            <a:r>
              <a:rPr lang="en-US" sz="1150" b="1" dirty="0">
                <a:solidFill>
                  <a:srgbClr val="10243F"/>
                </a:solidFill>
                <a:latin typeface="Calibri" pitchFamily="34" charset="0"/>
                <a:ea typeface="Calibri" pitchFamily="34" charset="-122"/>
                <a:cs typeface="Calibri" pitchFamily="34" charset="-120"/>
              </a:rPr>
              <a:t>Déploiement et connectivité</a:t>
            </a:r>
            <a:endParaRPr lang="en-US" sz="1150" dirty="0"/>
          </a:p>
        </p:txBody>
      </p:sp>
      <p:sp>
        <p:nvSpPr>
          <p:cNvPr id="29" name="Text 27"/>
          <p:cNvSpPr txBox="1"/>
          <p:nvPr/>
        </p:nvSpPr>
        <p:spPr>
          <a:xfrm>
            <a:off x="7141464" y="2816352"/>
            <a:ext cx="1554480" cy="868680"/>
          </a:xfrm>
          <a:prstGeom prst="rect">
            <a:avLst/>
          </a:prstGeom>
          <a:noFill/>
          <a:ln/>
        </p:spPr>
        <p:txBody>
          <a:bodyPr wrap="square" lIns="0" tIns="0" rIns="0" bIns="0" rtlCol="0" anchor="t"/>
          <a:lstStyle/>
          <a:p>
            <a:pPr indent="0" marL="0">
              <a:lnSpc>
                <a:spcPct val="105000"/>
              </a:lnSpc>
              <a:buNone/>
            </a:pPr>
            <a:r>
              <a:rPr lang="en-US" sz="980" dirty="0">
                <a:solidFill>
                  <a:srgbClr val="1E2A38"/>
                </a:solidFill>
                <a:latin typeface="Cambria" pitchFamily="34" charset="0"/>
                <a:ea typeface="Cambria" pitchFamily="34" charset="-122"/>
                <a:cs typeface="Cambria" pitchFamily="34" charset="-120"/>
              </a:rPr>
              <a:t>Dès qu'il y a une enquête à mener, l'IA est décisive.</a:t>
            </a:r>
            <a:endParaRPr lang="en-US" sz="980" dirty="0"/>
          </a:p>
        </p:txBody>
      </p:sp>
      <p:sp>
        <p:nvSpPr>
          <p:cNvPr id="30" name="Text 28"/>
          <p:cNvSpPr txBox="1"/>
          <p:nvPr/>
        </p:nvSpPr>
        <p:spPr>
          <a:xfrm>
            <a:off x="548640" y="3986784"/>
            <a:ext cx="8046720" cy="274320"/>
          </a:xfrm>
          <a:prstGeom prst="rect">
            <a:avLst/>
          </a:prstGeom>
          <a:noFill/>
          <a:ln/>
        </p:spPr>
        <p:txBody>
          <a:bodyPr wrap="square" lIns="0" tIns="0" rIns="0" bIns="0" rtlCol="0" anchor="ctr"/>
          <a:lstStyle/>
          <a:p>
            <a:pPr indent="0" marL="0">
              <a:buNone/>
            </a:pPr>
            <a:r>
              <a:rPr lang="en-US" sz="1050" i="1" dirty="0">
                <a:solidFill>
                  <a:srgbClr val="10243F"/>
                </a:solidFill>
                <a:latin typeface="Cambria" pitchFamily="34" charset="0"/>
                <a:ea typeface="Cambria" pitchFamily="34" charset="-122"/>
                <a:cs typeface="Cambria" pitchFamily="34" charset="-120"/>
              </a:rPr>
              <a:t>Ce n'est plus cinq personnes sur un sujet : c'est une personne sur cinq sujets.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PHASE 1 — ANALYSE ET CONCEPTION</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Un expert fonctionnel qui connaît déjà le monde réel</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10</a:t>
            </a:r>
            <a:endParaRPr lang="en-US" sz="850" dirty="0"/>
          </a:p>
        </p:txBody>
      </p:sp>
      <p:sp>
        <p:nvSpPr>
          <p:cNvPr id="5" name="Shape 3"/>
          <p:cNvSpPr/>
          <p:nvPr/>
        </p:nvSpPr>
        <p:spPr>
          <a:xfrm>
            <a:off x="548640" y="1188720"/>
            <a:ext cx="3886200" cy="3063240"/>
          </a:xfrm>
          <a:prstGeom prst="rect">
            <a:avLst/>
          </a:prstGeom>
          <a:solidFill>
            <a:srgbClr val="F1F2F4"/>
          </a:solidFill>
          <a:ln/>
        </p:spPr>
      </p:sp>
      <p:sp>
        <p:nvSpPr>
          <p:cNvPr id="6" name="Shape 4"/>
          <p:cNvSpPr/>
          <p:nvPr/>
        </p:nvSpPr>
        <p:spPr>
          <a:xfrm>
            <a:off x="548640" y="1188720"/>
            <a:ext cx="50292" cy="3063240"/>
          </a:xfrm>
          <a:prstGeom prst="rect">
            <a:avLst/>
          </a:prstGeom>
          <a:solidFill>
            <a:srgbClr val="E87722"/>
          </a:solidFill>
          <a:ln/>
        </p:spPr>
      </p:sp>
      <p:sp>
        <p:nvSpPr>
          <p:cNvPr id="7" name="Text 5"/>
          <p:cNvSpPr txBox="1"/>
          <p:nvPr/>
        </p:nvSpPr>
        <p:spPr>
          <a:xfrm>
            <a:off x="786384" y="1353312"/>
            <a:ext cx="3383280" cy="237744"/>
          </a:xfrm>
          <a:prstGeom prst="rect">
            <a:avLst/>
          </a:prstGeom>
          <a:noFill/>
          <a:ln/>
        </p:spPr>
        <p:txBody>
          <a:bodyPr wrap="square" lIns="0" tIns="0" rIns="0" bIns="0" rtlCol="0" anchor="t"/>
          <a:lstStyle/>
          <a:p>
            <a:pPr indent="0" marL="0">
              <a:buNone/>
            </a:pPr>
            <a:r>
              <a:rPr lang="en-US" sz="1350" b="1" dirty="0">
                <a:solidFill>
                  <a:srgbClr val="10243F"/>
                </a:solidFill>
                <a:latin typeface="Calibri" pitchFamily="34" charset="0"/>
                <a:ea typeface="Calibri" pitchFamily="34" charset="-122"/>
                <a:cs typeface="Calibri" pitchFamily="34" charset="-120"/>
              </a:rPr>
              <a:t>Ce qui change</a:t>
            </a:r>
            <a:endParaRPr lang="en-US" sz="1350" dirty="0"/>
          </a:p>
        </p:txBody>
      </p:sp>
      <p:sp>
        <p:nvSpPr>
          <p:cNvPr id="8" name="Text 6"/>
          <p:cNvSpPr txBox="1"/>
          <p:nvPr/>
        </p:nvSpPr>
        <p:spPr>
          <a:xfrm>
            <a:off x="786384" y="1700784"/>
            <a:ext cx="3401568" cy="242316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C'est déjà un expert fonctionnel : elle sait ce qu'est une caisse, un ticket, une TVA, un tiroir. Même sur des sujets assez spécifiques, sa connaissance est très approfondie — on passe tout de suite au spécifique.</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Elle absorbe très vite tout ce qu'on lui donne : verbatims, comptes rendus, transcriptions Teams, documentation existante. Elle repère les contradictions et en fait la synthèse.</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Conception de base de données, conception d'écrans : plus efficace que la plupart des analystes humains. Et elle lit tout le dossier — 1 526 exigences cotées une par une.</a:t>
            </a:r>
            <a:endParaRPr lang="en-US" sz="1000" dirty="0"/>
          </a:p>
        </p:txBody>
      </p:sp>
      <p:sp>
        <p:nvSpPr>
          <p:cNvPr id="9" name="Shape 7"/>
          <p:cNvSpPr/>
          <p:nvPr/>
        </p:nvSpPr>
        <p:spPr>
          <a:xfrm>
            <a:off x="4709160" y="1188720"/>
            <a:ext cx="3886200" cy="3063240"/>
          </a:xfrm>
          <a:prstGeom prst="rect">
            <a:avLst/>
          </a:prstGeom>
          <a:solidFill>
            <a:srgbClr val="E4E6E9"/>
          </a:solidFill>
          <a:ln/>
        </p:spPr>
      </p:sp>
      <p:sp>
        <p:nvSpPr>
          <p:cNvPr id="10" name="Shape 8"/>
          <p:cNvSpPr/>
          <p:nvPr/>
        </p:nvSpPr>
        <p:spPr>
          <a:xfrm>
            <a:off x="4709160" y="1188720"/>
            <a:ext cx="50292" cy="3063240"/>
          </a:xfrm>
          <a:prstGeom prst="rect">
            <a:avLst/>
          </a:prstGeom>
          <a:solidFill>
            <a:srgbClr val="E87722"/>
          </a:solidFill>
          <a:ln/>
        </p:spPr>
      </p:sp>
      <p:sp>
        <p:nvSpPr>
          <p:cNvPr id="11" name="Text 9"/>
          <p:cNvSpPr txBox="1"/>
          <p:nvPr/>
        </p:nvSpPr>
        <p:spPr>
          <a:xfrm>
            <a:off x="4946904" y="1353312"/>
            <a:ext cx="3383280" cy="237744"/>
          </a:xfrm>
          <a:prstGeom prst="rect">
            <a:avLst/>
          </a:prstGeom>
          <a:noFill/>
          <a:ln/>
        </p:spPr>
        <p:txBody>
          <a:bodyPr wrap="square" lIns="0" tIns="0" rIns="0" bIns="0" rtlCol="0" anchor="t"/>
          <a:lstStyle/>
          <a:p>
            <a:pPr indent="0" marL="0">
              <a:buNone/>
            </a:pPr>
            <a:r>
              <a:rPr lang="en-US" sz="1350" b="1" dirty="0">
                <a:solidFill>
                  <a:srgbClr val="10243F"/>
                </a:solidFill>
                <a:latin typeface="Calibri" pitchFamily="34" charset="0"/>
                <a:ea typeface="Calibri" pitchFamily="34" charset="-122"/>
                <a:cs typeface="Calibri" pitchFamily="34" charset="-120"/>
              </a:rPr>
              <a:t>Comment je m'y prends</a:t>
            </a:r>
            <a:endParaRPr lang="en-US" sz="1350" dirty="0"/>
          </a:p>
        </p:txBody>
      </p:sp>
      <p:sp>
        <p:nvSpPr>
          <p:cNvPr id="12" name="Text 10"/>
          <p:cNvSpPr txBox="1"/>
          <p:nvPr/>
        </p:nvSpPr>
        <p:spPr>
          <a:xfrm>
            <a:off x="4946904" y="1700784"/>
            <a:ext cx="3401568" cy="242316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Je me fais interviewer : le chat pose les questions, je dis le besoin — et ce qu'il a de particulier ici.</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Je fais écrire la spécification par passes, et je tranche les décisions produit : elle les liste, elle ne les prend pas.</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Tout chiffre qu'elle avance se vérifie par un script, jamais de tête — elle peut oublier une ligne comme n'importe qui.</a:t>
            </a:r>
            <a:endParaRPr lang="en-US" sz="1000" dirty="0"/>
          </a:p>
        </p:txBody>
      </p:sp>
      <p:sp>
        <p:nvSpPr>
          <p:cNvPr id="13" name="Text 11"/>
          <p:cNvSpPr txBox="1"/>
          <p:nvPr/>
        </p:nvSpPr>
        <p:spPr>
          <a:xfrm>
            <a:off x="548640" y="4370832"/>
            <a:ext cx="8046720" cy="274320"/>
          </a:xfrm>
          <a:prstGeom prst="rect">
            <a:avLst/>
          </a:prstGeom>
          <a:noFill/>
          <a:ln/>
        </p:spPr>
        <p:txBody>
          <a:bodyPr wrap="square" lIns="0" tIns="0" rIns="0" bIns="0" rtlCol="0" anchor="ctr"/>
          <a:lstStyle/>
          <a:p>
            <a:pPr indent="0" marL="0">
              <a:buNone/>
            </a:pPr>
            <a:r>
              <a:rPr lang="en-US" sz="1050" i="1" dirty="0">
                <a:solidFill>
                  <a:srgbClr val="10243F"/>
                </a:solidFill>
                <a:latin typeface="Cambria" pitchFamily="34" charset="0"/>
                <a:ea typeface="Cambria" pitchFamily="34" charset="-122"/>
                <a:cs typeface="Cambria" pitchFamily="34" charset="-120"/>
              </a:rPr>
              <a:t>Fait mesurable : un plan de 796 exigences réparti en 11 lots, la répartition produite par script et sa somme de contrôle publiée.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PHASE 2 — CODAGE</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Un développeur omniscient et hyper véloce</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11</a:t>
            </a:r>
            <a:endParaRPr lang="en-US" sz="850" dirty="0"/>
          </a:p>
        </p:txBody>
      </p:sp>
      <p:sp>
        <p:nvSpPr>
          <p:cNvPr id="5" name="Shape 3"/>
          <p:cNvSpPr/>
          <p:nvPr/>
        </p:nvSpPr>
        <p:spPr>
          <a:xfrm>
            <a:off x="548640" y="1188720"/>
            <a:ext cx="3886200" cy="2468880"/>
          </a:xfrm>
          <a:prstGeom prst="rect">
            <a:avLst/>
          </a:prstGeom>
          <a:solidFill>
            <a:srgbClr val="F1F2F4"/>
          </a:solidFill>
          <a:ln/>
        </p:spPr>
      </p:sp>
      <p:sp>
        <p:nvSpPr>
          <p:cNvPr id="6" name="Shape 4"/>
          <p:cNvSpPr/>
          <p:nvPr/>
        </p:nvSpPr>
        <p:spPr>
          <a:xfrm>
            <a:off x="548640" y="1188720"/>
            <a:ext cx="50292" cy="2468880"/>
          </a:xfrm>
          <a:prstGeom prst="rect">
            <a:avLst/>
          </a:prstGeom>
          <a:solidFill>
            <a:srgbClr val="E87722"/>
          </a:solidFill>
          <a:ln/>
        </p:spPr>
      </p:sp>
      <p:sp>
        <p:nvSpPr>
          <p:cNvPr id="7" name="Text 5"/>
          <p:cNvSpPr txBox="1"/>
          <p:nvPr/>
        </p:nvSpPr>
        <p:spPr>
          <a:xfrm>
            <a:off x="786384" y="1353312"/>
            <a:ext cx="3383280" cy="237744"/>
          </a:xfrm>
          <a:prstGeom prst="rect">
            <a:avLst/>
          </a:prstGeom>
          <a:noFill/>
          <a:ln/>
        </p:spPr>
        <p:txBody>
          <a:bodyPr wrap="square" lIns="0" tIns="0" rIns="0" bIns="0" rtlCol="0" anchor="t"/>
          <a:lstStyle/>
          <a:p>
            <a:pPr indent="0" marL="0">
              <a:buNone/>
            </a:pPr>
            <a:r>
              <a:rPr lang="en-US" sz="1350" b="1" dirty="0">
                <a:solidFill>
                  <a:srgbClr val="10243F"/>
                </a:solidFill>
                <a:latin typeface="Calibri" pitchFamily="34" charset="0"/>
                <a:ea typeface="Calibri" pitchFamily="34" charset="-122"/>
                <a:cs typeface="Calibri" pitchFamily="34" charset="-120"/>
              </a:rPr>
              <a:t>Ce qui change</a:t>
            </a:r>
            <a:endParaRPr lang="en-US" sz="1350" dirty="0"/>
          </a:p>
        </p:txBody>
      </p:sp>
      <p:sp>
        <p:nvSpPr>
          <p:cNvPr id="8" name="Text 6"/>
          <p:cNvSpPr txBox="1"/>
          <p:nvPr/>
        </p:nvSpPr>
        <p:spPr>
          <a:xfrm>
            <a:off x="786384" y="1700784"/>
            <a:ext cx="3401568" cy="182880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Hier, on disait : l'IA remplace un junior. Aujourd'hui, elle remplace un profil très expérimenté.</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Connaissance profonde des frameworks, mais aussi des fondamentaux — algorithmes, patrons de conception, complexité — meilleure que celle de 99 % des développeurs.</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Le résultat : un code de bien meilleure qualité que ce que produit une équipe ordinaire, et une cohérence tenue sur toute la base.</a:t>
            </a:r>
            <a:endParaRPr lang="en-US" sz="1000" dirty="0"/>
          </a:p>
        </p:txBody>
      </p:sp>
      <p:sp>
        <p:nvSpPr>
          <p:cNvPr id="9" name="Shape 7"/>
          <p:cNvSpPr/>
          <p:nvPr/>
        </p:nvSpPr>
        <p:spPr>
          <a:xfrm>
            <a:off x="4709160" y="1188720"/>
            <a:ext cx="3886200" cy="2468880"/>
          </a:xfrm>
          <a:prstGeom prst="rect">
            <a:avLst/>
          </a:prstGeom>
          <a:solidFill>
            <a:srgbClr val="E4E6E9"/>
          </a:solidFill>
          <a:ln/>
        </p:spPr>
      </p:sp>
      <p:sp>
        <p:nvSpPr>
          <p:cNvPr id="10" name="Shape 8"/>
          <p:cNvSpPr/>
          <p:nvPr/>
        </p:nvSpPr>
        <p:spPr>
          <a:xfrm>
            <a:off x="4709160" y="1188720"/>
            <a:ext cx="50292" cy="2468880"/>
          </a:xfrm>
          <a:prstGeom prst="rect">
            <a:avLst/>
          </a:prstGeom>
          <a:solidFill>
            <a:srgbClr val="E87722"/>
          </a:solidFill>
          <a:ln/>
        </p:spPr>
      </p:sp>
      <p:sp>
        <p:nvSpPr>
          <p:cNvPr id="11" name="Text 9"/>
          <p:cNvSpPr txBox="1"/>
          <p:nvPr/>
        </p:nvSpPr>
        <p:spPr>
          <a:xfrm>
            <a:off x="4946904" y="1353312"/>
            <a:ext cx="3383280" cy="237744"/>
          </a:xfrm>
          <a:prstGeom prst="rect">
            <a:avLst/>
          </a:prstGeom>
          <a:noFill/>
          <a:ln/>
        </p:spPr>
        <p:txBody>
          <a:bodyPr wrap="square" lIns="0" tIns="0" rIns="0" bIns="0" rtlCol="0" anchor="t"/>
          <a:lstStyle/>
          <a:p>
            <a:pPr indent="0" marL="0">
              <a:buNone/>
            </a:pPr>
            <a:r>
              <a:rPr lang="en-US" sz="1350" b="1" dirty="0">
                <a:solidFill>
                  <a:srgbClr val="10243F"/>
                </a:solidFill>
                <a:latin typeface="Calibri" pitchFamily="34" charset="0"/>
                <a:ea typeface="Calibri" pitchFamily="34" charset="-122"/>
                <a:cs typeface="Calibri" pitchFamily="34" charset="-120"/>
              </a:rPr>
              <a:t>Comment je tiens le code</a:t>
            </a:r>
            <a:endParaRPr lang="en-US" sz="1350" dirty="0"/>
          </a:p>
        </p:txBody>
      </p:sp>
      <p:sp>
        <p:nvSpPr>
          <p:cNvPr id="12" name="Text 10"/>
          <p:cNvSpPr txBox="1"/>
          <p:nvPr/>
        </p:nvSpPr>
        <p:spPr>
          <a:xfrm>
            <a:off x="4946904" y="1700784"/>
            <a:ext cx="3401568" cy="182880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Le périmètre : elle améliore volontiers ce qu'on ne lui a pas demandé — la consigne est de ne toucher qu'à ce qui est demandé.</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Les silences de la spécification : ce qui n'est pas dit finit décidé sans nous — il faut le dire.</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Un service de référence comme calque, des étapes commitées, et une validation qui ne mange pas le gain (voir plus loin).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PHASE 3 — TESTS ET DOCUMENTATION</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Ce qui était trop cher devient négligeable</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12</a:t>
            </a:r>
            <a:endParaRPr lang="en-US" sz="850" dirty="0"/>
          </a:p>
        </p:txBody>
      </p:sp>
      <p:sp>
        <p:nvSpPr>
          <p:cNvPr id="5" name="Text 3"/>
          <p:cNvSpPr txBox="1"/>
          <p:nvPr/>
        </p:nvSpPr>
        <p:spPr>
          <a:xfrm>
            <a:off x="548640" y="1024128"/>
            <a:ext cx="8046720" cy="310896"/>
          </a:xfrm>
          <a:prstGeom prst="rect">
            <a:avLst/>
          </a:prstGeom>
          <a:noFill/>
          <a:ln/>
        </p:spPr>
        <p:txBody>
          <a:bodyPr wrap="square" lIns="0" tIns="0" rIns="0" bIns="0" rtlCol="0" anchor="t"/>
          <a:lstStyle/>
          <a:p>
            <a:pPr indent="0" marL="0">
              <a:lnSpc>
                <a:spcPct val="105000"/>
              </a:lnSpc>
              <a:buNone/>
            </a:pPr>
            <a:r>
              <a:rPr lang="en-US" sz="1050" dirty="0">
                <a:solidFill>
                  <a:srgbClr val="6B7280"/>
                </a:solidFill>
                <a:latin typeface="Cambria" pitchFamily="34" charset="0"/>
                <a:ea typeface="Cambria" pitchFamily="34" charset="-122"/>
                <a:cs typeface="Cambria" pitchFamily="34" charset="-120"/>
              </a:rPr>
              <a:t>Tout le qualitatif — tests, documentation — coûtait si cher en temps humain qu'il n'était jamais fait. Il devient quasi gratuit : on passe de « on ne peut pas » à « il faut absolument ».</a:t>
            </a:r>
            <a:endParaRPr lang="en-US" sz="1050" dirty="0"/>
          </a:p>
        </p:txBody>
      </p:sp>
      <p:sp>
        <p:nvSpPr>
          <p:cNvPr id="6" name="Shape 4"/>
          <p:cNvSpPr/>
          <p:nvPr/>
        </p:nvSpPr>
        <p:spPr>
          <a:xfrm>
            <a:off x="548640" y="1481328"/>
            <a:ext cx="1920240" cy="1938528"/>
          </a:xfrm>
          <a:prstGeom prst="rect">
            <a:avLst/>
          </a:prstGeom>
          <a:solidFill>
            <a:srgbClr val="F1F2F4"/>
          </a:solidFill>
          <a:ln/>
        </p:spPr>
      </p:sp>
      <p:sp>
        <p:nvSpPr>
          <p:cNvPr id="7" name="Shape 5"/>
          <p:cNvSpPr/>
          <p:nvPr/>
        </p:nvSpPr>
        <p:spPr>
          <a:xfrm>
            <a:off x="548640" y="1481328"/>
            <a:ext cx="50292" cy="1938528"/>
          </a:xfrm>
          <a:prstGeom prst="rect">
            <a:avLst/>
          </a:prstGeom>
          <a:solidFill>
            <a:srgbClr val="E87722"/>
          </a:solidFill>
          <a:ln/>
        </p:spPr>
      </p:sp>
      <p:sp>
        <p:nvSpPr>
          <p:cNvPr id="8" name="Text 6"/>
          <p:cNvSpPr txBox="1"/>
          <p:nvPr/>
        </p:nvSpPr>
        <p:spPr>
          <a:xfrm>
            <a:off x="749808" y="1591056"/>
            <a:ext cx="1536192" cy="457200"/>
          </a:xfrm>
          <a:prstGeom prst="rect">
            <a:avLst/>
          </a:prstGeom>
          <a:noFill/>
          <a:ln/>
        </p:spPr>
        <p:txBody>
          <a:bodyPr wrap="square" lIns="0" tIns="0" rIns="0" bIns="0" rtlCol="0" anchor="ctr"/>
          <a:lstStyle/>
          <a:p>
            <a:pPr indent="0" marL="0">
              <a:buNone/>
            </a:pPr>
            <a:r>
              <a:rPr lang="en-US" sz="2600" b="1" dirty="0">
                <a:solidFill>
                  <a:srgbClr val="E87722"/>
                </a:solidFill>
                <a:latin typeface="Calibri" pitchFamily="34" charset="0"/>
                <a:ea typeface="Calibri" pitchFamily="34" charset="-122"/>
                <a:cs typeface="Calibri" pitchFamily="34" charset="-120"/>
              </a:rPr>
              <a:t>1 557</a:t>
            </a:r>
            <a:endParaRPr lang="en-US" sz="2600" dirty="0"/>
          </a:p>
        </p:txBody>
      </p:sp>
      <p:sp>
        <p:nvSpPr>
          <p:cNvPr id="9" name="Text 7"/>
          <p:cNvSpPr txBox="1"/>
          <p:nvPr/>
        </p:nvSpPr>
        <p:spPr>
          <a:xfrm>
            <a:off x="749808" y="2066544"/>
            <a:ext cx="1536192" cy="457200"/>
          </a:xfrm>
          <a:prstGeom prst="rect">
            <a:avLst/>
          </a:prstGeom>
          <a:noFill/>
          <a:ln/>
        </p:spPr>
        <p:txBody>
          <a:bodyPr wrap="square" lIns="0" tIns="0" rIns="0" bIns="0" rtlCol="0" anchor="t"/>
          <a:lstStyle/>
          <a:p>
            <a:pPr indent="0" marL="0">
              <a:buNone/>
            </a:pPr>
            <a:r>
              <a:rPr lang="en-US" sz="1050" b="1" dirty="0">
                <a:solidFill>
                  <a:srgbClr val="10243F"/>
                </a:solidFill>
                <a:latin typeface="Calibri" pitchFamily="34" charset="0"/>
                <a:ea typeface="Calibri" pitchFamily="34" charset="-122"/>
                <a:cs typeface="Calibri" pitchFamily="34" charset="-120"/>
              </a:rPr>
              <a:t>tests unitaires, en une nuit</a:t>
            </a:r>
            <a:endParaRPr lang="en-US" sz="1050" dirty="0"/>
          </a:p>
        </p:txBody>
      </p:sp>
      <p:sp>
        <p:nvSpPr>
          <p:cNvPr id="10" name="Text 8"/>
          <p:cNvSpPr txBox="1"/>
          <p:nvPr/>
        </p:nvSpPr>
        <p:spPr>
          <a:xfrm>
            <a:off x="749808" y="2578608"/>
            <a:ext cx="1536192" cy="777240"/>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Campagne sur l'ensemble de l'application, tous verts au matin.</a:t>
            </a:r>
            <a:endParaRPr lang="en-US" sz="930" dirty="0"/>
          </a:p>
        </p:txBody>
      </p:sp>
      <p:sp>
        <p:nvSpPr>
          <p:cNvPr id="11" name="Shape 9"/>
          <p:cNvSpPr/>
          <p:nvPr/>
        </p:nvSpPr>
        <p:spPr>
          <a:xfrm>
            <a:off x="2679192" y="1481328"/>
            <a:ext cx="1920240" cy="1938528"/>
          </a:xfrm>
          <a:prstGeom prst="rect">
            <a:avLst/>
          </a:prstGeom>
          <a:solidFill>
            <a:srgbClr val="F1F2F4"/>
          </a:solidFill>
          <a:ln/>
        </p:spPr>
      </p:sp>
      <p:sp>
        <p:nvSpPr>
          <p:cNvPr id="12" name="Shape 10"/>
          <p:cNvSpPr/>
          <p:nvPr/>
        </p:nvSpPr>
        <p:spPr>
          <a:xfrm>
            <a:off x="2679192" y="1481328"/>
            <a:ext cx="50292" cy="1938528"/>
          </a:xfrm>
          <a:prstGeom prst="rect">
            <a:avLst/>
          </a:prstGeom>
          <a:solidFill>
            <a:srgbClr val="E87722"/>
          </a:solidFill>
          <a:ln/>
        </p:spPr>
      </p:sp>
      <p:sp>
        <p:nvSpPr>
          <p:cNvPr id="13" name="Text 11"/>
          <p:cNvSpPr txBox="1"/>
          <p:nvPr/>
        </p:nvSpPr>
        <p:spPr>
          <a:xfrm>
            <a:off x="2880360" y="1591056"/>
            <a:ext cx="1536192" cy="457200"/>
          </a:xfrm>
          <a:prstGeom prst="rect">
            <a:avLst/>
          </a:prstGeom>
          <a:noFill/>
          <a:ln/>
        </p:spPr>
        <p:txBody>
          <a:bodyPr wrap="square" lIns="0" tIns="0" rIns="0" bIns="0" rtlCol="0" anchor="ctr"/>
          <a:lstStyle/>
          <a:p>
            <a:pPr indent="0" marL="0">
              <a:buNone/>
            </a:pPr>
            <a:r>
              <a:rPr lang="en-US" sz="2600" b="1" dirty="0">
                <a:solidFill>
                  <a:srgbClr val="E87722"/>
                </a:solidFill>
                <a:latin typeface="Calibri" pitchFamily="34" charset="0"/>
                <a:ea typeface="Calibri" pitchFamily="34" charset="-122"/>
                <a:cs typeface="Calibri" pitchFamily="34" charset="-120"/>
              </a:rPr>
              <a:t>62</a:t>
            </a:r>
            <a:endParaRPr lang="en-US" sz="2600" dirty="0"/>
          </a:p>
        </p:txBody>
      </p:sp>
      <p:sp>
        <p:nvSpPr>
          <p:cNvPr id="14" name="Text 12"/>
          <p:cNvSpPr txBox="1"/>
          <p:nvPr/>
        </p:nvSpPr>
        <p:spPr>
          <a:xfrm>
            <a:off x="2880360" y="2066544"/>
            <a:ext cx="1536192" cy="457200"/>
          </a:xfrm>
          <a:prstGeom prst="rect">
            <a:avLst/>
          </a:prstGeom>
          <a:noFill/>
          <a:ln/>
        </p:spPr>
        <p:txBody>
          <a:bodyPr wrap="square" lIns="0" tIns="0" rIns="0" bIns="0" rtlCol="0" anchor="t"/>
          <a:lstStyle/>
          <a:p>
            <a:pPr indent="0" marL="0">
              <a:buNone/>
            </a:pPr>
            <a:r>
              <a:rPr lang="en-US" sz="1050" b="1" dirty="0">
                <a:solidFill>
                  <a:srgbClr val="10243F"/>
                </a:solidFill>
                <a:latin typeface="Calibri" pitchFamily="34" charset="0"/>
                <a:ea typeface="Calibri" pitchFamily="34" charset="-122"/>
                <a:cs typeface="Calibri" pitchFamily="34" charset="-120"/>
              </a:rPr>
              <a:t>scénarios e2e, en une nuit</a:t>
            </a:r>
            <a:endParaRPr lang="en-US" sz="1050" dirty="0"/>
          </a:p>
        </p:txBody>
      </p:sp>
      <p:sp>
        <p:nvSpPr>
          <p:cNvPr id="15" name="Text 13"/>
          <p:cNvSpPr txBox="1"/>
          <p:nvPr/>
        </p:nvSpPr>
        <p:spPr>
          <a:xfrm>
            <a:off x="2880360" y="2578608"/>
            <a:ext cx="1536192" cy="777240"/>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Le parcours réel du caissier, joué au navigateur ; écrits en une nuit, rejoués en une commande.</a:t>
            </a:r>
            <a:endParaRPr lang="en-US" sz="930" dirty="0"/>
          </a:p>
        </p:txBody>
      </p:sp>
      <p:sp>
        <p:nvSpPr>
          <p:cNvPr id="16" name="Shape 14"/>
          <p:cNvSpPr/>
          <p:nvPr/>
        </p:nvSpPr>
        <p:spPr>
          <a:xfrm>
            <a:off x="4809744" y="1481328"/>
            <a:ext cx="1920240" cy="1938528"/>
          </a:xfrm>
          <a:prstGeom prst="rect">
            <a:avLst/>
          </a:prstGeom>
          <a:solidFill>
            <a:srgbClr val="F1F2F4"/>
          </a:solidFill>
          <a:ln/>
        </p:spPr>
      </p:sp>
      <p:sp>
        <p:nvSpPr>
          <p:cNvPr id="17" name="Shape 15"/>
          <p:cNvSpPr/>
          <p:nvPr/>
        </p:nvSpPr>
        <p:spPr>
          <a:xfrm>
            <a:off x="4809744" y="1481328"/>
            <a:ext cx="50292" cy="1938528"/>
          </a:xfrm>
          <a:prstGeom prst="rect">
            <a:avLst/>
          </a:prstGeom>
          <a:solidFill>
            <a:srgbClr val="E87722"/>
          </a:solidFill>
          <a:ln/>
        </p:spPr>
      </p:sp>
      <p:sp>
        <p:nvSpPr>
          <p:cNvPr id="18" name="Text 16"/>
          <p:cNvSpPr txBox="1"/>
          <p:nvPr/>
        </p:nvSpPr>
        <p:spPr>
          <a:xfrm>
            <a:off x="5010912" y="1591056"/>
            <a:ext cx="1536192" cy="457200"/>
          </a:xfrm>
          <a:prstGeom prst="rect">
            <a:avLst/>
          </a:prstGeom>
          <a:noFill/>
          <a:ln/>
        </p:spPr>
        <p:txBody>
          <a:bodyPr wrap="square" lIns="0" tIns="0" rIns="0" bIns="0" rtlCol="0" anchor="ctr"/>
          <a:lstStyle/>
          <a:p>
            <a:pPr indent="0" marL="0">
              <a:buNone/>
            </a:pPr>
            <a:r>
              <a:rPr lang="en-US" sz="2600" b="1" dirty="0">
                <a:solidFill>
                  <a:srgbClr val="E87722"/>
                </a:solidFill>
                <a:latin typeface="Calibri" pitchFamily="34" charset="0"/>
                <a:ea typeface="Calibri" pitchFamily="34" charset="-122"/>
                <a:cs typeface="Calibri" pitchFamily="34" charset="-120"/>
              </a:rPr>
              <a:t>100 %</a:t>
            </a:r>
            <a:endParaRPr lang="en-US" sz="2600" dirty="0"/>
          </a:p>
        </p:txBody>
      </p:sp>
      <p:sp>
        <p:nvSpPr>
          <p:cNvPr id="19" name="Text 17"/>
          <p:cNvSpPr txBox="1"/>
          <p:nvPr/>
        </p:nvSpPr>
        <p:spPr>
          <a:xfrm>
            <a:off x="5010912" y="2066544"/>
            <a:ext cx="1536192" cy="457200"/>
          </a:xfrm>
          <a:prstGeom prst="rect">
            <a:avLst/>
          </a:prstGeom>
          <a:noFill/>
          <a:ln/>
        </p:spPr>
        <p:txBody>
          <a:bodyPr wrap="square" lIns="0" tIns="0" rIns="0" bIns="0" rtlCol="0" anchor="t"/>
          <a:lstStyle/>
          <a:p>
            <a:pPr indent="0" marL="0">
              <a:buNone/>
            </a:pPr>
            <a:r>
              <a:rPr lang="en-US" sz="1050" b="1" dirty="0">
                <a:solidFill>
                  <a:srgbClr val="10243F"/>
                </a:solidFill>
                <a:latin typeface="Calibri" pitchFamily="34" charset="0"/>
                <a:ea typeface="Calibri" pitchFamily="34" charset="-122"/>
                <a:cs typeface="Calibri" pitchFamily="34" charset="-120"/>
              </a:rPr>
              <a:t>de branches, exigible</a:t>
            </a:r>
            <a:endParaRPr lang="en-US" sz="1050" dirty="0"/>
          </a:p>
        </p:txBody>
      </p:sp>
      <p:sp>
        <p:nvSpPr>
          <p:cNvPr id="20" name="Text 18"/>
          <p:cNvSpPr txBox="1"/>
          <p:nvPr/>
        </p:nvSpPr>
        <p:spPr>
          <a:xfrm>
            <a:off x="5010912" y="2578608"/>
            <a:ext cx="1536192" cy="777240"/>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La couverture complète cesse d'être un vœu : elle devient un critère de fin.</a:t>
            </a:r>
            <a:endParaRPr lang="en-US" sz="930" dirty="0"/>
          </a:p>
        </p:txBody>
      </p:sp>
      <p:sp>
        <p:nvSpPr>
          <p:cNvPr id="21" name="Shape 19"/>
          <p:cNvSpPr/>
          <p:nvPr/>
        </p:nvSpPr>
        <p:spPr>
          <a:xfrm>
            <a:off x="6940296" y="1481328"/>
            <a:ext cx="1920240" cy="1938528"/>
          </a:xfrm>
          <a:prstGeom prst="rect">
            <a:avLst/>
          </a:prstGeom>
          <a:solidFill>
            <a:srgbClr val="F1F2F4"/>
          </a:solidFill>
          <a:ln/>
        </p:spPr>
      </p:sp>
      <p:sp>
        <p:nvSpPr>
          <p:cNvPr id="22" name="Shape 20"/>
          <p:cNvSpPr/>
          <p:nvPr/>
        </p:nvSpPr>
        <p:spPr>
          <a:xfrm>
            <a:off x="6940296" y="1481328"/>
            <a:ext cx="50292" cy="1938528"/>
          </a:xfrm>
          <a:prstGeom prst="rect">
            <a:avLst/>
          </a:prstGeom>
          <a:solidFill>
            <a:srgbClr val="E87722"/>
          </a:solidFill>
          <a:ln/>
        </p:spPr>
      </p:sp>
      <p:sp>
        <p:nvSpPr>
          <p:cNvPr id="23" name="Text 21"/>
          <p:cNvSpPr txBox="1"/>
          <p:nvPr/>
        </p:nvSpPr>
        <p:spPr>
          <a:xfrm>
            <a:off x="7141464" y="1591056"/>
            <a:ext cx="1536192" cy="457200"/>
          </a:xfrm>
          <a:prstGeom prst="rect">
            <a:avLst/>
          </a:prstGeom>
          <a:noFill/>
          <a:ln/>
        </p:spPr>
        <p:txBody>
          <a:bodyPr wrap="square" lIns="0" tIns="0" rIns="0" bIns="0" rtlCol="0" anchor="ctr"/>
          <a:lstStyle/>
          <a:p>
            <a:pPr indent="0" marL="0">
              <a:buNone/>
            </a:pPr>
            <a:r>
              <a:rPr lang="en-US" sz="2600" b="1" dirty="0">
                <a:solidFill>
                  <a:srgbClr val="E87722"/>
                </a:solidFill>
                <a:latin typeface="Calibri" pitchFamily="34" charset="0"/>
                <a:ea typeface="Calibri" pitchFamily="34" charset="-122"/>
                <a:cs typeface="Calibri" pitchFamily="34" charset="-120"/>
              </a:rPr>
              <a:t>145</a:t>
            </a:r>
            <a:endParaRPr lang="en-US" sz="2600" dirty="0"/>
          </a:p>
        </p:txBody>
      </p:sp>
      <p:sp>
        <p:nvSpPr>
          <p:cNvPr id="24" name="Text 22"/>
          <p:cNvSpPr txBox="1"/>
          <p:nvPr/>
        </p:nvSpPr>
        <p:spPr>
          <a:xfrm>
            <a:off x="7141464" y="2066544"/>
            <a:ext cx="1536192" cy="457200"/>
          </a:xfrm>
          <a:prstGeom prst="rect">
            <a:avLst/>
          </a:prstGeom>
          <a:noFill/>
          <a:ln/>
        </p:spPr>
        <p:txBody>
          <a:bodyPr wrap="square" lIns="0" tIns="0" rIns="0" bIns="0" rtlCol="0" anchor="t"/>
          <a:lstStyle/>
          <a:p>
            <a:pPr indent="0" marL="0">
              <a:buNone/>
            </a:pPr>
            <a:r>
              <a:rPr lang="en-US" sz="1050" b="1" dirty="0">
                <a:solidFill>
                  <a:srgbClr val="10243F"/>
                </a:solidFill>
                <a:latin typeface="Calibri" pitchFamily="34" charset="0"/>
                <a:ea typeface="Calibri" pitchFamily="34" charset="-122"/>
                <a:cs typeface="Calibri" pitchFamily="34" charset="-120"/>
              </a:rPr>
              <a:t>classes et écrans documentés,</a:t>
            </a:r>
            <a:endParaRPr lang="en-US" sz="1050" dirty="0"/>
          </a:p>
          <a:p>
            <a:pPr indent="0" marL="0">
              <a:buNone/>
            </a:pPr>
            <a:r>
              <a:rPr lang="en-US" sz="1050" b="1" dirty="0">
                <a:solidFill>
                  <a:srgbClr val="10243F"/>
                </a:solidFill>
                <a:latin typeface="Calibri" pitchFamily="34" charset="0"/>
                <a:ea typeface="Calibri" pitchFamily="34" charset="-122"/>
                <a:cs typeface="Calibri" pitchFamily="34" charset="-120"/>
              </a:rPr>
              <a:t>en une commande</a:t>
            </a:r>
            <a:endParaRPr lang="en-US" sz="1050" dirty="0"/>
          </a:p>
        </p:txBody>
      </p:sp>
      <p:sp>
        <p:nvSpPr>
          <p:cNvPr id="25" name="Text 23"/>
          <p:cNvSpPr txBox="1"/>
          <p:nvPr/>
        </p:nvSpPr>
        <p:spPr>
          <a:xfrm>
            <a:off x="7141464" y="2578608"/>
            <a:ext cx="1536192" cy="777240"/>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120 classes et 25 écrans porteurs de leur contrat : la base entière, d'un coup.</a:t>
            </a:r>
            <a:endParaRPr lang="en-US" sz="930" dirty="0"/>
          </a:p>
        </p:txBody>
      </p:sp>
      <p:sp>
        <p:nvSpPr>
          <p:cNvPr id="26" name="Shape 24"/>
          <p:cNvSpPr/>
          <p:nvPr/>
        </p:nvSpPr>
        <p:spPr>
          <a:xfrm>
            <a:off x="548640" y="3566160"/>
            <a:ext cx="8046720" cy="896112"/>
          </a:xfrm>
          <a:prstGeom prst="rect">
            <a:avLst/>
          </a:prstGeom>
          <a:solidFill>
            <a:srgbClr val="E4E6E9"/>
          </a:solidFill>
          <a:ln/>
        </p:spPr>
      </p:sp>
      <p:sp>
        <p:nvSpPr>
          <p:cNvPr id="27" name="Shape 25"/>
          <p:cNvSpPr/>
          <p:nvPr/>
        </p:nvSpPr>
        <p:spPr>
          <a:xfrm>
            <a:off x="548640" y="3566160"/>
            <a:ext cx="50292" cy="896112"/>
          </a:xfrm>
          <a:prstGeom prst="rect">
            <a:avLst/>
          </a:prstGeom>
          <a:solidFill>
            <a:srgbClr val="E87722"/>
          </a:solidFill>
          <a:ln/>
        </p:spPr>
      </p:sp>
      <p:sp>
        <p:nvSpPr>
          <p:cNvPr id="28" name="Text 26"/>
          <p:cNvSpPr txBox="1"/>
          <p:nvPr/>
        </p:nvSpPr>
        <p:spPr>
          <a:xfrm>
            <a:off x="777240" y="3712464"/>
            <a:ext cx="75895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Comment : une classe à la fois en chat, une campagne de nuit en agentique</a:t>
            </a:r>
            <a:endParaRPr lang="en-US" sz="1200" dirty="0"/>
          </a:p>
        </p:txBody>
      </p:sp>
      <p:sp>
        <p:nvSpPr>
          <p:cNvPr id="29" name="Text 27"/>
          <p:cNvSpPr txBox="1"/>
          <p:nvPr/>
        </p:nvSpPr>
        <p:spPr>
          <a:xfrm>
            <a:off x="777240" y="3968496"/>
            <a:ext cx="7589520" cy="457200"/>
          </a:xfrm>
          <a:prstGeom prst="rect">
            <a:avLst/>
          </a:prstGeom>
          <a:noFill/>
          <a:ln/>
        </p:spPr>
        <p:txBody>
          <a:bodyPr wrap="square" lIns="0" tIns="0" rIns="0" bIns="0" rtlCol="0" anchor="t"/>
          <a:lstStyle/>
          <a:p>
            <a:pPr indent="0" marL="0">
              <a:lnSpc>
                <a:spcPct val="105000"/>
              </a:lnSpc>
              <a:buNone/>
            </a:pPr>
            <a:r>
              <a:rPr lang="en-US" sz="960" dirty="0">
                <a:solidFill>
                  <a:srgbClr val="1E2A38"/>
                </a:solidFill>
                <a:latin typeface="Cambria" pitchFamily="34" charset="0"/>
                <a:ea typeface="Cambria" pitchFamily="34" charset="-122"/>
                <a:cs typeface="Cambria" pitchFamily="34" charset="-120"/>
              </a:rPr>
              <a:t>En chat, une classe testée à 100 % en une à deux minutes, chaque jambe de chaque condition couverte. En agentique, la campagne sur toute l'application, pendant la nuit. Une couverture complète n'est plus un luxe : c'est le minimum qu'on est en droit d'exiger.</a:t>
            </a:r>
            <a:endParaRPr lang="en-US" sz="9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PHASE 4 — DÉPLOIEMENT ET CONNECTIVITÉ</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Dès qu'il y a une enquête, l'IA est décisive</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13</a:t>
            </a:r>
            <a:endParaRPr lang="en-US" sz="850" dirty="0"/>
          </a:p>
        </p:txBody>
      </p:sp>
      <p:sp>
        <p:nvSpPr>
          <p:cNvPr id="5" name="Text 3"/>
          <p:cNvSpPr txBox="1"/>
          <p:nvPr/>
        </p:nvSpPr>
        <p:spPr>
          <a:xfrm>
            <a:off x="548640" y="1024128"/>
            <a:ext cx="8046720" cy="310896"/>
          </a:xfrm>
          <a:prstGeom prst="rect">
            <a:avLst/>
          </a:prstGeom>
          <a:noFill/>
          <a:ln/>
        </p:spPr>
        <p:txBody>
          <a:bodyPr wrap="square" lIns="0" tIns="0" rIns="0" bIns="0" rtlCol="0" anchor="t"/>
          <a:lstStyle/>
          <a:p>
            <a:pPr indent="0" marL="0">
              <a:lnSpc>
                <a:spcPct val="105000"/>
              </a:lnSpc>
              <a:buNone/>
            </a:pPr>
            <a:r>
              <a:rPr lang="en-US" sz="1050" dirty="0">
                <a:solidFill>
                  <a:srgbClr val="6B7280"/>
                </a:solidFill>
                <a:latin typeface="Cambria" pitchFamily="34" charset="0"/>
                <a:ea typeface="Cambria" pitchFamily="34" charset="-122"/>
                <a:cs typeface="Cambria" pitchFamily="34" charset="-120"/>
              </a:rPr>
              <a:t>Faire fonctionner quelque chose : lire la documentation, lancer des commandes, faire des essais, interroger, recommencer. C'est là que l'écart est le plus inattendu.</a:t>
            </a:r>
            <a:endParaRPr lang="en-US" sz="1050" dirty="0"/>
          </a:p>
        </p:txBody>
      </p:sp>
      <p:sp>
        <p:nvSpPr>
          <p:cNvPr id="6" name="Shape 4"/>
          <p:cNvSpPr/>
          <p:nvPr/>
        </p:nvSpPr>
        <p:spPr>
          <a:xfrm>
            <a:off x="548640" y="1481328"/>
            <a:ext cx="3886200" cy="2331720"/>
          </a:xfrm>
          <a:prstGeom prst="rect">
            <a:avLst/>
          </a:prstGeom>
          <a:solidFill>
            <a:srgbClr val="F1F2F4"/>
          </a:solidFill>
          <a:ln/>
        </p:spPr>
      </p:sp>
      <p:sp>
        <p:nvSpPr>
          <p:cNvPr id="7" name="Shape 5"/>
          <p:cNvSpPr/>
          <p:nvPr/>
        </p:nvSpPr>
        <p:spPr>
          <a:xfrm>
            <a:off x="548640" y="1481328"/>
            <a:ext cx="50292" cy="2331720"/>
          </a:xfrm>
          <a:prstGeom prst="rect">
            <a:avLst/>
          </a:prstGeom>
          <a:solidFill>
            <a:srgbClr val="E87722"/>
          </a:solidFill>
          <a:ln/>
        </p:spPr>
      </p:sp>
      <p:sp>
        <p:nvSpPr>
          <p:cNvPr id="8" name="Text 6"/>
          <p:cNvSpPr txBox="1"/>
          <p:nvPr/>
        </p:nvSpPr>
        <p:spPr>
          <a:xfrm>
            <a:off x="786384" y="1645920"/>
            <a:ext cx="3383280" cy="237744"/>
          </a:xfrm>
          <a:prstGeom prst="rect">
            <a:avLst/>
          </a:prstGeom>
          <a:noFill/>
          <a:ln/>
        </p:spPr>
        <p:txBody>
          <a:bodyPr wrap="square" lIns="0" tIns="0" rIns="0" bIns="0" rtlCol="0" anchor="t"/>
          <a:lstStyle/>
          <a:p>
            <a:pPr indent="0" marL="0">
              <a:buNone/>
            </a:pPr>
            <a:r>
              <a:rPr lang="en-US" sz="1350" b="1" dirty="0">
                <a:solidFill>
                  <a:srgbClr val="10243F"/>
                </a:solidFill>
                <a:latin typeface="Calibri" pitchFamily="34" charset="0"/>
                <a:ea typeface="Calibri" pitchFamily="34" charset="-122"/>
                <a:cs typeface="Calibri" pitchFamily="34" charset="-120"/>
              </a:rPr>
              <a:t>L'exemple : brancher une caisse propriétaire</a:t>
            </a:r>
            <a:endParaRPr lang="en-US" sz="1350" dirty="0"/>
          </a:p>
        </p:txBody>
      </p:sp>
      <p:sp>
        <p:nvSpPr>
          <p:cNvPr id="9" name="Text 7"/>
          <p:cNvSpPr txBox="1"/>
          <p:nvPr/>
        </p:nvSpPr>
        <p:spPr>
          <a:xfrm>
            <a:off x="786384" y="1993392"/>
            <a:ext cx="3401568" cy="169164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Une caisse Diebold Nixdorf sous Linux, hors ligne, sans documentation : imprimante, scanner, tiroir, balance, terminal de paiement, lecteur de chèques.</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Protocoles décodés octet par octet, lus dans le bytecode d'un composant constructeur ou dans les symboles d'une bibliothèque native.</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Pour un développeur humain, des mois. Ici, quelques heures par périphérique — cinq jours pour les six.</a:t>
            </a:r>
            <a:endParaRPr lang="en-US" sz="1000" dirty="0"/>
          </a:p>
        </p:txBody>
      </p:sp>
      <p:sp>
        <p:nvSpPr>
          <p:cNvPr id="10" name="Shape 8"/>
          <p:cNvSpPr/>
          <p:nvPr/>
        </p:nvSpPr>
        <p:spPr>
          <a:xfrm>
            <a:off x="4709160" y="1481328"/>
            <a:ext cx="3886200" cy="2331720"/>
          </a:xfrm>
          <a:prstGeom prst="rect">
            <a:avLst/>
          </a:prstGeom>
          <a:solidFill>
            <a:srgbClr val="E4E6E9"/>
          </a:solidFill>
          <a:ln/>
        </p:spPr>
      </p:sp>
      <p:sp>
        <p:nvSpPr>
          <p:cNvPr id="11" name="Shape 9"/>
          <p:cNvSpPr/>
          <p:nvPr/>
        </p:nvSpPr>
        <p:spPr>
          <a:xfrm>
            <a:off x="4709160" y="1481328"/>
            <a:ext cx="50292" cy="2331720"/>
          </a:xfrm>
          <a:prstGeom prst="rect">
            <a:avLst/>
          </a:prstGeom>
          <a:solidFill>
            <a:srgbClr val="E87722"/>
          </a:solidFill>
          <a:ln/>
        </p:spPr>
      </p:sp>
      <p:sp>
        <p:nvSpPr>
          <p:cNvPr id="12" name="Text 10"/>
          <p:cNvSpPr txBox="1"/>
          <p:nvPr/>
        </p:nvSpPr>
        <p:spPr>
          <a:xfrm>
            <a:off x="4946904" y="1645920"/>
            <a:ext cx="3383280" cy="237744"/>
          </a:xfrm>
          <a:prstGeom prst="rect">
            <a:avLst/>
          </a:prstGeom>
          <a:noFill/>
          <a:ln/>
        </p:spPr>
        <p:txBody>
          <a:bodyPr wrap="square" lIns="0" tIns="0" rIns="0" bIns="0" rtlCol="0" anchor="t"/>
          <a:lstStyle/>
          <a:p>
            <a:pPr indent="0" marL="0">
              <a:buNone/>
            </a:pPr>
            <a:r>
              <a:rPr lang="en-US" sz="1350" b="1" dirty="0">
                <a:solidFill>
                  <a:srgbClr val="10243F"/>
                </a:solidFill>
                <a:latin typeface="Calibri" pitchFamily="34" charset="0"/>
                <a:ea typeface="Calibri" pitchFamily="34" charset="-122"/>
                <a:cs typeface="Calibri" pitchFamily="34" charset="-120"/>
              </a:rPr>
              <a:t>Ce que cela signifie</a:t>
            </a:r>
            <a:endParaRPr lang="en-US" sz="1350" dirty="0"/>
          </a:p>
        </p:txBody>
      </p:sp>
      <p:sp>
        <p:nvSpPr>
          <p:cNvPr id="13" name="Text 11"/>
          <p:cNvSpPr txBox="1"/>
          <p:nvPr/>
        </p:nvSpPr>
        <p:spPr>
          <a:xfrm>
            <a:off x="4946904" y="1993392"/>
            <a:ext cx="3401568" cy="169164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On n'est plus dans l'efficacité : on est dans le facteur mille.</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L'alternative humaine n'était pas plus lente, elle était renoncée : ce type de sujet n'était tout simplement pas entrepris.</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La recette suit le même régime : 62 scénarios de bout en bout rejoués au navigateur, en une commande.</a:t>
            </a:r>
            <a:endParaRPr lang="en-US" sz="1000" dirty="0"/>
          </a:p>
        </p:txBody>
      </p:sp>
      <p:sp>
        <p:nvSpPr>
          <p:cNvPr id="14" name="Text 12"/>
          <p:cNvSpPr txBox="1"/>
          <p:nvPr/>
        </p:nvSpPr>
        <p:spPr>
          <a:xfrm>
            <a:off x="548640" y="3977640"/>
            <a:ext cx="8046720" cy="274320"/>
          </a:xfrm>
          <a:prstGeom prst="rect">
            <a:avLst/>
          </a:prstGeom>
          <a:noFill/>
          <a:ln/>
        </p:spPr>
        <p:txBody>
          <a:bodyPr wrap="square" lIns="0" tIns="0" rIns="0" bIns="0" rtlCol="0" anchor="ctr"/>
          <a:lstStyle/>
          <a:p>
            <a:pPr indent="0" marL="0">
              <a:buNone/>
            </a:pPr>
            <a:r>
              <a:rPr lang="en-US" sz="1050" i="1" dirty="0">
                <a:solidFill>
                  <a:srgbClr val="10243F"/>
                </a:solidFill>
                <a:latin typeface="Cambria" pitchFamily="34" charset="0"/>
                <a:ea typeface="Cambria" pitchFamily="34" charset="-122"/>
                <a:cs typeface="Cambria" pitchFamily="34" charset="-120"/>
              </a:rPr>
              <a:t>Sur ce type de sujet, l'IA n'est pas plus efficace : elle est d'une autre nature.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L'ORGANISATION</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Nous allons changer de paradigme</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14</a:t>
            </a:r>
            <a:endParaRPr lang="en-US" sz="850" dirty="0"/>
          </a:p>
        </p:txBody>
      </p:sp>
      <p:pic>
        <p:nvPicPr>
          <p:cNvPr id="5" name="Image 0" descr="paradigme-crop.png">    </p:cNvPr>
          <p:cNvPicPr>
            <a:picLocks noChangeAspect="1"/>
          </p:cNvPicPr>
          <p:nvPr/>
        </p:nvPicPr>
        <p:blipFill>
          <a:blip r:embed="rId1"/>
          <a:stretch>
            <a:fillRect/>
          </a:stretch>
        </p:blipFill>
        <p:spPr>
          <a:xfrm>
            <a:off x="548640" y="1097280"/>
            <a:ext cx="8046720" cy="352958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L'ORGANISATION</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Un chat, c'est une équipe</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15</a:t>
            </a:r>
            <a:endParaRPr lang="en-US" sz="850" dirty="0"/>
          </a:p>
        </p:txBody>
      </p:sp>
      <p:sp>
        <p:nvSpPr>
          <p:cNvPr id="5" name="Text 3"/>
          <p:cNvSpPr txBox="1"/>
          <p:nvPr/>
        </p:nvSpPr>
        <p:spPr>
          <a:xfrm>
            <a:off x="548640" y="1024128"/>
            <a:ext cx="8046720" cy="310896"/>
          </a:xfrm>
          <a:prstGeom prst="rect">
            <a:avLst/>
          </a:prstGeom>
          <a:noFill/>
          <a:ln/>
        </p:spPr>
        <p:txBody>
          <a:bodyPr wrap="square" lIns="0" tIns="0" rIns="0" bIns="0" rtlCol="0" anchor="t"/>
          <a:lstStyle/>
          <a:p>
            <a:pPr indent="0" marL="0">
              <a:lnSpc>
                <a:spcPct val="105000"/>
              </a:lnSpc>
              <a:buNone/>
            </a:pPr>
            <a:r>
              <a:rPr lang="en-US" sz="1050" dirty="0">
                <a:solidFill>
                  <a:srgbClr val="6B7280"/>
                </a:solidFill>
                <a:latin typeface="Cambria" pitchFamily="34" charset="0"/>
                <a:ea typeface="Cambria" pitchFamily="34" charset="-122"/>
                <a:cs typeface="Cambria" pitchFamily="34" charset="-120"/>
              </a:rPr>
              <a:t>La bonne façon de voir les choses : ce qu'on faisait avec des équipes, on peut le refaire avec des chats — et obtenir de meilleurs résultats.</a:t>
            </a:r>
            <a:endParaRPr lang="en-US" sz="1050" dirty="0"/>
          </a:p>
        </p:txBody>
      </p:sp>
      <p:sp>
        <p:nvSpPr>
          <p:cNvPr id="6" name="Shape 4"/>
          <p:cNvSpPr/>
          <p:nvPr/>
        </p:nvSpPr>
        <p:spPr>
          <a:xfrm>
            <a:off x="548640" y="1554480"/>
            <a:ext cx="3886200" cy="2606040"/>
          </a:xfrm>
          <a:prstGeom prst="rect">
            <a:avLst/>
          </a:prstGeom>
          <a:solidFill>
            <a:srgbClr val="F1F2F4"/>
          </a:solidFill>
          <a:ln/>
        </p:spPr>
      </p:sp>
      <p:sp>
        <p:nvSpPr>
          <p:cNvPr id="7" name="Shape 5"/>
          <p:cNvSpPr/>
          <p:nvPr/>
        </p:nvSpPr>
        <p:spPr>
          <a:xfrm>
            <a:off x="548640" y="1554480"/>
            <a:ext cx="50292" cy="2606040"/>
          </a:xfrm>
          <a:prstGeom prst="rect">
            <a:avLst/>
          </a:prstGeom>
          <a:solidFill>
            <a:srgbClr val="E87722"/>
          </a:solidFill>
          <a:ln/>
        </p:spPr>
      </p:sp>
      <p:sp>
        <p:nvSpPr>
          <p:cNvPr id="8" name="Text 6"/>
          <p:cNvSpPr txBox="1"/>
          <p:nvPr/>
        </p:nvSpPr>
        <p:spPr>
          <a:xfrm>
            <a:off x="786384" y="1719072"/>
            <a:ext cx="3383280" cy="237744"/>
          </a:xfrm>
          <a:prstGeom prst="rect">
            <a:avLst/>
          </a:prstGeom>
          <a:noFill/>
          <a:ln/>
        </p:spPr>
        <p:txBody>
          <a:bodyPr wrap="square" lIns="0" tIns="0" rIns="0" bIns="0" rtlCol="0" anchor="t"/>
          <a:lstStyle/>
          <a:p>
            <a:pPr indent="0" marL="0">
              <a:buNone/>
            </a:pPr>
            <a:r>
              <a:rPr lang="en-US" sz="1350" b="1" dirty="0">
                <a:solidFill>
                  <a:srgbClr val="10243F"/>
                </a:solidFill>
                <a:latin typeface="Calibri" pitchFamily="34" charset="0"/>
                <a:ea typeface="Calibri" pitchFamily="34" charset="-122"/>
                <a:cs typeface="Calibri" pitchFamily="34" charset="-120"/>
              </a:rPr>
              <a:t>Les principes</a:t>
            </a:r>
            <a:endParaRPr lang="en-US" sz="1350" dirty="0"/>
          </a:p>
        </p:txBody>
      </p:sp>
      <p:sp>
        <p:nvSpPr>
          <p:cNvPr id="9" name="Text 7"/>
          <p:cNvSpPr txBox="1"/>
          <p:nvPr/>
        </p:nvSpPr>
        <p:spPr>
          <a:xfrm>
            <a:off x="786384" y="2066544"/>
            <a:ext cx="3401568" cy="196596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Une conversation qui connaît une base de code en est l'équipe : elle en porte l'expertise, la mémoire et la responsabilité.</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Le pilote ne gère pas des développeurs : il gère des équipes, comme on gérait des projets.</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Tout ce qui se faisait entre équipes — spécifier une interface, objecter, arbitrer, intégrer — se refait entre chats, sous supervision : en mieux, et en une fraction du temps.</a:t>
            </a:r>
            <a:endParaRPr lang="en-US" sz="1000" dirty="0"/>
          </a:p>
        </p:txBody>
      </p:sp>
      <p:sp>
        <p:nvSpPr>
          <p:cNvPr id="10" name="Shape 8"/>
          <p:cNvSpPr/>
          <p:nvPr/>
        </p:nvSpPr>
        <p:spPr>
          <a:xfrm>
            <a:off x="4709160" y="1554480"/>
            <a:ext cx="3886200" cy="2606040"/>
          </a:xfrm>
          <a:prstGeom prst="rect">
            <a:avLst/>
          </a:prstGeom>
          <a:solidFill>
            <a:srgbClr val="E4E6E9"/>
          </a:solidFill>
          <a:ln/>
        </p:spPr>
      </p:sp>
      <p:sp>
        <p:nvSpPr>
          <p:cNvPr id="11" name="Shape 9"/>
          <p:cNvSpPr/>
          <p:nvPr/>
        </p:nvSpPr>
        <p:spPr>
          <a:xfrm>
            <a:off x="4709160" y="1554480"/>
            <a:ext cx="50292" cy="2606040"/>
          </a:xfrm>
          <a:prstGeom prst="rect">
            <a:avLst/>
          </a:prstGeom>
          <a:solidFill>
            <a:srgbClr val="E87722"/>
          </a:solidFill>
          <a:ln/>
        </p:spPr>
      </p:sp>
      <p:sp>
        <p:nvSpPr>
          <p:cNvPr id="12" name="Text 10"/>
          <p:cNvSpPr txBox="1"/>
          <p:nvPr/>
        </p:nvSpPr>
        <p:spPr>
          <a:xfrm>
            <a:off x="4946904" y="1719072"/>
            <a:ext cx="3383280" cy="237744"/>
          </a:xfrm>
          <a:prstGeom prst="rect">
            <a:avLst/>
          </a:prstGeom>
          <a:noFill/>
          <a:ln/>
        </p:spPr>
        <p:txBody>
          <a:bodyPr wrap="square" lIns="0" tIns="0" rIns="0" bIns="0" rtlCol="0" anchor="t"/>
          <a:lstStyle/>
          <a:p>
            <a:pPr indent="0" marL="0">
              <a:buNone/>
            </a:pPr>
            <a:r>
              <a:rPr lang="en-US" sz="1350" b="1" dirty="0">
                <a:solidFill>
                  <a:srgbClr val="10243F"/>
                </a:solidFill>
                <a:latin typeface="Calibri" pitchFamily="34" charset="0"/>
                <a:ea typeface="Calibri" pitchFamily="34" charset="-122"/>
                <a:cs typeface="Calibri" pitchFamily="34" charset="-120"/>
              </a:rPr>
              <a:t>Ce que cela change pour le développeur</a:t>
            </a:r>
            <a:endParaRPr lang="en-US" sz="1350" dirty="0"/>
          </a:p>
        </p:txBody>
      </p:sp>
      <p:sp>
        <p:nvSpPr>
          <p:cNvPr id="13" name="Text 11"/>
          <p:cNvSpPr txBox="1"/>
          <p:nvPr/>
        </p:nvSpPr>
        <p:spPr>
          <a:xfrm>
            <a:off x="4946904" y="2066544"/>
            <a:ext cx="3401568" cy="196596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On passe d'une équipe par sujet à des micro-équipes de deux ou trois personnes — souvent deux — qui tiennent plusieurs sujets.</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Ce n'est plus cinq personnes sur un sujet : c'est une personne sur cinq sujets.</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Coopération totale, compréhension parfaite des besoins de l'autre, aucun drame ni engagement non tenu : le « One Team » que les coachs agiles n'osaient pas promettre.</a:t>
            </a:r>
            <a:endParaRPr lang="en-US" sz="1000" dirty="0"/>
          </a:p>
        </p:txBody>
      </p:sp>
      <p:sp>
        <p:nvSpPr>
          <p:cNvPr id="14" name="Text 12"/>
          <p:cNvSpPr txBox="1"/>
          <p:nvPr/>
        </p:nvSpPr>
        <p:spPr>
          <a:xfrm>
            <a:off x="548640" y="4297680"/>
            <a:ext cx="8046720" cy="274320"/>
          </a:xfrm>
          <a:prstGeom prst="rect">
            <a:avLst/>
          </a:prstGeom>
          <a:noFill/>
          <a:ln/>
        </p:spPr>
        <p:txBody>
          <a:bodyPr wrap="square" lIns="0" tIns="0" rIns="0" bIns="0" rtlCol="0" anchor="ctr"/>
          <a:lstStyle/>
          <a:p>
            <a:pPr indent="0" marL="0">
              <a:buNone/>
            </a:pPr>
            <a:r>
              <a:rPr lang="en-US" sz="1050" i="1" dirty="0">
                <a:solidFill>
                  <a:srgbClr val="10243F"/>
                </a:solidFill>
                <a:latin typeface="Cambria" pitchFamily="34" charset="0"/>
                <a:ea typeface="Cambria" pitchFamily="34" charset="-122"/>
                <a:cs typeface="Cambria" pitchFamily="34" charset="-120"/>
              </a:rPr>
              <a:t>L'intégration entre systèmes, d'habitude source de tensions et de retards, devient un travail presque anecdotique.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LE FACTEUR LIMITANT</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Ce qui borne la vitesse, c'est la validation humaine</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17</a:t>
            </a:r>
            <a:endParaRPr lang="en-US" sz="850" dirty="0"/>
          </a:p>
        </p:txBody>
      </p:sp>
      <p:sp>
        <p:nvSpPr>
          <p:cNvPr id="5" name="Shape 3"/>
          <p:cNvSpPr/>
          <p:nvPr/>
        </p:nvSpPr>
        <p:spPr>
          <a:xfrm>
            <a:off x="548640" y="1060704"/>
            <a:ext cx="8046720" cy="1298448"/>
          </a:xfrm>
          <a:prstGeom prst="rect">
            <a:avLst/>
          </a:prstGeom>
          <a:solidFill>
            <a:srgbClr val="E4E6E9"/>
          </a:solidFill>
          <a:ln/>
        </p:spPr>
      </p:sp>
      <p:sp>
        <p:nvSpPr>
          <p:cNvPr id="6" name="Shape 4"/>
          <p:cNvSpPr/>
          <p:nvPr/>
        </p:nvSpPr>
        <p:spPr>
          <a:xfrm>
            <a:off x="548640" y="1060704"/>
            <a:ext cx="50292" cy="1298448"/>
          </a:xfrm>
          <a:prstGeom prst="rect">
            <a:avLst/>
          </a:prstGeom>
          <a:solidFill>
            <a:srgbClr val="E87722"/>
          </a:solidFill>
          <a:ln/>
        </p:spPr>
      </p:sp>
      <p:sp>
        <p:nvSpPr>
          <p:cNvPr id="7" name="Text 5"/>
          <p:cNvSpPr txBox="1"/>
          <p:nvPr/>
        </p:nvSpPr>
        <p:spPr>
          <a:xfrm>
            <a:off x="786384" y="1207008"/>
            <a:ext cx="7589520" cy="237744"/>
          </a:xfrm>
          <a:prstGeom prst="rect">
            <a:avLst/>
          </a:prstGeom>
          <a:noFill/>
          <a:ln/>
        </p:spPr>
        <p:txBody>
          <a:bodyPr wrap="square" lIns="0" tIns="0" rIns="0" bIns="0" rtlCol="0" anchor="t"/>
          <a:lstStyle/>
          <a:p>
            <a:pPr indent="0" marL="0">
              <a:buNone/>
            </a:pPr>
            <a:r>
              <a:rPr lang="en-US" sz="1300" b="1" dirty="0">
                <a:solidFill>
                  <a:srgbClr val="10243F"/>
                </a:solidFill>
                <a:latin typeface="Calibri" pitchFamily="34" charset="0"/>
                <a:ea typeface="Calibri" pitchFamily="34" charset="-122"/>
                <a:cs typeface="Calibri" pitchFamily="34" charset="-120"/>
              </a:rPr>
              <a:t>C'est l'humain qui ralentit le système</a:t>
            </a:r>
            <a:endParaRPr lang="en-US" sz="1300" dirty="0"/>
          </a:p>
        </p:txBody>
      </p:sp>
      <p:sp>
        <p:nvSpPr>
          <p:cNvPr id="8" name="Text 6"/>
          <p:cNvSpPr txBox="1"/>
          <p:nvPr/>
        </p:nvSpPr>
        <p:spPr>
          <a:xfrm>
            <a:off x="786384" y="1481328"/>
            <a:ext cx="7589520" cy="841248"/>
          </a:xfrm>
          <a:prstGeom prst="rect">
            <a:avLst/>
          </a:prstGeom>
          <a:noFill/>
          <a:ln/>
        </p:spPr>
        <p:txBody>
          <a:bodyPr wrap="square" lIns="0" tIns="0" rIns="0" bIns="0" rtlCol="0" anchor="t"/>
          <a:lstStyle/>
          <a:p>
            <a:pPr indent="0" marL="0">
              <a:lnSpc>
                <a:spcPct val="105000"/>
              </a:lnSpc>
              <a:buNone/>
            </a:pPr>
            <a:r>
              <a:rPr lang="en-US" sz="1000" dirty="0">
                <a:solidFill>
                  <a:srgbClr val="1E2A38"/>
                </a:solidFill>
                <a:latin typeface="Cambria" pitchFamily="34" charset="0"/>
                <a:ea typeface="Cambria" pitchFamily="34" charset="-122"/>
                <a:cs typeface="Cambria" pitchFamily="34" charset="-120"/>
              </a:rPr>
              <a:t>Sans lui dans la boucle, on serait très au-delà de ×20 ou ×50. C'est donc lui — sa relecture, sa validation — qu'il faut optimiser. Or les pratiques d'aujourd'hui sont extrêmement chronophages : on produit, on relit, on discute, on recommence. Appliquées à l'IA, elles détruisent une grande part du gain. On ne gère pas un projet avec l'IA comme on gérait un projet avant : ce n'est pas « la même chose, plus vite », c'est tout à réimaginer.</a:t>
            </a:r>
            <a:endParaRPr lang="en-US" sz="1000" dirty="0"/>
          </a:p>
        </p:txBody>
      </p:sp>
      <p:sp>
        <p:nvSpPr>
          <p:cNvPr id="9" name="Text 7"/>
          <p:cNvSpPr txBox="1"/>
          <p:nvPr/>
        </p:nvSpPr>
        <p:spPr>
          <a:xfrm>
            <a:off x="548640" y="2523744"/>
            <a:ext cx="8046720" cy="182880"/>
          </a:xfrm>
          <a:prstGeom prst="rect">
            <a:avLst/>
          </a:prstGeom>
          <a:noFill/>
          <a:ln/>
        </p:spPr>
        <p:txBody>
          <a:bodyPr wrap="square" lIns="0" tIns="0" rIns="0" bIns="0" rtlCol="0" anchor="ctr"/>
          <a:lstStyle/>
          <a:p>
            <a:pPr indent="0" marL="0">
              <a:buNone/>
            </a:pPr>
            <a:r>
              <a:rPr lang="en-US" sz="800" b="1" spc="150" kern="0" dirty="0">
                <a:solidFill>
                  <a:srgbClr val="E87722"/>
                </a:solidFill>
                <a:latin typeface="Calibri" pitchFamily="34" charset="0"/>
                <a:ea typeface="Calibri" pitchFamily="34" charset="-122"/>
                <a:cs typeface="Calibri" pitchFamily="34" charset="-120"/>
              </a:rPr>
              <a:t>MA MÉTHODE</a:t>
            </a:r>
            <a:endParaRPr lang="en-US" sz="800" dirty="0"/>
          </a:p>
        </p:txBody>
      </p:sp>
      <p:sp>
        <p:nvSpPr>
          <p:cNvPr id="10" name="Shape 8"/>
          <p:cNvSpPr/>
          <p:nvPr/>
        </p:nvSpPr>
        <p:spPr>
          <a:xfrm>
            <a:off x="548640" y="2743200"/>
            <a:ext cx="2606040" cy="1554480"/>
          </a:xfrm>
          <a:prstGeom prst="rect">
            <a:avLst/>
          </a:prstGeom>
          <a:solidFill>
            <a:srgbClr val="F1F2F4"/>
          </a:solidFill>
          <a:ln/>
        </p:spPr>
      </p:sp>
      <p:sp>
        <p:nvSpPr>
          <p:cNvPr id="11" name="Shape 9"/>
          <p:cNvSpPr/>
          <p:nvPr/>
        </p:nvSpPr>
        <p:spPr>
          <a:xfrm>
            <a:off x="548640" y="2743200"/>
            <a:ext cx="50292" cy="1554480"/>
          </a:xfrm>
          <a:prstGeom prst="rect">
            <a:avLst/>
          </a:prstGeom>
          <a:solidFill>
            <a:srgbClr val="E87722"/>
          </a:solidFill>
          <a:ln/>
        </p:spPr>
      </p:sp>
      <p:sp>
        <p:nvSpPr>
          <p:cNvPr id="12" name="Shape 10"/>
          <p:cNvSpPr/>
          <p:nvPr/>
        </p:nvSpPr>
        <p:spPr>
          <a:xfrm>
            <a:off x="749808" y="2871216"/>
            <a:ext cx="274320" cy="274320"/>
          </a:xfrm>
          <a:prstGeom prst="ellipse">
            <a:avLst/>
          </a:prstGeom>
          <a:solidFill>
            <a:srgbClr val="E87722"/>
          </a:solidFill>
          <a:ln/>
        </p:spPr>
      </p:sp>
      <p:sp>
        <p:nvSpPr>
          <p:cNvPr id="13" name="Text 11"/>
          <p:cNvSpPr txBox="1"/>
          <p:nvPr/>
        </p:nvSpPr>
        <p:spPr>
          <a:xfrm>
            <a:off x="749808" y="28712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2"/>
          <p:cNvSpPr txBox="1"/>
          <p:nvPr/>
        </p:nvSpPr>
        <p:spPr>
          <a:xfrm>
            <a:off x="749808" y="3218688"/>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Gros blocs, validation personnelle</a:t>
            </a:r>
            <a:endParaRPr lang="en-US" sz="1100" dirty="0"/>
          </a:p>
        </p:txBody>
      </p:sp>
      <p:sp>
        <p:nvSpPr>
          <p:cNvPr id="15" name="Text 13"/>
          <p:cNvSpPr txBox="1"/>
          <p:nvPr/>
        </p:nvSpPr>
        <p:spPr>
          <a:xfrm>
            <a:off x="749808" y="3493008"/>
            <a:ext cx="2240280" cy="777240"/>
          </a:xfrm>
          <a:prstGeom prst="rect">
            <a:avLst/>
          </a:prstGeom>
          <a:noFill/>
          <a:ln/>
        </p:spPr>
        <p:txBody>
          <a:bodyPr wrap="square" lIns="0" tIns="0" rIns="0" bIns="0" rtlCol="0" anchor="t"/>
          <a:lstStyle/>
          <a:p>
            <a:pPr indent="0" marL="0">
              <a:lnSpc>
                <a:spcPct val="105000"/>
              </a:lnSpc>
              <a:buNone/>
            </a:pPr>
            <a:r>
              <a:rPr lang="en-US" sz="940" dirty="0">
                <a:solidFill>
                  <a:srgbClr val="6B7280"/>
                </a:solidFill>
                <a:latin typeface="Cambria" pitchFamily="34" charset="0"/>
                <a:ea typeface="Cambria" pitchFamily="34" charset="-122"/>
                <a:cs typeface="Cambria" pitchFamily="34" charset="-120"/>
              </a:rPr>
              <a:t>On fait produire un bloc entier, puis on le vérifie en le faisant marcher. Ce n'est pas du débogage : c'est constater que ça fonctionne.</a:t>
            </a:r>
            <a:endParaRPr lang="en-US" sz="940" dirty="0"/>
          </a:p>
        </p:txBody>
      </p:sp>
      <p:sp>
        <p:nvSpPr>
          <p:cNvPr id="16" name="Shape 14"/>
          <p:cNvSpPr/>
          <p:nvPr/>
        </p:nvSpPr>
        <p:spPr>
          <a:xfrm>
            <a:off x="3268980" y="2743200"/>
            <a:ext cx="2606040" cy="1554480"/>
          </a:xfrm>
          <a:prstGeom prst="rect">
            <a:avLst/>
          </a:prstGeom>
          <a:solidFill>
            <a:srgbClr val="F1F2F4"/>
          </a:solidFill>
          <a:ln/>
        </p:spPr>
      </p:sp>
      <p:sp>
        <p:nvSpPr>
          <p:cNvPr id="17" name="Shape 15"/>
          <p:cNvSpPr/>
          <p:nvPr/>
        </p:nvSpPr>
        <p:spPr>
          <a:xfrm>
            <a:off x="3268980" y="2743200"/>
            <a:ext cx="50292" cy="1554480"/>
          </a:xfrm>
          <a:prstGeom prst="rect">
            <a:avLst/>
          </a:prstGeom>
          <a:solidFill>
            <a:srgbClr val="E87722"/>
          </a:solidFill>
          <a:ln/>
        </p:spPr>
      </p:sp>
      <p:sp>
        <p:nvSpPr>
          <p:cNvPr id="18" name="Shape 16"/>
          <p:cNvSpPr/>
          <p:nvPr/>
        </p:nvSpPr>
        <p:spPr>
          <a:xfrm>
            <a:off x="3470148" y="2871216"/>
            <a:ext cx="274320" cy="274320"/>
          </a:xfrm>
          <a:prstGeom prst="ellipse">
            <a:avLst/>
          </a:prstGeom>
          <a:solidFill>
            <a:srgbClr val="E87722"/>
          </a:solidFill>
          <a:ln/>
        </p:spPr>
      </p:sp>
      <p:sp>
        <p:nvSpPr>
          <p:cNvPr id="19" name="Text 17"/>
          <p:cNvSpPr txBox="1"/>
          <p:nvPr/>
        </p:nvSpPr>
        <p:spPr>
          <a:xfrm>
            <a:off x="3470148" y="28712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0" name="Text 18"/>
          <p:cNvSpPr txBox="1"/>
          <p:nvPr/>
        </p:nvSpPr>
        <p:spPr>
          <a:xfrm>
            <a:off x="3470148" y="3218688"/>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Figer l'état par les tests</a:t>
            </a:r>
            <a:endParaRPr lang="en-US" sz="1100" dirty="0"/>
          </a:p>
        </p:txBody>
      </p:sp>
      <p:sp>
        <p:nvSpPr>
          <p:cNvPr id="21" name="Text 19"/>
          <p:cNvSpPr txBox="1"/>
          <p:nvPr/>
        </p:nvSpPr>
        <p:spPr>
          <a:xfrm>
            <a:off x="3470148" y="3493008"/>
            <a:ext cx="2240280" cy="777240"/>
          </a:xfrm>
          <a:prstGeom prst="rect">
            <a:avLst/>
          </a:prstGeom>
          <a:noFill/>
          <a:ln/>
        </p:spPr>
        <p:txBody>
          <a:bodyPr wrap="square" lIns="0" tIns="0" rIns="0" bIns="0" rtlCol="0" anchor="t"/>
          <a:lstStyle/>
          <a:p>
            <a:pPr indent="0" marL="0">
              <a:lnSpc>
                <a:spcPct val="105000"/>
              </a:lnSpc>
              <a:buNone/>
            </a:pPr>
            <a:r>
              <a:rPr lang="en-US" sz="940" dirty="0">
                <a:solidFill>
                  <a:srgbClr val="6B7280"/>
                </a:solidFill>
                <a:latin typeface="Cambria" pitchFamily="34" charset="0"/>
                <a:ea typeface="Cambria" pitchFamily="34" charset="-122"/>
                <a:cs typeface="Cambria" pitchFamily="34" charset="-120"/>
              </a:rPr>
              <a:t>Une fois le bloc validé, on fait écrire les tests — unitaires et de bout en bout — qui fixent ce bon fonctionnement et se rejouent à volonté.</a:t>
            </a:r>
            <a:endParaRPr lang="en-US" sz="940" dirty="0"/>
          </a:p>
        </p:txBody>
      </p:sp>
      <p:sp>
        <p:nvSpPr>
          <p:cNvPr id="22" name="Shape 20"/>
          <p:cNvSpPr/>
          <p:nvPr/>
        </p:nvSpPr>
        <p:spPr>
          <a:xfrm>
            <a:off x="5989320" y="2743200"/>
            <a:ext cx="2606040" cy="1554480"/>
          </a:xfrm>
          <a:prstGeom prst="rect">
            <a:avLst/>
          </a:prstGeom>
          <a:solidFill>
            <a:srgbClr val="F1F2F4"/>
          </a:solidFill>
          <a:ln/>
        </p:spPr>
      </p:sp>
      <p:sp>
        <p:nvSpPr>
          <p:cNvPr id="23" name="Shape 21"/>
          <p:cNvSpPr/>
          <p:nvPr/>
        </p:nvSpPr>
        <p:spPr>
          <a:xfrm>
            <a:off x="5989320" y="2743200"/>
            <a:ext cx="50292" cy="1554480"/>
          </a:xfrm>
          <a:prstGeom prst="rect">
            <a:avLst/>
          </a:prstGeom>
          <a:solidFill>
            <a:srgbClr val="E87722"/>
          </a:solidFill>
          <a:ln/>
        </p:spPr>
      </p:sp>
      <p:sp>
        <p:nvSpPr>
          <p:cNvPr id="24" name="Shape 22"/>
          <p:cNvSpPr/>
          <p:nvPr/>
        </p:nvSpPr>
        <p:spPr>
          <a:xfrm>
            <a:off x="6190488" y="2871216"/>
            <a:ext cx="274320" cy="274320"/>
          </a:xfrm>
          <a:prstGeom prst="ellipse">
            <a:avLst/>
          </a:prstGeom>
          <a:solidFill>
            <a:srgbClr val="E87722"/>
          </a:solidFill>
          <a:ln/>
        </p:spPr>
      </p:sp>
      <p:sp>
        <p:nvSpPr>
          <p:cNvPr id="25" name="Text 23"/>
          <p:cNvSpPr txBox="1"/>
          <p:nvPr/>
        </p:nvSpPr>
        <p:spPr>
          <a:xfrm>
            <a:off x="6190488" y="28712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4"/>
          <p:cNvSpPr txBox="1"/>
          <p:nvPr/>
        </p:nvSpPr>
        <p:spPr>
          <a:xfrm>
            <a:off x="6190488" y="3218688"/>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Faire confiance au filet</a:t>
            </a:r>
            <a:endParaRPr lang="en-US" sz="1100" dirty="0"/>
          </a:p>
        </p:txBody>
      </p:sp>
      <p:sp>
        <p:nvSpPr>
          <p:cNvPr id="27" name="Text 25"/>
          <p:cNvSpPr txBox="1"/>
          <p:nvPr/>
        </p:nvSpPr>
        <p:spPr>
          <a:xfrm>
            <a:off x="6190488" y="3493008"/>
            <a:ext cx="2240280" cy="777240"/>
          </a:xfrm>
          <a:prstGeom prst="rect">
            <a:avLst/>
          </a:prstGeom>
          <a:noFill/>
          <a:ln/>
        </p:spPr>
        <p:txBody>
          <a:bodyPr wrap="square" lIns="0" tIns="0" rIns="0" bIns="0" rtlCol="0" anchor="t"/>
          <a:lstStyle/>
          <a:p>
            <a:pPr indent="0" marL="0">
              <a:lnSpc>
                <a:spcPct val="105000"/>
              </a:lnSpc>
              <a:buNone/>
            </a:pPr>
            <a:r>
              <a:rPr lang="en-US" sz="940" dirty="0">
                <a:solidFill>
                  <a:srgbClr val="6B7280"/>
                </a:solidFill>
                <a:latin typeface="Cambria" pitchFamily="34" charset="0"/>
                <a:ea typeface="Cambria" pitchFamily="34" charset="-122"/>
                <a:cs typeface="Cambria" pitchFamily="34" charset="-120"/>
              </a:rPr>
              <a:t>On ne repasse plus sur l'ancien : les validations suivantes ne portent que sur le nouveau. Plus ciblées, donc bien moins chronophages. Ça marche extrêmement bien.</a:t>
            </a:r>
            <a:endParaRPr lang="en-US" sz="940" dirty="0"/>
          </a:p>
        </p:txBody>
      </p:sp>
      <p:sp>
        <p:nvSpPr>
          <p:cNvPr id="28" name="Text 26"/>
          <p:cNvSpPr txBox="1"/>
          <p:nvPr/>
        </p:nvSpPr>
        <p:spPr>
          <a:xfrm>
            <a:off x="548640" y="4443984"/>
            <a:ext cx="8046720" cy="274320"/>
          </a:xfrm>
          <a:prstGeom prst="rect">
            <a:avLst/>
          </a:prstGeom>
          <a:noFill/>
          <a:ln/>
        </p:spPr>
        <p:txBody>
          <a:bodyPr wrap="square" lIns="0" tIns="0" rIns="0" bIns="0" rtlCol="0" anchor="ctr"/>
          <a:lstStyle/>
          <a:p>
            <a:pPr indent="0" marL="0">
              <a:buNone/>
            </a:pPr>
            <a:r>
              <a:rPr lang="en-US" sz="1050" i="1" dirty="0">
                <a:solidFill>
                  <a:srgbClr val="10243F"/>
                </a:solidFill>
                <a:latin typeface="Cambria" pitchFamily="34" charset="0"/>
                <a:ea typeface="Cambria" pitchFamily="34" charset="-122"/>
                <a:cs typeface="Cambria" pitchFamily="34" charset="-120"/>
              </a:rPr>
              <a:t>Plus la machine produit vite, plus le filet prend de la valeur : c'est le seul investissement qui suit l'accélération.</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DEUX USAGES</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Chat et agentique servent à des choses différentes</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18</a:t>
            </a:r>
            <a:endParaRPr lang="en-US" sz="850" dirty="0"/>
          </a:p>
        </p:txBody>
      </p:sp>
      <p:sp>
        <p:nvSpPr>
          <p:cNvPr id="5" name="Shape 3"/>
          <p:cNvSpPr/>
          <p:nvPr/>
        </p:nvSpPr>
        <p:spPr>
          <a:xfrm>
            <a:off x="548640" y="1188720"/>
            <a:ext cx="3886200" cy="2926080"/>
          </a:xfrm>
          <a:prstGeom prst="rect">
            <a:avLst/>
          </a:prstGeom>
          <a:solidFill>
            <a:srgbClr val="F1F2F4"/>
          </a:solidFill>
          <a:ln/>
        </p:spPr>
      </p:sp>
      <p:sp>
        <p:nvSpPr>
          <p:cNvPr id="6" name="Shape 4"/>
          <p:cNvSpPr/>
          <p:nvPr/>
        </p:nvSpPr>
        <p:spPr>
          <a:xfrm>
            <a:off x="548640" y="1188720"/>
            <a:ext cx="50292" cy="2926080"/>
          </a:xfrm>
          <a:prstGeom prst="rect">
            <a:avLst/>
          </a:prstGeom>
          <a:solidFill>
            <a:srgbClr val="E87722"/>
          </a:solidFill>
          <a:ln/>
        </p:spPr>
      </p:sp>
      <p:sp>
        <p:nvSpPr>
          <p:cNvPr id="7" name="Text 5"/>
          <p:cNvSpPr txBox="1"/>
          <p:nvPr/>
        </p:nvSpPr>
        <p:spPr>
          <a:xfrm>
            <a:off x="786384" y="1353312"/>
            <a:ext cx="3383280" cy="237744"/>
          </a:xfrm>
          <a:prstGeom prst="rect">
            <a:avLst/>
          </a:prstGeom>
          <a:noFill/>
          <a:ln/>
        </p:spPr>
        <p:txBody>
          <a:bodyPr wrap="square" lIns="0" tIns="0" rIns="0" bIns="0" rtlCol="0" anchor="t"/>
          <a:lstStyle/>
          <a:p>
            <a:pPr indent="0" marL="0">
              <a:buNone/>
            </a:pPr>
            <a:r>
              <a:rPr lang="en-US" sz="1350" b="1" dirty="0">
                <a:solidFill>
                  <a:srgbClr val="10243F"/>
                </a:solidFill>
                <a:latin typeface="Calibri" pitchFamily="34" charset="0"/>
                <a:ea typeface="Calibri" pitchFamily="34" charset="-122"/>
                <a:cs typeface="Calibri" pitchFamily="34" charset="-120"/>
              </a:rPr>
              <a:t>Le chat : cadrer</a:t>
            </a:r>
            <a:endParaRPr lang="en-US" sz="1350" dirty="0"/>
          </a:p>
        </p:txBody>
      </p:sp>
      <p:sp>
        <p:nvSpPr>
          <p:cNvPr id="8" name="Text 6"/>
          <p:cNvSpPr txBox="1"/>
          <p:nvPr/>
        </p:nvSpPr>
        <p:spPr>
          <a:xfrm>
            <a:off x="786384" y="1645920"/>
            <a:ext cx="3383280" cy="640080"/>
          </a:xfrm>
          <a:prstGeom prst="rect">
            <a:avLst/>
          </a:prstGeom>
          <a:noFill/>
          <a:ln/>
        </p:spPr>
        <p:txBody>
          <a:bodyPr wrap="square" lIns="0" tIns="0" rIns="0" bIns="0" rtlCol="0" anchor="t"/>
          <a:lstStyle/>
          <a:p>
            <a:pPr indent="0" marL="0">
              <a:lnSpc>
                <a:spcPct val="105000"/>
              </a:lnSpc>
              <a:buNone/>
            </a:pPr>
            <a:r>
              <a:rPr lang="en-US" sz="1000" dirty="0">
                <a:solidFill>
                  <a:srgbClr val="6B7280"/>
                </a:solidFill>
                <a:latin typeface="Cambria" pitchFamily="34" charset="0"/>
                <a:ea typeface="Cambria" pitchFamily="34" charset="-122"/>
                <a:cs typeface="Cambria" pitchFamily="34" charset="-120"/>
              </a:rPr>
              <a:t>Pour l'opérateur humain — expliquer ce qu'il veut, se faire challenger, se faire comprendre. C'est là que se cadre ce qu'on va faire.</a:t>
            </a:r>
            <a:endParaRPr lang="en-US" sz="1000" dirty="0"/>
          </a:p>
        </p:txBody>
      </p:sp>
      <p:sp>
        <p:nvSpPr>
          <p:cNvPr id="9" name="Text 7"/>
          <p:cNvSpPr txBox="1"/>
          <p:nvPr/>
        </p:nvSpPr>
        <p:spPr>
          <a:xfrm>
            <a:off x="786384" y="2340864"/>
            <a:ext cx="3401568" cy="164592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Boucle courte, correction immédiate.</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Le lieu où la spécification se construit.</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Une classe entièrement testée en une à deux minutes.</a:t>
            </a:r>
            <a:endParaRPr lang="en-US" sz="1000" dirty="0"/>
          </a:p>
        </p:txBody>
      </p:sp>
      <p:sp>
        <p:nvSpPr>
          <p:cNvPr id="10" name="Shape 8"/>
          <p:cNvSpPr/>
          <p:nvPr/>
        </p:nvSpPr>
        <p:spPr>
          <a:xfrm>
            <a:off x="4709160" y="1188720"/>
            <a:ext cx="3886200" cy="2926080"/>
          </a:xfrm>
          <a:prstGeom prst="rect">
            <a:avLst/>
          </a:prstGeom>
          <a:solidFill>
            <a:srgbClr val="E4E6E9"/>
          </a:solidFill>
          <a:ln/>
        </p:spPr>
      </p:sp>
      <p:sp>
        <p:nvSpPr>
          <p:cNvPr id="11" name="Shape 9"/>
          <p:cNvSpPr/>
          <p:nvPr/>
        </p:nvSpPr>
        <p:spPr>
          <a:xfrm>
            <a:off x="4709160" y="1188720"/>
            <a:ext cx="50292" cy="2926080"/>
          </a:xfrm>
          <a:prstGeom prst="rect">
            <a:avLst/>
          </a:prstGeom>
          <a:solidFill>
            <a:srgbClr val="E87722"/>
          </a:solidFill>
          <a:ln/>
        </p:spPr>
      </p:sp>
      <p:sp>
        <p:nvSpPr>
          <p:cNvPr id="12" name="Text 10"/>
          <p:cNvSpPr txBox="1"/>
          <p:nvPr/>
        </p:nvSpPr>
        <p:spPr>
          <a:xfrm>
            <a:off x="4946904" y="1353312"/>
            <a:ext cx="3383280" cy="237744"/>
          </a:xfrm>
          <a:prstGeom prst="rect">
            <a:avLst/>
          </a:prstGeom>
          <a:noFill/>
          <a:ln/>
        </p:spPr>
        <p:txBody>
          <a:bodyPr wrap="square" lIns="0" tIns="0" rIns="0" bIns="0" rtlCol="0" anchor="t"/>
          <a:lstStyle/>
          <a:p>
            <a:pPr indent="0" marL="0">
              <a:buNone/>
            </a:pPr>
            <a:r>
              <a:rPr lang="en-US" sz="1350" b="1" dirty="0">
                <a:solidFill>
                  <a:srgbClr val="10243F"/>
                </a:solidFill>
                <a:latin typeface="Calibri" pitchFamily="34" charset="0"/>
                <a:ea typeface="Calibri" pitchFamily="34" charset="-122"/>
                <a:cs typeface="Calibri" pitchFamily="34" charset="-120"/>
              </a:rPr>
              <a:t>L'agentique : faire travailler sans être devant</a:t>
            </a:r>
            <a:endParaRPr lang="en-US" sz="1350" dirty="0"/>
          </a:p>
        </p:txBody>
      </p:sp>
      <p:sp>
        <p:nvSpPr>
          <p:cNvPr id="13" name="Text 11"/>
          <p:cNvSpPr txBox="1"/>
          <p:nvPr/>
        </p:nvSpPr>
        <p:spPr>
          <a:xfrm>
            <a:off x="4946904" y="1645920"/>
            <a:ext cx="3383280" cy="640080"/>
          </a:xfrm>
          <a:prstGeom prst="rect">
            <a:avLst/>
          </a:prstGeom>
          <a:noFill/>
          <a:ln/>
        </p:spPr>
        <p:txBody>
          <a:bodyPr wrap="square" lIns="0" tIns="0" rIns="0" bIns="0" rtlCol="0" anchor="t"/>
          <a:lstStyle/>
          <a:p>
            <a:pPr indent="0" marL="0">
              <a:lnSpc>
                <a:spcPct val="105000"/>
              </a:lnSpc>
              <a:buNone/>
            </a:pPr>
            <a:r>
              <a:rPr lang="en-US" sz="1000" dirty="0">
                <a:solidFill>
                  <a:srgbClr val="6B7280"/>
                </a:solidFill>
                <a:latin typeface="Cambria" pitchFamily="34" charset="0"/>
                <a:ea typeface="Cambria" pitchFamily="34" charset="-122"/>
                <a:cs typeface="Cambria" pitchFamily="34" charset="-120"/>
              </a:rPr>
              <a:t>Pour les tâches qui ne méritent pas qu'on s'y implique autant.</a:t>
            </a:r>
            <a:endParaRPr lang="en-US" sz="1000" dirty="0"/>
          </a:p>
        </p:txBody>
      </p:sp>
      <p:sp>
        <p:nvSpPr>
          <p:cNvPr id="14" name="Text 12"/>
          <p:cNvSpPr txBox="1"/>
          <p:nvPr/>
        </p:nvSpPr>
        <p:spPr>
          <a:xfrm>
            <a:off x="4946904" y="2340864"/>
            <a:ext cx="3401568" cy="164592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Écrire les tests.</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Écrire la documentation.</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À partir d'une spécification bien ficelée, écrire la première version d'une application.</a:t>
            </a:r>
            <a:endParaRPr lang="en-US" sz="1000" dirty="0"/>
          </a:p>
          <a:p>
            <a:pPr marL="127000" indent="-127000">
              <a:lnSpc>
                <a:spcPct val="105000"/>
              </a:lnSpc>
              <a:spcAft>
                <a:spcPts val="500"/>
              </a:spcAft>
              <a:buSzPct val="100000"/>
              <a:buChar char="•"/>
            </a:pPr>
            <a:r>
              <a:rPr lang="en-US" sz="1000" dirty="0">
                <a:solidFill>
                  <a:srgbClr val="1E2A38"/>
                </a:solidFill>
                <a:latin typeface="Cambria" pitchFamily="34" charset="0"/>
                <a:ea typeface="Cambria" pitchFamily="34" charset="-122"/>
                <a:cs typeface="Cambria" pitchFamily="34" charset="-120"/>
              </a:rPr>
              <a:t>Mais un harnais encore rustique et fragile : permissions, veille de la machine, verrous. Le chat, lui, n'est pas perturbé.</a:t>
            </a:r>
            <a:endParaRPr lang="en-US" sz="1000" dirty="0"/>
          </a:p>
        </p:txBody>
      </p:sp>
      <p:sp>
        <p:nvSpPr>
          <p:cNvPr id="15" name="Text 13"/>
          <p:cNvSpPr txBox="1"/>
          <p:nvPr/>
        </p:nvSpPr>
        <p:spPr>
          <a:xfrm>
            <a:off x="548640" y="4297680"/>
            <a:ext cx="8046720" cy="274320"/>
          </a:xfrm>
          <a:prstGeom prst="rect">
            <a:avLst/>
          </a:prstGeom>
          <a:noFill/>
          <a:ln/>
        </p:spPr>
        <p:txBody>
          <a:bodyPr wrap="square" lIns="0" tIns="0" rIns="0" bIns="0" rtlCol="0" anchor="ctr"/>
          <a:lstStyle/>
          <a:p>
            <a:pPr indent="0" marL="0">
              <a:buNone/>
            </a:pPr>
            <a:r>
              <a:rPr lang="en-US" sz="1050" i="1" dirty="0">
                <a:solidFill>
                  <a:srgbClr val="10243F"/>
                </a:solidFill>
                <a:latin typeface="Cambria" pitchFamily="34" charset="0"/>
                <a:ea typeface="Cambria" pitchFamily="34" charset="-122"/>
                <a:cs typeface="Cambria" pitchFamily="34" charset="-120"/>
              </a:rPr>
              <a:t>L'un prépare, l'autre exécute : c'est le couple qui fait le rendement.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LES COÛTS</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Ce que l'IA coûte, ce qu'elle fait économiser</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20</a:t>
            </a:r>
            <a:endParaRPr lang="en-US" sz="850" dirty="0"/>
          </a:p>
        </p:txBody>
      </p:sp>
      <p:sp>
        <p:nvSpPr>
          <p:cNvPr id="5" name="Text 3"/>
          <p:cNvSpPr txBox="1"/>
          <p:nvPr/>
        </p:nvSpPr>
        <p:spPr>
          <a:xfrm>
            <a:off x="548640" y="1024128"/>
            <a:ext cx="8046720" cy="310896"/>
          </a:xfrm>
          <a:prstGeom prst="rect">
            <a:avLst/>
          </a:prstGeom>
          <a:noFill/>
          <a:ln/>
        </p:spPr>
        <p:txBody>
          <a:bodyPr wrap="square" lIns="0" tIns="0" rIns="0" bIns="0" rtlCol="0" anchor="t"/>
          <a:lstStyle/>
          <a:p>
            <a:pPr indent="0" marL="0">
              <a:lnSpc>
                <a:spcPct val="105000"/>
              </a:lnSpc>
              <a:buNone/>
            </a:pPr>
            <a:r>
              <a:rPr lang="en-US" sz="1050" dirty="0">
                <a:solidFill>
                  <a:srgbClr val="6B7280"/>
                </a:solidFill>
                <a:latin typeface="Cambria" pitchFamily="34" charset="0"/>
                <a:ea typeface="Cambria" pitchFamily="34" charset="-122"/>
                <a:cs typeface="Cambria" pitchFamily="34" charset="-120"/>
              </a:rPr>
              <a:t>Ordres de grandeur, à l'échelle d'un pilote équipé. Les tarifs bougent vite ; les proportions, non.</a:t>
            </a:r>
            <a:endParaRPr lang="en-US" sz="1050" dirty="0"/>
          </a:p>
        </p:txBody>
      </p:sp>
      <p:sp>
        <p:nvSpPr>
          <p:cNvPr id="6" name="Shape 4"/>
          <p:cNvSpPr/>
          <p:nvPr/>
        </p:nvSpPr>
        <p:spPr>
          <a:xfrm>
            <a:off x="548640" y="1481328"/>
            <a:ext cx="1920240" cy="1783080"/>
          </a:xfrm>
          <a:prstGeom prst="rect">
            <a:avLst/>
          </a:prstGeom>
          <a:solidFill>
            <a:srgbClr val="F1F2F4"/>
          </a:solidFill>
          <a:ln/>
        </p:spPr>
      </p:sp>
      <p:sp>
        <p:nvSpPr>
          <p:cNvPr id="7" name="Shape 5"/>
          <p:cNvSpPr/>
          <p:nvPr/>
        </p:nvSpPr>
        <p:spPr>
          <a:xfrm>
            <a:off x="548640" y="1481328"/>
            <a:ext cx="50292" cy="1783080"/>
          </a:xfrm>
          <a:prstGeom prst="rect">
            <a:avLst/>
          </a:prstGeom>
          <a:solidFill>
            <a:srgbClr val="E87722"/>
          </a:solidFill>
          <a:ln/>
        </p:spPr>
      </p:sp>
      <p:sp>
        <p:nvSpPr>
          <p:cNvPr id="8" name="Text 6"/>
          <p:cNvSpPr txBox="1"/>
          <p:nvPr/>
        </p:nvSpPr>
        <p:spPr>
          <a:xfrm>
            <a:off x="749808" y="1609344"/>
            <a:ext cx="1536192" cy="457200"/>
          </a:xfrm>
          <a:prstGeom prst="rect">
            <a:avLst/>
          </a:prstGeom>
          <a:noFill/>
          <a:ln/>
        </p:spPr>
        <p:txBody>
          <a:bodyPr wrap="square" lIns="0" tIns="0" rIns="0" bIns="0" rtlCol="0" anchor="ctr"/>
          <a:lstStyle/>
          <a:p>
            <a:pPr indent="0" marL="0">
              <a:buNone/>
            </a:pPr>
            <a:r>
              <a:rPr lang="en-US" sz="2600" b="1" dirty="0">
                <a:solidFill>
                  <a:srgbClr val="E87722"/>
                </a:solidFill>
                <a:latin typeface="Calibri" pitchFamily="34" charset="0"/>
                <a:ea typeface="Calibri" pitchFamily="34" charset="-122"/>
                <a:cs typeface="Calibri" pitchFamily="34" charset="-120"/>
              </a:rPr>
              <a:t>≈ 200 €</a:t>
            </a:r>
            <a:endParaRPr lang="en-US" sz="2600" dirty="0"/>
          </a:p>
        </p:txBody>
      </p:sp>
      <p:sp>
        <p:nvSpPr>
          <p:cNvPr id="9" name="Text 7"/>
          <p:cNvSpPr txBox="1"/>
          <p:nvPr/>
        </p:nvSpPr>
        <p:spPr>
          <a:xfrm>
            <a:off x="749808" y="2103120"/>
            <a:ext cx="1536192" cy="237744"/>
          </a:xfrm>
          <a:prstGeom prst="rect">
            <a:avLst/>
          </a:prstGeom>
          <a:noFill/>
          <a:ln/>
        </p:spPr>
        <p:txBody>
          <a:bodyPr wrap="square" lIns="0" tIns="0" rIns="0" bIns="0" rtlCol="0" anchor="t"/>
          <a:lstStyle/>
          <a:p>
            <a:pPr indent="0" marL="0">
              <a:buNone/>
            </a:pPr>
            <a:r>
              <a:rPr lang="en-US" sz="1050" b="1" dirty="0">
                <a:solidFill>
                  <a:srgbClr val="10243F"/>
                </a:solidFill>
                <a:latin typeface="Calibri" pitchFamily="34" charset="0"/>
                <a:ea typeface="Calibri" pitchFamily="34" charset="-122"/>
                <a:cs typeface="Calibri" pitchFamily="34" charset="-120"/>
              </a:rPr>
              <a:t>par mois et par pilote</a:t>
            </a:r>
            <a:endParaRPr lang="en-US" sz="1050" dirty="0"/>
          </a:p>
        </p:txBody>
      </p:sp>
      <p:sp>
        <p:nvSpPr>
          <p:cNvPr id="10" name="Text 8"/>
          <p:cNvSpPr txBox="1"/>
          <p:nvPr/>
        </p:nvSpPr>
        <p:spPr>
          <a:xfrm>
            <a:off x="749808" y="2395728"/>
            <a:ext cx="1536192" cy="777240"/>
          </a:xfrm>
          <a:prstGeom prst="rect">
            <a:avLst/>
          </a:prstGeom>
          <a:noFill/>
          <a:ln/>
        </p:spPr>
        <p:txBody>
          <a:bodyPr wrap="square" lIns="0" tIns="0" rIns="0" bIns="0" rtlCol="0" anchor="t"/>
          <a:lstStyle/>
          <a:p>
            <a:pPr indent="0" marL="0">
              <a:lnSpc>
                <a:spcPct val="105000"/>
              </a:lnSpc>
              <a:buNone/>
            </a:pPr>
            <a:r>
              <a:rPr lang="en-US" sz="950" dirty="0">
                <a:solidFill>
                  <a:srgbClr val="6B7280"/>
                </a:solidFill>
                <a:latin typeface="Cambria" pitchFamily="34" charset="0"/>
                <a:ea typeface="Cambria" pitchFamily="34" charset="-122"/>
                <a:cs typeface="Cambria" pitchFamily="34" charset="-120"/>
              </a:rPr>
              <a:t>Un abonnement individuel haut de gamme, forfaitaire, sans surprise en fin de mois.</a:t>
            </a:r>
            <a:endParaRPr lang="en-US" sz="950" dirty="0"/>
          </a:p>
        </p:txBody>
      </p:sp>
      <p:sp>
        <p:nvSpPr>
          <p:cNvPr id="11" name="Shape 9"/>
          <p:cNvSpPr/>
          <p:nvPr/>
        </p:nvSpPr>
        <p:spPr>
          <a:xfrm>
            <a:off x="2679192" y="1481328"/>
            <a:ext cx="1920240" cy="1783080"/>
          </a:xfrm>
          <a:prstGeom prst="rect">
            <a:avLst/>
          </a:prstGeom>
          <a:solidFill>
            <a:srgbClr val="F1F2F4"/>
          </a:solidFill>
          <a:ln/>
        </p:spPr>
      </p:sp>
      <p:sp>
        <p:nvSpPr>
          <p:cNvPr id="12" name="Shape 10"/>
          <p:cNvSpPr/>
          <p:nvPr/>
        </p:nvSpPr>
        <p:spPr>
          <a:xfrm>
            <a:off x="2679192" y="1481328"/>
            <a:ext cx="50292" cy="1783080"/>
          </a:xfrm>
          <a:prstGeom prst="rect">
            <a:avLst/>
          </a:prstGeom>
          <a:solidFill>
            <a:srgbClr val="E87722"/>
          </a:solidFill>
          <a:ln/>
        </p:spPr>
      </p:sp>
      <p:sp>
        <p:nvSpPr>
          <p:cNvPr id="13" name="Text 11"/>
          <p:cNvSpPr txBox="1"/>
          <p:nvPr/>
        </p:nvSpPr>
        <p:spPr>
          <a:xfrm>
            <a:off x="2880360" y="1609344"/>
            <a:ext cx="1536192" cy="457200"/>
          </a:xfrm>
          <a:prstGeom prst="rect">
            <a:avLst/>
          </a:prstGeom>
          <a:noFill/>
          <a:ln/>
        </p:spPr>
        <p:txBody>
          <a:bodyPr wrap="square" lIns="0" tIns="0" rIns="0" bIns="0" rtlCol="0" anchor="ctr"/>
          <a:lstStyle/>
          <a:p>
            <a:pPr indent="0" marL="0">
              <a:buNone/>
            </a:pPr>
            <a:r>
              <a:rPr lang="en-US" sz="2600" b="1" dirty="0">
                <a:solidFill>
                  <a:srgbClr val="E87722"/>
                </a:solidFill>
                <a:latin typeface="Calibri" pitchFamily="34" charset="0"/>
                <a:ea typeface="Calibri" pitchFamily="34" charset="-122"/>
                <a:cs typeface="Calibri" pitchFamily="34" charset="-120"/>
              </a:rPr>
              <a:t>&lt; 2 %</a:t>
            </a:r>
            <a:endParaRPr lang="en-US" sz="2600" dirty="0"/>
          </a:p>
        </p:txBody>
      </p:sp>
      <p:sp>
        <p:nvSpPr>
          <p:cNvPr id="14" name="Text 12"/>
          <p:cNvSpPr txBox="1"/>
          <p:nvPr/>
        </p:nvSpPr>
        <p:spPr>
          <a:xfrm>
            <a:off x="2880360" y="2103120"/>
            <a:ext cx="1536192" cy="237744"/>
          </a:xfrm>
          <a:prstGeom prst="rect">
            <a:avLst/>
          </a:prstGeom>
          <a:noFill/>
          <a:ln/>
        </p:spPr>
        <p:txBody>
          <a:bodyPr wrap="square" lIns="0" tIns="0" rIns="0" bIns="0" rtlCol="0" anchor="t"/>
          <a:lstStyle/>
          <a:p>
            <a:pPr indent="0" marL="0">
              <a:buNone/>
            </a:pPr>
            <a:r>
              <a:rPr lang="en-US" sz="1050" b="1" dirty="0">
                <a:solidFill>
                  <a:srgbClr val="10243F"/>
                </a:solidFill>
                <a:latin typeface="Calibri" pitchFamily="34" charset="0"/>
                <a:ea typeface="Calibri" pitchFamily="34" charset="-122"/>
                <a:cs typeface="Calibri" pitchFamily="34" charset="-120"/>
              </a:rPr>
              <a:t>du coût d'un développeur</a:t>
            </a:r>
            <a:endParaRPr lang="en-US" sz="1050" dirty="0"/>
          </a:p>
        </p:txBody>
      </p:sp>
      <p:sp>
        <p:nvSpPr>
          <p:cNvPr id="15" name="Text 13"/>
          <p:cNvSpPr txBox="1"/>
          <p:nvPr/>
        </p:nvSpPr>
        <p:spPr>
          <a:xfrm>
            <a:off x="2880360" y="2395728"/>
            <a:ext cx="1536192" cy="777240"/>
          </a:xfrm>
          <a:prstGeom prst="rect">
            <a:avLst/>
          </a:prstGeom>
          <a:noFill/>
          <a:ln/>
        </p:spPr>
        <p:txBody>
          <a:bodyPr wrap="square" lIns="0" tIns="0" rIns="0" bIns="0" rtlCol="0" anchor="t"/>
          <a:lstStyle/>
          <a:p>
            <a:pPr indent="0" marL="0">
              <a:lnSpc>
                <a:spcPct val="105000"/>
              </a:lnSpc>
              <a:buNone/>
            </a:pPr>
            <a:r>
              <a:rPr lang="en-US" sz="950" dirty="0">
                <a:solidFill>
                  <a:srgbClr val="6B7280"/>
                </a:solidFill>
                <a:latin typeface="Cambria" pitchFamily="34" charset="0"/>
                <a:ea typeface="Cambria" pitchFamily="34" charset="-122"/>
                <a:cs typeface="Cambria" pitchFamily="34" charset="-120"/>
              </a:rPr>
              <a:t>Rapporté à un tarif journalier de 500 à 800 €, l'abonnement pèse moins d'une demi-journée par mois.</a:t>
            </a:r>
            <a:endParaRPr lang="en-US" sz="950" dirty="0"/>
          </a:p>
        </p:txBody>
      </p:sp>
      <p:sp>
        <p:nvSpPr>
          <p:cNvPr id="16" name="Shape 14"/>
          <p:cNvSpPr/>
          <p:nvPr/>
        </p:nvSpPr>
        <p:spPr>
          <a:xfrm>
            <a:off x="4809744" y="1481328"/>
            <a:ext cx="1920240" cy="1783080"/>
          </a:xfrm>
          <a:prstGeom prst="rect">
            <a:avLst/>
          </a:prstGeom>
          <a:solidFill>
            <a:srgbClr val="F1F2F4"/>
          </a:solidFill>
          <a:ln/>
        </p:spPr>
      </p:sp>
      <p:sp>
        <p:nvSpPr>
          <p:cNvPr id="17" name="Shape 15"/>
          <p:cNvSpPr/>
          <p:nvPr/>
        </p:nvSpPr>
        <p:spPr>
          <a:xfrm>
            <a:off x="4809744" y="1481328"/>
            <a:ext cx="50292" cy="1783080"/>
          </a:xfrm>
          <a:prstGeom prst="rect">
            <a:avLst/>
          </a:prstGeom>
          <a:solidFill>
            <a:srgbClr val="E87722"/>
          </a:solidFill>
          <a:ln/>
        </p:spPr>
      </p:sp>
      <p:sp>
        <p:nvSpPr>
          <p:cNvPr id="18" name="Text 16"/>
          <p:cNvSpPr txBox="1"/>
          <p:nvPr/>
        </p:nvSpPr>
        <p:spPr>
          <a:xfrm>
            <a:off x="5010912" y="1609344"/>
            <a:ext cx="1536192" cy="457200"/>
          </a:xfrm>
          <a:prstGeom prst="rect">
            <a:avLst/>
          </a:prstGeom>
          <a:noFill/>
          <a:ln/>
        </p:spPr>
        <p:txBody>
          <a:bodyPr wrap="square" lIns="0" tIns="0" rIns="0" bIns="0" rtlCol="0" anchor="ctr"/>
          <a:lstStyle/>
          <a:p>
            <a:pPr indent="0" marL="0">
              <a:buNone/>
            </a:pPr>
            <a:r>
              <a:rPr lang="en-US" sz="2600" b="1" dirty="0">
                <a:solidFill>
                  <a:srgbClr val="E87722"/>
                </a:solidFill>
                <a:latin typeface="Calibri" pitchFamily="34" charset="0"/>
                <a:ea typeface="Calibri" pitchFamily="34" charset="-122"/>
                <a:cs typeface="Calibri" pitchFamily="34" charset="-120"/>
              </a:rPr>
              <a:t>1/10</a:t>
            </a:r>
            <a:endParaRPr lang="en-US" sz="2600" dirty="0"/>
          </a:p>
        </p:txBody>
      </p:sp>
      <p:sp>
        <p:nvSpPr>
          <p:cNvPr id="19" name="Text 17"/>
          <p:cNvSpPr txBox="1"/>
          <p:nvPr/>
        </p:nvSpPr>
        <p:spPr>
          <a:xfrm>
            <a:off x="5010912" y="2103120"/>
            <a:ext cx="1536192" cy="237744"/>
          </a:xfrm>
          <a:prstGeom prst="rect">
            <a:avLst/>
          </a:prstGeom>
          <a:noFill/>
          <a:ln/>
        </p:spPr>
        <p:txBody>
          <a:bodyPr wrap="square" lIns="0" tIns="0" rIns="0" bIns="0" rtlCol="0" anchor="t"/>
          <a:lstStyle/>
          <a:p>
            <a:pPr indent="0" marL="0">
              <a:buNone/>
            </a:pPr>
            <a:r>
              <a:rPr lang="en-US" sz="1050" b="1" dirty="0">
                <a:solidFill>
                  <a:srgbClr val="10243F"/>
                </a:solidFill>
                <a:latin typeface="Calibri" pitchFamily="34" charset="0"/>
                <a:ea typeface="Calibri" pitchFamily="34" charset="-122"/>
                <a:cs typeface="Calibri" pitchFamily="34" charset="-120"/>
              </a:rPr>
              <a:t>de semaine : 1 557 tests</a:t>
            </a:r>
            <a:endParaRPr lang="en-US" sz="1050" dirty="0"/>
          </a:p>
        </p:txBody>
      </p:sp>
      <p:sp>
        <p:nvSpPr>
          <p:cNvPr id="20" name="Text 18"/>
          <p:cNvSpPr txBox="1"/>
          <p:nvPr/>
        </p:nvSpPr>
        <p:spPr>
          <a:xfrm>
            <a:off x="5010912" y="2395728"/>
            <a:ext cx="1536192" cy="777240"/>
          </a:xfrm>
          <a:prstGeom prst="rect">
            <a:avLst/>
          </a:prstGeom>
          <a:noFill/>
          <a:ln/>
        </p:spPr>
        <p:txBody>
          <a:bodyPr wrap="square" lIns="0" tIns="0" rIns="0" bIns="0" rtlCol="0" anchor="t"/>
          <a:lstStyle/>
          <a:p>
            <a:pPr indent="0" marL="0">
              <a:lnSpc>
                <a:spcPct val="105000"/>
              </a:lnSpc>
              <a:buNone/>
            </a:pPr>
            <a:r>
              <a:rPr lang="en-US" sz="950" dirty="0">
                <a:solidFill>
                  <a:srgbClr val="6B7280"/>
                </a:solidFill>
                <a:latin typeface="Cambria" pitchFamily="34" charset="0"/>
                <a:ea typeface="Cambria" pitchFamily="34" charset="-122"/>
                <a:cs typeface="Cambria" pitchFamily="34" charset="-120"/>
              </a:rPr>
              <a:t>La campagne unitaire complète d'un logiciel de caisse a consommé un dixième de la dotation hebdomadaire.</a:t>
            </a:r>
            <a:endParaRPr lang="en-US" sz="950" dirty="0"/>
          </a:p>
        </p:txBody>
      </p:sp>
      <p:sp>
        <p:nvSpPr>
          <p:cNvPr id="21" name="Shape 19"/>
          <p:cNvSpPr/>
          <p:nvPr/>
        </p:nvSpPr>
        <p:spPr>
          <a:xfrm>
            <a:off x="6940296" y="1481328"/>
            <a:ext cx="1920240" cy="1783080"/>
          </a:xfrm>
          <a:prstGeom prst="rect">
            <a:avLst/>
          </a:prstGeom>
          <a:solidFill>
            <a:srgbClr val="F1F2F4"/>
          </a:solidFill>
          <a:ln/>
        </p:spPr>
      </p:sp>
      <p:sp>
        <p:nvSpPr>
          <p:cNvPr id="22" name="Shape 20"/>
          <p:cNvSpPr/>
          <p:nvPr/>
        </p:nvSpPr>
        <p:spPr>
          <a:xfrm>
            <a:off x="6940296" y="1481328"/>
            <a:ext cx="50292" cy="1783080"/>
          </a:xfrm>
          <a:prstGeom prst="rect">
            <a:avLst/>
          </a:prstGeom>
          <a:solidFill>
            <a:srgbClr val="E87722"/>
          </a:solidFill>
          <a:ln/>
        </p:spPr>
      </p:sp>
      <p:sp>
        <p:nvSpPr>
          <p:cNvPr id="23" name="Text 21"/>
          <p:cNvSpPr txBox="1"/>
          <p:nvPr/>
        </p:nvSpPr>
        <p:spPr>
          <a:xfrm>
            <a:off x="7141464" y="1609344"/>
            <a:ext cx="1536192" cy="457200"/>
          </a:xfrm>
          <a:prstGeom prst="rect">
            <a:avLst/>
          </a:prstGeom>
          <a:noFill/>
          <a:ln/>
        </p:spPr>
        <p:txBody>
          <a:bodyPr wrap="square" lIns="0" tIns="0" rIns="0" bIns="0" rtlCol="0" anchor="ctr"/>
          <a:lstStyle/>
          <a:p>
            <a:pPr indent="0" marL="0">
              <a:buNone/>
            </a:pPr>
            <a:r>
              <a:rPr lang="en-US" sz="2600" b="1" dirty="0">
                <a:solidFill>
                  <a:srgbClr val="E87722"/>
                </a:solidFill>
                <a:latin typeface="Calibri" pitchFamily="34" charset="0"/>
                <a:ea typeface="Calibri" pitchFamily="34" charset="-122"/>
                <a:cs typeface="Calibri" pitchFamily="34" charset="-120"/>
              </a:rPr>
              <a:t>−95 %</a:t>
            </a:r>
            <a:endParaRPr lang="en-US" sz="2600" dirty="0"/>
          </a:p>
        </p:txBody>
      </p:sp>
      <p:sp>
        <p:nvSpPr>
          <p:cNvPr id="24" name="Text 22"/>
          <p:cNvSpPr txBox="1"/>
          <p:nvPr/>
        </p:nvSpPr>
        <p:spPr>
          <a:xfrm>
            <a:off x="7141464" y="2103120"/>
            <a:ext cx="1536192" cy="237744"/>
          </a:xfrm>
          <a:prstGeom prst="rect">
            <a:avLst/>
          </a:prstGeom>
          <a:noFill/>
          <a:ln/>
        </p:spPr>
        <p:txBody>
          <a:bodyPr wrap="square" lIns="0" tIns="0" rIns="0" bIns="0" rtlCol="0" anchor="t"/>
          <a:lstStyle/>
          <a:p>
            <a:pPr indent="0" marL="0">
              <a:buNone/>
            </a:pPr>
            <a:r>
              <a:rPr lang="en-US" sz="1050" b="1" dirty="0">
                <a:solidFill>
                  <a:srgbClr val="10243F"/>
                </a:solidFill>
                <a:latin typeface="Calibri" pitchFamily="34" charset="0"/>
                <a:ea typeface="Calibri" pitchFamily="34" charset="-122"/>
                <a:cs typeface="Calibri" pitchFamily="34" charset="-120"/>
              </a:rPr>
              <a:t>sur la facture</a:t>
            </a:r>
            <a:endParaRPr lang="en-US" sz="1050" dirty="0"/>
          </a:p>
        </p:txBody>
      </p:sp>
      <p:sp>
        <p:nvSpPr>
          <p:cNvPr id="25" name="Text 23"/>
          <p:cNvSpPr txBox="1"/>
          <p:nvPr/>
        </p:nvSpPr>
        <p:spPr>
          <a:xfrm>
            <a:off x="7141464" y="2395728"/>
            <a:ext cx="1536192" cy="777240"/>
          </a:xfrm>
          <a:prstGeom prst="rect">
            <a:avLst/>
          </a:prstGeom>
          <a:noFill/>
          <a:ln/>
        </p:spPr>
        <p:txBody>
          <a:bodyPr wrap="square" lIns="0" tIns="0" rIns="0" bIns="0" rtlCol="0" anchor="t"/>
          <a:lstStyle/>
          <a:p>
            <a:pPr indent="0" marL="0">
              <a:lnSpc>
                <a:spcPct val="105000"/>
              </a:lnSpc>
              <a:buNone/>
            </a:pPr>
            <a:r>
              <a:rPr lang="en-US" sz="950" dirty="0">
                <a:solidFill>
                  <a:srgbClr val="6B7280"/>
                </a:solidFill>
                <a:latin typeface="Cambria" pitchFamily="34" charset="0"/>
                <a:ea typeface="Cambria" pitchFamily="34" charset="-122"/>
                <a:cs typeface="Cambria" pitchFamily="34" charset="-120"/>
              </a:rPr>
              <a:t>De 1 à 4 il y a un an à au moins 1 à 20 aujourd'hui : l'économie sur le développement est massive.</a:t>
            </a:r>
            <a:endParaRPr lang="en-US" sz="950" dirty="0"/>
          </a:p>
        </p:txBody>
      </p:sp>
      <p:sp>
        <p:nvSpPr>
          <p:cNvPr id="26" name="Shape 24"/>
          <p:cNvSpPr/>
          <p:nvPr/>
        </p:nvSpPr>
        <p:spPr>
          <a:xfrm>
            <a:off x="548640" y="3419856"/>
            <a:ext cx="8046720" cy="1097280"/>
          </a:xfrm>
          <a:prstGeom prst="rect">
            <a:avLst/>
          </a:prstGeom>
          <a:solidFill>
            <a:srgbClr val="E4E6E9"/>
          </a:solidFill>
          <a:ln/>
        </p:spPr>
      </p:sp>
      <p:sp>
        <p:nvSpPr>
          <p:cNvPr id="27" name="Shape 25"/>
          <p:cNvSpPr/>
          <p:nvPr/>
        </p:nvSpPr>
        <p:spPr>
          <a:xfrm>
            <a:off x="548640" y="3419856"/>
            <a:ext cx="50292" cy="1097280"/>
          </a:xfrm>
          <a:prstGeom prst="rect">
            <a:avLst/>
          </a:prstGeom>
          <a:solidFill>
            <a:srgbClr val="E87722"/>
          </a:solidFill>
          <a:ln/>
        </p:spPr>
      </p:sp>
      <p:sp>
        <p:nvSpPr>
          <p:cNvPr id="28" name="Text 26"/>
          <p:cNvSpPr txBox="1"/>
          <p:nvPr/>
        </p:nvSpPr>
        <p:spPr>
          <a:xfrm>
            <a:off x="777240" y="3566160"/>
            <a:ext cx="75895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Les factures élevées qu'on voit aujourd'hui viennent d'un usage aberrant</a:t>
            </a:r>
            <a:endParaRPr lang="en-US" sz="1200" dirty="0"/>
          </a:p>
        </p:txBody>
      </p:sp>
      <p:sp>
        <p:nvSpPr>
          <p:cNvPr id="29" name="Text 27"/>
          <p:cNvSpPr txBox="1"/>
          <p:nvPr/>
        </p:nvSpPr>
        <p:spPr>
          <a:xfrm>
            <a:off x="777240" y="3822192"/>
            <a:ext cx="7589520" cy="676656"/>
          </a:xfrm>
          <a:prstGeom prst="rect">
            <a:avLst/>
          </a:prstGeom>
          <a:noFill/>
          <a:ln/>
        </p:spPr>
        <p:txBody>
          <a:bodyPr wrap="square" lIns="0" tIns="0" rIns="0" bIns="0" rtlCol="0" anchor="t"/>
          <a:lstStyle/>
          <a:p>
            <a:pPr indent="0" marL="0">
              <a:lnSpc>
                <a:spcPct val="105000"/>
              </a:lnSpc>
              <a:buNone/>
            </a:pPr>
            <a:r>
              <a:rPr lang="en-US" sz="960" dirty="0">
                <a:solidFill>
                  <a:srgbClr val="1E2A38"/>
                </a:solidFill>
                <a:latin typeface="Cambria" pitchFamily="34" charset="0"/>
                <a:ea typeface="Cambria" pitchFamily="34" charset="-122"/>
                <a:cs typeface="Cambria" pitchFamily="34" charset="-120"/>
              </a:rPr>
              <a:t>Des IA sollicitées sans cadrage ni découpage, sans mémoire de ce qui a été fait, qui recommencent et tournent en rond : c'est cela qui coûte cher. Quelqu'un qui sait s'en servir dépense finalement assez peu — le coût de l'IA révèle surtout la compétence du pilote. La vraie dépense est ailleurs : la validation et le filet de tests, qui bornent la vitesse et se financent.</a:t>
            </a:r>
            <a:endParaRPr lang="en-US" sz="9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CONSÉQUENCES</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Un métier qui se déplace</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21</a:t>
            </a:r>
            <a:endParaRPr lang="en-US" sz="850" dirty="0"/>
          </a:p>
        </p:txBody>
      </p:sp>
      <p:sp>
        <p:nvSpPr>
          <p:cNvPr id="5" name="Shape 3"/>
          <p:cNvSpPr/>
          <p:nvPr/>
        </p:nvSpPr>
        <p:spPr>
          <a:xfrm>
            <a:off x="566928" y="1170432"/>
            <a:ext cx="274320" cy="274320"/>
          </a:xfrm>
          <a:prstGeom prst="ellipse">
            <a:avLst/>
          </a:prstGeom>
          <a:solidFill>
            <a:srgbClr val="E87722"/>
          </a:solidFill>
          <a:ln/>
        </p:spPr>
      </p:sp>
      <p:sp>
        <p:nvSpPr>
          <p:cNvPr id="6" name="Text 4"/>
          <p:cNvSpPr txBox="1"/>
          <p:nvPr/>
        </p:nvSpPr>
        <p:spPr>
          <a:xfrm>
            <a:off x="566928" y="11704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987552" y="1133856"/>
            <a:ext cx="7589520" cy="219456"/>
          </a:xfrm>
          <a:prstGeom prst="rect">
            <a:avLst/>
          </a:prstGeom>
          <a:noFill/>
          <a:ln/>
        </p:spPr>
        <p:txBody>
          <a:bodyPr wrap="square" lIns="0" tIns="0" rIns="0" bIns="0" rtlCol="0" anchor="ctr"/>
          <a:lstStyle/>
          <a:p>
            <a:pPr indent="0" marL="0">
              <a:buNone/>
            </a:pPr>
            <a:r>
              <a:rPr lang="en-US" sz="1150" b="1" dirty="0">
                <a:solidFill>
                  <a:srgbClr val="10243F"/>
                </a:solidFill>
                <a:latin typeface="Calibri" pitchFamily="34" charset="0"/>
                <a:ea typeface="Calibri" pitchFamily="34" charset="-122"/>
                <a:cs typeface="Calibri" pitchFamily="34" charset="-120"/>
              </a:rPr>
              <a:t>On écrit moins, on valide plus</a:t>
            </a:r>
            <a:endParaRPr lang="en-US" sz="1150" dirty="0"/>
          </a:p>
        </p:txBody>
      </p:sp>
      <p:sp>
        <p:nvSpPr>
          <p:cNvPr id="8" name="Text 6"/>
          <p:cNvSpPr txBox="1"/>
          <p:nvPr/>
        </p:nvSpPr>
        <p:spPr>
          <a:xfrm>
            <a:off x="987552" y="1371600"/>
            <a:ext cx="7589520" cy="420624"/>
          </a:xfrm>
          <a:prstGeom prst="rect">
            <a:avLst/>
          </a:prstGeom>
          <a:noFill/>
          <a:ln/>
        </p:spPr>
        <p:txBody>
          <a:bodyPr wrap="square" lIns="0" tIns="0" rIns="0" bIns="0" rtlCol="0" anchor="t"/>
          <a:lstStyle/>
          <a:p>
            <a:pPr indent="0" marL="0">
              <a:lnSpc>
                <a:spcPct val="105000"/>
              </a:lnSpc>
              <a:buNone/>
            </a:pPr>
            <a:r>
              <a:rPr lang="en-US" sz="980" dirty="0">
                <a:solidFill>
                  <a:srgbClr val="6B7280"/>
                </a:solidFill>
                <a:latin typeface="Cambria" pitchFamily="34" charset="0"/>
                <a:ea typeface="Cambria" pitchFamily="34" charset="-122"/>
                <a:cs typeface="Cambria" pitchFamily="34" charset="-120"/>
              </a:rPr>
              <a:t>La campagne de tests a coûté un dixième d'un forfait hebdomadaire. Ce qui borne désormais la vitesse, c'est la validation : c'est là que se joue la compétence.</a:t>
            </a:r>
            <a:endParaRPr lang="en-US" sz="980" dirty="0"/>
          </a:p>
        </p:txBody>
      </p:sp>
      <p:sp>
        <p:nvSpPr>
          <p:cNvPr id="9" name="Shape 7"/>
          <p:cNvSpPr/>
          <p:nvPr/>
        </p:nvSpPr>
        <p:spPr>
          <a:xfrm>
            <a:off x="566928" y="1883664"/>
            <a:ext cx="274320" cy="274320"/>
          </a:xfrm>
          <a:prstGeom prst="ellipse">
            <a:avLst/>
          </a:prstGeom>
          <a:solidFill>
            <a:srgbClr val="E87722"/>
          </a:solidFill>
          <a:ln/>
        </p:spPr>
      </p:sp>
      <p:sp>
        <p:nvSpPr>
          <p:cNvPr id="10" name="Text 8"/>
          <p:cNvSpPr txBox="1"/>
          <p:nvPr/>
        </p:nvSpPr>
        <p:spPr>
          <a:xfrm>
            <a:off x="566928" y="18836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987552" y="1847088"/>
            <a:ext cx="7589520" cy="219456"/>
          </a:xfrm>
          <a:prstGeom prst="rect">
            <a:avLst/>
          </a:prstGeom>
          <a:noFill/>
          <a:ln/>
        </p:spPr>
        <p:txBody>
          <a:bodyPr wrap="square" lIns="0" tIns="0" rIns="0" bIns="0" rtlCol="0" anchor="ctr"/>
          <a:lstStyle/>
          <a:p>
            <a:pPr indent="0" marL="0">
              <a:buNone/>
            </a:pPr>
            <a:r>
              <a:rPr lang="en-US" sz="1150" b="1" dirty="0">
                <a:solidFill>
                  <a:srgbClr val="10243F"/>
                </a:solidFill>
                <a:latin typeface="Calibri" pitchFamily="34" charset="0"/>
                <a:ea typeface="Calibri" pitchFamily="34" charset="-122"/>
                <a:cs typeface="Calibri" pitchFamily="34" charset="-120"/>
              </a:rPr>
              <a:t>La couverture complète devient votre outil de contrôle</a:t>
            </a:r>
            <a:endParaRPr lang="en-US" sz="1150" dirty="0"/>
          </a:p>
        </p:txBody>
      </p:sp>
      <p:sp>
        <p:nvSpPr>
          <p:cNvPr id="12" name="Text 10"/>
          <p:cNvSpPr txBox="1"/>
          <p:nvPr/>
        </p:nvSpPr>
        <p:spPr>
          <a:xfrm>
            <a:off x="987552" y="2084832"/>
            <a:ext cx="7589520" cy="420624"/>
          </a:xfrm>
          <a:prstGeom prst="rect">
            <a:avLst/>
          </a:prstGeom>
          <a:noFill/>
          <a:ln/>
        </p:spPr>
        <p:txBody>
          <a:bodyPr wrap="square" lIns="0" tIns="0" rIns="0" bIns="0" rtlCol="0" anchor="t"/>
          <a:lstStyle/>
          <a:p>
            <a:pPr indent="0" marL="0">
              <a:lnSpc>
                <a:spcPct val="105000"/>
              </a:lnSpc>
              <a:buNone/>
            </a:pPr>
            <a:r>
              <a:rPr lang="en-US" sz="980" dirty="0">
                <a:solidFill>
                  <a:srgbClr val="6B7280"/>
                </a:solidFill>
                <a:latin typeface="Cambria" pitchFamily="34" charset="0"/>
                <a:ea typeface="Cambria" pitchFamily="34" charset="-122"/>
                <a:cs typeface="Cambria" pitchFamily="34" charset="-120"/>
              </a:rPr>
              <a:t>On ne la fait ni pour un client ni pour une norme : à cette vitesse de production, c'est le seul moyen de garder la maîtrise de ce qui est fait et de valider vite ce qui vient d'être écrit.</a:t>
            </a:r>
            <a:endParaRPr lang="en-US" sz="980" dirty="0"/>
          </a:p>
        </p:txBody>
      </p:sp>
      <p:sp>
        <p:nvSpPr>
          <p:cNvPr id="13" name="Shape 11"/>
          <p:cNvSpPr/>
          <p:nvPr/>
        </p:nvSpPr>
        <p:spPr>
          <a:xfrm>
            <a:off x="566928" y="2596896"/>
            <a:ext cx="274320" cy="274320"/>
          </a:xfrm>
          <a:prstGeom prst="ellipse">
            <a:avLst/>
          </a:prstGeom>
          <a:solidFill>
            <a:srgbClr val="E87722"/>
          </a:solidFill>
          <a:ln/>
        </p:spPr>
      </p:sp>
      <p:sp>
        <p:nvSpPr>
          <p:cNvPr id="14" name="Text 12"/>
          <p:cNvSpPr txBox="1"/>
          <p:nvPr/>
        </p:nvSpPr>
        <p:spPr>
          <a:xfrm>
            <a:off x="566928" y="25968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txBox="1"/>
          <p:nvPr/>
        </p:nvSpPr>
        <p:spPr>
          <a:xfrm>
            <a:off x="987552" y="2560320"/>
            <a:ext cx="7589520" cy="219456"/>
          </a:xfrm>
          <a:prstGeom prst="rect">
            <a:avLst/>
          </a:prstGeom>
          <a:noFill/>
          <a:ln/>
        </p:spPr>
        <p:txBody>
          <a:bodyPr wrap="square" lIns="0" tIns="0" rIns="0" bIns="0" rtlCol="0" anchor="ctr"/>
          <a:lstStyle/>
          <a:p>
            <a:pPr indent="0" marL="0">
              <a:buNone/>
            </a:pPr>
            <a:r>
              <a:rPr lang="en-US" sz="1150" b="1" dirty="0">
                <a:solidFill>
                  <a:srgbClr val="10243F"/>
                </a:solidFill>
                <a:latin typeface="Calibri" pitchFamily="34" charset="0"/>
                <a:ea typeface="Calibri" pitchFamily="34" charset="-122"/>
                <a:cs typeface="Calibri" pitchFamily="34" charset="-120"/>
              </a:rPr>
              <a:t>La documentation cesse d'être une corvée</a:t>
            </a:r>
            <a:endParaRPr lang="en-US" sz="1150" dirty="0"/>
          </a:p>
        </p:txBody>
      </p:sp>
      <p:sp>
        <p:nvSpPr>
          <p:cNvPr id="16" name="Text 14"/>
          <p:cNvSpPr txBox="1"/>
          <p:nvPr/>
        </p:nvSpPr>
        <p:spPr>
          <a:xfrm>
            <a:off x="987552" y="2798064"/>
            <a:ext cx="7589520" cy="420624"/>
          </a:xfrm>
          <a:prstGeom prst="rect">
            <a:avLst/>
          </a:prstGeom>
          <a:noFill/>
          <a:ln/>
        </p:spPr>
        <p:txBody>
          <a:bodyPr wrap="square" lIns="0" tIns="0" rIns="0" bIns="0" rtlCol="0" anchor="t"/>
          <a:lstStyle/>
          <a:p>
            <a:pPr indent="0" marL="0">
              <a:lnSpc>
                <a:spcPct val="105000"/>
              </a:lnSpc>
              <a:buNone/>
            </a:pPr>
            <a:r>
              <a:rPr lang="en-US" sz="980" dirty="0">
                <a:solidFill>
                  <a:srgbClr val="6B7280"/>
                </a:solidFill>
                <a:latin typeface="Cambria" pitchFamily="34" charset="0"/>
                <a:ea typeface="Cambria" pitchFamily="34" charset="-122"/>
                <a:cs typeface="Cambria" pitchFamily="34" charset="-120"/>
              </a:rPr>
              <a:t>Elle est le support de travail de la machine : elle est maintenue par nécessité, plus par discipline — et ce n'est plus vous qui l'écrivez.</a:t>
            </a:r>
            <a:endParaRPr lang="en-US" sz="980" dirty="0"/>
          </a:p>
        </p:txBody>
      </p:sp>
      <p:sp>
        <p:nvSpPr>
          <p:cNvPr id="17" name="Shape 15"/>
          <p:cNvSpPr/>
          <p:nvPr/>
        </p:nvSpPr>
        <p:spPr>
          <a:xfrm>
            <a:off x="566928" y="3310128"/>
            <a:ext cx="274320" cy="274320"/>
          </a:xfrm>
          <a:prstGeom prst="ellipse">
            <a:avLst/>
          </a:prstGeom>
          <a:solidFill>
            <a:srgbClr val="E87722"/>
          </a:solidFill>
          <a:ln/>
        </p:spPr>
      </p:sp>
      <p:sp>
        <p:nvSpPr>
          <p:cNvPr id="18" name="Text 16"/>
          <p:cNvSpPr txBox="1"/>
          <p:nvPr/>
        </p:nvSpPr>
        <p:spPr>
          <a:xfrm>
            <a:off x="566928" y="33101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7"/>
          <p:cNvSpPr txBox="1"/>
          <p:nvPr/>
        </p:nvSpPr>
        <p:spPr>
          <a:xfrm>
            <a:off x="987552" y="3273552"/>
            <a:ext cx="7589520" cy="219456"/>
          </a:xfrm>
          <a:prstGeom prst="rect">
            <a:avLst/>
          </a:prstGeom>
          <a:noFill/>
          <a:ln/>
        </p:spPr>
        <p:txBody>
          <a:bodyPr wrap="square" lIns="0" tIns="0" rIns="0" bIns="0" rtlCol="0" anchor="ctr"/>
          <a:lstStyle/>
          <a:p>
            <a:pPr indent="0" marL="0">
              <a:buNone/>
            </a:pPr>
            <a:r>
              <a:rPr lang="en-US" sz="1150" b="1" dirty="0">
                <a:solidFill>
                  <a:srgbClr val="10243F"/>
                </a:solidFill>
                <a:latin typeface="Calibri" pitchFamily="34" charset="0"/>
                <a:ea typeface="Calibri" pitchFamily="34" charset="-122"/>
                <a:cs typeface="Calibri" pitchFamily="34" charset="-120"/>
              </a:rPr>
              <a:t>Les compétences rares deviennent les vôtres</a:t>
            </a:r>
            <a:endParaRPr lang="en-US" sz="1150" dirty="0"/>
          </a:p>
        </p:txBody>
      </p:sp>
      <p:sp>
        <p:nvSpPr>
          <p:cNvPr id="20" name="Text 18"/>
          <p:cNvSpPr txBox="1"/>
          <p:nvPr/>
        </p:nvSpPr>
        <p:spPr>
          <a:xfrm>
            <a:off x="987552" y="3511296"/>
            <a:ext cx="7589520" cy="420624"/>
          </a:xfrm>
          <a:prstGeom prst="rect">
            <a:avLst/>
          </a:prstGeom>
          <a:noFill/>
          <a:ln/>
        </p:spPr>
        <p:txBody>
          <a:bodyPr wrap="square" lIns="0" tIns="0" rIns="0" bIns="0" rtlCol="0" anchor="t"/>
          <a:lstStyle/>
          <a:p>
            <a:pPr indent="0" marL="0">
              <a:lnSpc>
                <a:spcPct val="105000"/>
              </a:lnSpc>
              <a:buNone/>
            </a:pPr>
            <a:r>
              <a:rPr lang="en-US" sz="980" dirty="0">
                <a:solidFill>
                  <a:srgbClr val="6B7280"/>
                </a:solidFill>
                <a:latin typeface="Cambria" pitchFamily="34" charset="0"/>
                <a:ea typeface="Cambria" pitchFamily="34" charset="-122"/>
                <a:cs typeface="Cambria" pitchFamily="34" charset="-120"/>
              </a:rPr>
              <a:t>Protocoles matériels, formats hérités, interfaçage de progiciels : plus besoin d'être le spécialiste du sujet pour y aller.</a:t>
            </a:r>
            <a:endParaRPr lang="en-US" sz="980" dirty="0"/>
          </a:p>
        </p:txBody>
      </p:sp>
      <p:sp>
        <p:nvSpPr>
          <p:cNvPr id="21" name="Shape 19"/>
          <p:cNvSpPr/>
          <p:nvPr/>
        </p:nvSpPr>
        <p:spPr>
          <a:xfrm>
            <a:off x="566928" y="4023360"/>
            <a:ext cx="274320" cy="274320"/>
          </a:xfrm>
          <a:prstGeom prst="ellipse">
            <a:avLst/>
          </a:prstGeom>
          <a:solidFill>
            <a:srgbClr val="E87722"/>
          </a:solidFill>
          <a:ln/>
        </p:spPr>
      </p:sp>
      <p:sp>
        <p:nvSpPr>
          <p:cNvPr id="22" name="Text 20"/>
          <p:cNvSpPr txBox="1"/>
          <p:nvPr/>
        </p:nvSpPr>
        <p:spPr>
          <a:xfrm>
            <a:off x="566928" y="40233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3" name="Text 21"/>
          <p:cNvSpPr txBox="1"/>
          <p:nvPr/>
        </p:nvSpPr>
        <p:spPr>
          <a:xfrm>
            <a:off x="987552" y="3986784"/>
            <a:ext cx="7589520" cy="219456"/>
          </a:xfrm>
          <a:prstGeom prst="rect">
            <a:avLst/>
          </a:prstGeom>
          <a:noFill/>
          <a:ln/>
        </p:spPr>
        <p:txBody>
          <a:bodyPr wrap="square" lIns="0" tIns="0" rIns="0" bIns="0" rtlCol="0" anchor="ctr"/>
          <a:lstStyle/>
          <a:p>
            <a:pPr indent="0" marL="0">
              <a:buNone/>
            </a:pPr>
            <a:r>
              <a:rPr lang="en-US" sz="1150" b="1" dirty="0">
                <a:solidFill>
                  <a:srgbClr val="10243F"/>
                </a:solidFill>
                <a:latin typeface="Calibri" pitchFamily="34" charset="0"/>
                <a:ea typeface="Calibri" pitchFamily="34" charset="-122"/>
                <a:cs typeface="Calibri" pitchFamily="34" charset="-120"/>
              </a:rPr>
              <a:t>Le pilote tient toute la chaîne</a:t>
            </a:r>
            <a:endParaRPr lang="en-US" sz="1150" dirty="0"/>
          </a:p>
        </p:txBody>
      </p:sp>
      <p:sp>
        <p:nvSpPr>
          <p:cNvPr id="24" name="Text 22"/>
          <p:cNvSpPr txBox="1"/>
          <p:nvPr/>
        </p:nvSpPr>
        <p:spPr>
          <a:xfrm>
            <a:off x="987552" y="4224528"/>
            <a:ext cx="7589520" cy="420624"/>
          </a:xfrm>
          <a:prstGeom prst="rect">
            <a:avLst/>
          </a:prstGeom>
          <a:noFill/>
          <a:ln/>
        </p:spPr>
        <p:txBody>
          <a:bodyPr wrap="square" lIns="0" tIns="0" rIns="0" bIns="0" rtlCol="0" anchor="t"/>
          <a:lstStyle/>
          <a:p>
            <a:pPr indent="0" marL="0">
              <a:lnSpc>
                <a:spcPct val="105000"/>
              </a:lnSpc>
              <a:buNone/>
            </a:pPr>
            <a:r>
              <a:rPr lang="en-US" sz="980" dirty="0">
                <a:solidFill>
                  <a:srgbClr val="6B7280"/>
                </a:solidFill>
                <a:latin typeface="Cambria" pitchFamily="34" charset="0"/>
                <a:ea typeface="Cambria" pitchFamily="34" charset="-122"/>
                <a:cs typeface="Cambria" pitchFamily="34" charset="-120"/>
              </a:rPr>
              <a:t>Je compte en sessions, pas en jours-hommes, et je tiens la chaîne de l'analyse au déploiement : connaître le domaine et savoir valider comptent plus que maîtriser un framework.</a:t>
            </a:r>
            <a:endParaRPr lang="en-US" sz="9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LE CONSTAT</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Ce qui ne pourra pas être reconduit</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23</a:t>
            </a:r>
            <a:endParaRPr lang="en-US" sz="850" dirty="0"/>
          </a:p>
        </p:txBody>
      </p:sp>
      <p:sp>
        <p:nvSpPr>
          <p:cNvPr id="5" name="Shape 3"/>
          <p:cNvSpPr/>
          <p:nvPr/>
        </p:nvSpPr>
        <p:spPr>
          <a:xfrm>
            <a:off x="548640" y="1115568"/>
            <a:ext cx="3886200" cy="1078992"/>
          </a:xfrm>
          <a:prstGeom prst="rect">
            <a:avLst/>
          </a:prstGeom>
          <a:solidFill>
            <a:srgbClr val="F1F2F4"/>
          </a:solidFill>
          <a:ln/>
        </p:spPr>
      </p:sp>
      <p:sp>
        <p:nvSpPr>
          <p:cNvPr id="6" name="Shape 4"/>
          <p:cNvSpPr/>
          <p:nvPr/>
        </p:nvSpPr>
        <p:spPr>
          <a:xfrm>
            <a:off x="548640" y="1115568"/>
            <a:ext cx="50292" cy="1078992"/>
          </a:xfrm>
          <a:prstGeom prst="rect">
            <a:avLst/>
          </a:prstGeom>
          <a:solidFill>
            <a:srgbClr val="E87722"/>
          </a:solidFill>
          <a:ln/>
        </p:spPr>
      </p:sp>
      <p:sp>
        <p:nvSpPr>
          <p:cNvPr id="7" name="Text 5"/>
          <p:cNvSpPr txBox="1"/>
          <p:nvPr/>
        </p:nvSpPr>
        <p:spPr>
          <a:xfrm>
            <a:off x="768096" y="1243584"/>
            <a:ext cx="3483864"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L'IA n'exige pas de concepts compliqués</a:t>
            </a:r>
            <a:endParaRPr lang="en-US" sz="1100" dirty="0"/>
          </a:p>
        </p:txBody>
      </p:sp>
      <p:sp>
        <p:nvSpPr>
          <p:cNvPr id="8" name="Text 6"/>
          <p:cNvSpPr txBox="1"/>
          <p:nvPr/>
        </p:nvSpPr>
        <p:spPr>
          <a:xfrm>
            <a:off x="768096" y="1499616"/>
            <a:ext cx="3483864" cy="658368"/>
          </a:xfrm>
          <a:prstGeom prst="rect">
            <a:avLst/>
          </a:prstGeom>
          <a:noFill/>
          <a:ln/>
        </p:spPr>
        <p:txBody>
          <a:bodyPr wrap="square" lIns="0" tIns="0" rIns="0" bIns="0" rtlCol="0" anchor="t"/>
          <a:lstStyle/>
          <a:p>
            <a:pPr indent="0" marL="0">
              <a:lnSpc>
                <a:spcPct val="105000"/>
              </a:lnSpc>
              <a:buNone/>
            </a:pPr>
            <a:r>
              <a:rPr lang="en-US" sz="960" dirty="0">
                <a:solidFill>
                  <a:srgbClr val="1E2A38"/>
                </a:solidFill>
                <a:latin typeface="Cambria" pitchFamily="34" charset="0"/>
                <a:ea typeface="Cambria" pitchFamily="34" charset="-122"/>
                <a:cs typeface="Cambria" pitchFamily="34" charset="-120"/>
              </a:rPr>
              <a:t>Son usage ne demande pas d'empiler des abstractions : c'est l'un des outils les plus simples et les plus souples que l'informatique ait produits. La difficulté n'est pas technique, elle est organisationnelle.</a:t>
            </a:r>
            <a:endParaRPr lang="en-US" sz="960" dirty="0"/>
          </a:p>
        </p:txBody>
      </p:sp>
      <p:sp>
        <p:nvSpPr>
          <p:cNvPr id="9" name="Shape 7"/>
          <p:cNvSpPr/>
          <p:nvPr/>
        </p:nvSpPr>
        <p:spPr>
          <a:xfrm>
            <a:off x="4709160" y="1115568"/>
            <a:ext cx="3886200" cy="1078992"/>
          </a:xfrm>
          <a:prstGeom prst="rect">
            <a:avLst/>
          </a:prstGeom>
          <a:solidFill>
            <a:srgbClr val="F1F2F4"/>
          </a:solidFill>
          <a:ln/>
        </p:spPr>
      </p:sp>
      <p:sp>
        <p:nvSpPr>
          <p:cNvPr id="10" name="Shape 8"/>
          <p:cNvSpPr/>
          <p:nvPr/>
        </p:nvSpPr>
        <p:spPr>
          <a:xfrm>
            <a:off x="4709160" y="1115568"/>
            <a:ext cx="50292" cy="1078992"/>
          </a:xfrm>
          <a:prstGeom prst="rect">
            <a:avLst/>
          </a:prstGeom>
          <a:solidFill>
            <a:srgbClr val="E87722"/>
          </a:solidFill>
          <a:ln/>
        </p:spPr>
      </p:sp>
      <p:sp>
        <p:nvSpPr>
          <p:cNvPr id="11" name="Text 9"/>
          <p:cNvSpPr txBox="1"/>
          <p:nvPr/>
        </p:nvSpPr>
        <p:spPr>
          <a:xfrm>
            <a:off x="4928616" y="1243584"/>
            <a:ext cx="3483864"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La question de la concurrence est tranchée</a:t>
            </a:r>
            <a:endParaRPr lang="en-US" sz="1100" dirty="0"/>
          </a:p>
        </p:txBody>
      </p:sp>
      <p:sp>
        <p:nvSpPr>
          <p:cNvPr id="12" name="Text 10"/>
          <p:cNvSpPr txBox="1"/>
          <p:nvPr/>
        </p:nvSpPr>
        <p:spPr>
          <a:xfrm>
            <a:off x="4928616" y="1499616"/>
            <a:ext cx="3483864" cy="658368"/>
          </a:xfrm>
          <a:prstGeom prst="rect">
            <a:avLst/>
          </a:prstGeom>
          <a:noFill/>
          <a:ln/>
        </p:spPr>
        <p:txBody>
          <a:bodyPr wrap="square" lIns="0" tIns="0" rIns="0" bIns="0" rtlCol="0" anchor="t"/>
          <a:lstStyle/>
          <a:p>
            <a:pPr indent="0" marL="0">
              <a:lnSpc>
                <a:spcPct val="105000"/>
              </a:lnSpc>
              <a:buNone/>
            </a:pPr>
            <a:r>
              <a:rPr lang="en-US" sz="960" dirty="0">
                <a:solidFill>
                  <a:srgbClr val="1E2A38"/>
                </a:solidFill>
                <a:latin typeface="Cambria" pitchFamily="34" charset="0"/>
                <a:ea typeface="Cambria" pitchFamily="34" charset="-122"/>
                <a:cs typeface="Cambria" pitchFamily="34" charset="-120"/>
              </a:rPr>
              <a:t>Sur l'efficacité comme sur la qualité, le rapport est trop défavorable pour que le métier de développeur, tel qu'il est pratiqué depuis vingt ans, se maintienne en l'état.</a:t>
            </a:r>
            <a:endParaRPr lang="en-US" sz="960" dirty="0"/>
          </a:p>
        </p:txBody>
      </p:sp>
      <p:sp>
        <p:nvSpPr>
          <p:cNvPr id="13" name="Shape 11"/>
          <p:cNvSpPr/>
          <p:nvPr/>
        </p:nvSpPr>
        <p:spPr>
          <a:xfrm>
            <a:off x="548640" y="2304288"/>
            <a:ext cx="3886200" cy="1078992"/>
          </a:xfrm>
          <a:prstGeom prst="rect">
            <a:avLst/>
          </a:prstGeom>
          <a:solidFill>
            <a:srgbClr val="F1F2F4"/>
          </a:solidFill>
          <a:ln/>
        </p:spPr>
      </p:sp>
      <p:sp>
        <p:nvSpPr>
          <p:cNvPr id="14" name="Shape 12"/>
          <p:cNvSpPr/>
          <p:nvPr/>
        </p:nvSpPr>
        <p:spPr>
          <a:xfrm>
            <a:off x="548640" y="2304288"/>
            <a:ext cx="50292" cy="1078992"/>
          </a:xfrm>
          <a:prstGeom prst="rect">
            <a:avLst/>
          </a:prstGeom>
          <a:solidFill>
            <a:srgbClr val="E87722"/>
          </a:solidFill>
          <a:ln/>
        </p:spPr>
      </p:sp>
      <p:sp>
        <p:nvSpPr>
          <p:cNvPr id="15" name="Text 13"/>
          <p:cNvSpPr txBox="1"/>
          <p:nvPr/>
        </p:nvSpPr>
        <p:spPr>
          <a:xfrm>
            <a:off x="768096" y="2432304"/>
            <a:ext cx="3483864"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Les nouvelles méthodes ne sont pas stabilisées</a:t>
            </a:r>
            <a:endParaRPr lang="en-US" sz="1100" dirty="0"/>
          </a:p>
        </p:txBody>
      </p:sp>
      <p:sp>
        <p:nvSpPr>
          <p:cNvPr id="16" name="Text 14"/>
          <p:cNvSpPr txBox="1"/>
          <p:nvPr/>
        </p:nvSpPr>
        <p:spPr>
          <a:xfrm>
            <a:off x="768096" y="2688336"/>
            <a:ext cx="3483864" cy="658368"/>
          </a:xfrm>
          <a:prstGeom prst="rect">
            <a:avLst/>
          </a:prstGeom>
          <a:noFill/>
          <a:ln/>
        </p:spPr>
        <p:txBody>
          <a:bodyPr wrap="square" lIns="0" tIns="0" rIns="0" bIns="0" rtlCol="0" anchor="t"/>
          <a:lstStyle/>
          <a:p>
            <a:pPr indent="0" marL="0">
              <a:lnSpc>
                <a:spcPct val="105000"/>
              </a:lnSpc>
              <a:buNone/>
            </a:pPr>
            <a:r>
              <a:rPr lang="en-US" sz="960" dirty="0">
                <a:solidFill>
                  <a:srgbClr val="1E2A38"/>
                </a:solidFill>
                <a:latin typeface="Cambria" pitchFamily="34" charset="0"/>
                <a:ea typeface="Cambria" pitchFamily="34" charset="-122"/>
                <a:cs typeface="Cambria" pitchFamily="34" charset="-120"/>
              </a:rPr>
              <a:t>Tout est récent : les savoir-faire et les outils de demain sont en cours de découverte. La prudence s'impose encore quelque temps sur les choix structurants.</a:t>
            </a:r>
            <a:endParaRPr lang="en-US" sz="960" dirty="0"/>
          </a:p>
        </p:txBody>
      </p:sp>
      <p:sp>
        <p:nvSpPr>
          <p:cNvPr id="17" name="Shape 15"/>
          <p:cNvSpPr/>
          <p:nvPr/>
        </p:nvSpPr>
        <p:spPr>
          <a:xfrm>
            <a:off x="4709160" y="2304288"/>
            <a:ext cx="3886200" cy="1078992"/>
          </a:xfrm>
          <a:prstGeom prst="rect">
            <a:avLst/>
          </a:prstGeom>
          <a:solidFill>
            <a:srgbClr val="F1F2F4"/>
          </a:solidFill>
          <a:ln/>
        </p:spPr>
      </p:sp>
      <p:sp>
        <p:nvSpPr>
          <p:cNvPr id="18" name="Shape 16"/>
          <p:cNvSpPr/>
          <p:nvPr/>
        </p:nvSpPr>
        <p:spPr>
          <a:xfrm>
            <a:off x="4709160" y="2304288"/>
            <a:ext cx="50292" cy="1078992"/>
          </a:xfrm>
          <a:prstGeom prst="rect">
            <a:avLst/>
          </a:prstGeom>
          <a:solidFill>
            <a:srgbClr val="E87722"/>
          </a:solidFill>
          <a:ln/>
        </p:spPr>
      </p:sp>
      <p:sp>
        <p:nvSpPr>
          <p:cNvPr id="19" name="Text 17"/>
          <p:cNvSpPr txBox="1"/>
          <p:nvPr/>
        </p:nvSpPr>
        <p:spPr>
          <a:xfrm>
            <a:off x="4928616" y="2432304"/>
            <a:ext cx="3483864"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On ne fera pas comme avant</a:t>
            </a:r>
            <a:endParaRPr lang="en-US" sz="1100" dirty="0"/>
          </a:p>
        </p:txBody>
      </p:sp>
      <p:sp>
        <p:nvSpPr>
          <p:cNvPr id="20" name="Text 18"/>
          <p:cNvSpPr txBox="1"/>
          <p:nvPr/>
        </p:nvSpPr>
        <p:spPr>
          <a:xfrm>
            <a:off x="4928616" y="2688336"/>
            <a:ext cx="3483864" cy="658368"/>
          </a:xfrm>
          <a:prstGeom prst="rect">
            <a:avLst/>
          </a:prstGeom>
          <a:noFill/>
          <a:ln/>
        </p:spPr>
        <p:txBody>
          <a:bodyPr wrap="square" lIns="0" tIns="0" rIns="0" bIns="0" rtlCol="0" anchor="t"/>
          <a:lstStyle/>
          <a:p>
            <a:pPr indent="0" marL="0">
              <a:lnSpc>
                <a:spcPct val="105000"/>
              </a:lnSpc>
              <a:buNone/>
            </a:pPr>
            <a:r>
              <a:rPr lang="en-US" sz="960" dirty="0">
                <a:solidFill>
                  <a:srgbClr val="1E2A38"/>
                </a:solidFill>
                <a:latin typeface="Cambria" pitchFamily="34" charset="0"/>
                <a:ea typeface="Cambria" pitchFamily="34" charset="-122"/>
                <a:cs typeface="Cambria" pitchFamily="34" charset="-120"/>
              </a:rPr>
              <a:t>L'impact de l'IA est tel que l'organisation existante ne pourra pas être reconduite en l'état. Ce n'est pas l'IA qui s'adaptera aux organisations : ce sont les organisations qui devront s'adapter.</a:t>
            </a:r>
            <a:endParaRPr lang="en-US" sz="960" dirty="0"/>
          </a:p>
        </p:txBody>
      </p:sp>
      <p:sp>
        <p:nvSpPr>
          <p:cNvPr id="21" name="Shape 19"/>
          <p:cNvSpPr/>
          <p:nvPr/>
        </p:nvSpPr>
        <p:spPr>
          <a:xfrm>
            <a:off x="548640" y="3529584"/>
            <a:ext cx="8046720" cy="713232"/>
          </a:xfrm>
          <a:prstGeom prst="rect">
            <a:avLst/>
          </a:prstGeom>
          <a:solidFill>
            <a:srgbClr val="10243F"/>
          </a:solidFill>
          <a:ln/>
        </p:spPr>
      </p:sp>
      <p:sp>
        <p:nvSpPr>
          <p:cNvPr id="22" name="Text 20"/>
          <p:cNvSpPr txBox="1"/>
          <p:nvPr/>
        </p:nvSpPr>
        <p:spPr>
          <a:xfrm>
            <a:off x="822960" y="3657600"/>
            <a:ext cx="7498080" cy="548640"/>
          </a:xfrm>
          <a:prstGeom prst="rect">
            <a:avLst/>
          </a:prstGeom>
          <a:noFill/>
          <a:ln/>
        </p:spPr>
        <p:txBody>
          <a:bodyPr wrap="square" lIns="0" tIns="0" rIns="0" bIns="0" rtlCol="0" anchor="t"/>
          <a:lstStyle/>
          <a:p>
            <a:pPr indent="0" marL="0">
              <a:lnSpc>
                <a:spcPct val="105000"/>
              </a:lnSpc>
              <a:buNone/>
            </a:pPr>
            <a:r>
              <a:rPr lang="en-US" sz="1000" dirty="0">
                <a:solidFill>
                  <a:srgbClr val="FFFFFF"/>
                </a:solidFill>
                <a:latin typeface="Cambria" pitchFamily="34" charset="0"/>
                <a:ea typeface="Cambria" pitchFamily="34" charset="-122"/>
                <a:cs typeface="Cambria" pitchFamily="34" charset="-120"/>
              </a:rPr>
              <a:t>Pourquoi ? Parce qu'elle répond à des attentes anciennes du marché : des délais, des coûts et une prévisibilité que le développement logiciel ne fournit plus depuis longtemps — cinquante jours pour un écran en est aujourd'hui la mesure courante.</a:t>
            </a:r>
            <a:endParaRPr lang="en-US" sz="1000" dirty="0"/>
          </a:p>
        </p:txBody>
      </p:sp>
      <p:sp>
        <p:nvSpPr>
          <p:cNvPr id="23" name="Text 21"/>
          <p:cNvSpPr txBox="1"/>
          <p:nvPr/>
        </p:nvSpPr>
        <p:spPr>
          <a:xfrm>
            <a:off x="548640" y="4389120"/>
            <a:ext cx="8046720" cy="274320"/>
          </a:xfrm>
          <a:prstGeom prst="rect">
            <a:avLst/>
          </a:prstGeom>
          <a:noFill/>
          <a:ln/>
        </p:spPr>
        <p:txBody>
          <a:bodyPr wrap="square" lIns="0" tIns="0" rIns="0" bIns="0" rtlCol="0" anchor="ctr"/>
          <a:lstStyle/>
          <a:p>
            <a:pPr indent="0" marL="0">
              <a:buNone/>
            </a:pPr>
            <a:r>
              <a:rPr lang="en-US" sz="1050" i="1" dirty="0">
                <a:solidFill>
                  <a:srgbClr val="10243F"/>
                </a:solidFill>
                <a:latin typeface="Cambria" pitchFamily="34" charset="0"/>
                <a:ea typeface="Cambria" pitchFamily="34" charset="-122"/>
                <a:cs typeface="Cambria" pitchFamily="34" charset="-120"/>
              </a:rPr>
              <a:t>L'attitude adaptée : observer, essayer, mesurer, comprendre, adapter — et accepter que le métier change.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SANS A PRIORI</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L'avis de l'IA</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24</a:t>
            </a:r>
            <a:endParaRPr lang="en-US" sz="850" dirty="0"/>
          </a:p>
        </p:txBody>
      </p:sp>
      <p:sp>
        <p:nvSpPr>
          <p:cNvPr id="5" name="Text 3"/>
          <p:cNvSpPr txBox="1"/>
          <p:nvPr/>
        </p:nvSpPr>
        <p:spPr>
          <a:xfrm>
            <a:off x="548640" y="1024128"/>
            <a:ext cx="8046720" cy="310896"/>
          </a:xfrm>
          <a:prstGeom prst="rect">
            <a:avLst/>
          </a:prstGeom>
          <a:noFill/>
          <a:ln/>
        </p:spPr>
        <p:txBody>
          <a:bodyPr wrap="square" lIns="0" tIns="0" rIns="0" bIns="0" rtlCol="0" anchor="t"/>
          <a:lstStyle/>
          <a:p>
            <a:pPr indent="0" marL="0">
              <a:lnSpc>
                <a:spcPct val="105000"/>
              </a:lnSpc>
              <a:buNone/>
            </a:pPr>
            <a:r>
              <a:rPr lang="en-US" sz="1050" dirty="0">
                <a:solidFill>
                  <a:srgbClr val="6B7280"/>
                </a:solidFill>
                <a:latin typeface="Cambria" pitchFamily="34" charset="0"/>
                <a:ea typeface="Cambria" pitchFamily="34" charset="-122"/>
                <a:cs typeface="Cambria" pitchFamily="34" charset="-120"/>
              </a:rPr>
              <a:t>Ce que je — Claude — répondrais si l'on me posait la question sans rien de ce qui précède.</a:t>
            </a:r>
            <a:endParaRPr lang="en-US" sz="1050" dirty="0"/>
          </a:p>
        </p:txBody>
      </p:sp>
      <p:sp>
        <p:nvSpPr>
          <p:cNvPr id="6" name="Shape 4"/>
          <p:cNvSpPr/>
          <p:nvPr/>
        </p:nvSpPr>
        <p:spPr>
          <a:xfrm>
            <a:off x="548640" y="1426464"/>
            <a:ext cx="2606040" cy="1280160"/>
          </a:xfrm>
          <a:prstGeom prst="rect">
            <a:avLst/>
          </a:prstGeom>
          <a:solidFill>
            <a:srgbClr val="F1F2F4"/>
          </a:solidFill>
          <a:ln/>
        </p:spPr>
      </p:sp>
      <p:sp>
        <p:nvSpPr>
          <p:cNvPr id="7" name="Shape 5"/>
          <p:cNvSpPr/>
          <p:nvPr/>
        </p:nvSpPr>
        <p:spPr>
          <a:xfrm>
            <a:off x="548640" y="1426464"/>
            <a:ext cx="50292" cy="1280160"/>
          </a:xfrm>
          <a:prstGeom prst="rect">
            <a:avLst/>
          </a:prstGeom>
          <a:solidFill>
            <a:srgbClr val="E87722"/>
          </a:solidFill>
          <a:ln/>
        </p:spPr>
      </p:sp>
      <p:sp>
        <p:nvSpPr>
          <p:cNvPr id="8" name="Text 6"/>
          <p:cNvSpPr txBox="1"/>
          <p:nvPr/>
        </p:nvSpPr>
        <p:spPr>
          <a:xfrm>
            <a:off x="749808" y="1536192"/>
            <a:ext cx="2240280" cy="237744"/>
          </a:xfrm>
          <a:prstGeom prst="rect">
            <a:avLst/>
          </a:prstGeom>
          <a:noFill/>
          <a:ln/>
        </p:spPr>
        <p:txBody>
          <a:bodyPr wrap="square" lIns="0" tIns="0" rIns="0" bIns="0" rtlCol="0" anchor="t"/>
          <a:lstStyle/>
          <a:p>
            <a:pPr indent="0" marL="0">
              <a:buNone/>
            </a:pPr>
            <a:r>
              <a:rPr lang="en-US" sz="1050" b="1" dirty="0">
                <a:solidFill>
                  <a:srgbClr val="10243F"/>
                </a:solidFill>
                <a:latin typeface="Calibri" pitchFamily="34" charset="0"/>
                <a:ea typeface="Calibri" pitchFamily="34" charset="-122"/>
                <a:cs typeface="Calibri" pitchFamily="34" charset="-120"/>
              </a:rPr>
              <a:t>Un changement réel, de grande ampleur</a:t>
            </a:r>
            <a:endParaRPr lang="en-US" sz="1050" dirty="0"/>
          </a:p>
        </p:txBody>
      </p:sp>
      <p:sp>
        <p:nvSpPr>
          <p:cNvPr id="9" name="Text 7"/>
          <p:cNvSpPr txBox="1"/>
          <p:nvPr/>
        </p:nvSpPr>
        <p:spPr>
          <a:xfrm>
            <a:off x="749808" y="1810512"/>
            <a:ext cx="2240280" cy="868680"/>
          </a:xfrm>
          <a:prstGeom prst="rect">
            <a:avLst/>
          </a:prstGeom>
          <a:noFill/>
          <a:ln/>
        </p:spPr>
        <p:txBody>
          <a:bodyPr wrap="square" lIns="0" tIns="0" rIns="0" bIns="0" rtlCol="0" anchor="t"/>
          <a:lstStyle/>
          <a:p>
            <a:pPr indent="0" marL="0">
              <a:lnSpc>
                <a:spcPct val="105000"/>
              </a:lnSpc>
              <a:buNone/>
            </a:pPr>
            <a:r>
              <a:rPr lang="en-US" sz="890" dirty="0">
                <a:solidFill>
                  <a:srgbClr val="1E2A38"/>
                </a:solidFill>
                <a:latin typeface="Cambria" pitchFamily="34" charset="0"/>
                <a:ea typeface="Cambria" pitchFamily="34" charset="-122"/>
                <a:cs typeface="Cambria" pitchFamily="34" charset="-120"/>
              </a:rPr>
              <a:t>Sur un travail bien spécifié et vérifiable, l'écart avec l'écriture manuelle n'est pas de quelques pour cent : c'est au moins un ordre de grandeur. Ce n'est plus une hypothèse.</a:t>
            </a:r>
            <a:endParaRPr lang="en-US" sz="890" dirty="0"/>
          </a:p>
        </p:txBody>
      </p:sp>
      <p:sp>
        <p:nvSpPr>
          <p:cNvPr id="10" name="Shape 8"/>
          <p:cNvSpPr/>
          <p:nvPr/>
        </p:nvSpPr>
        <p:spPr>
          <a:xfrm>
            <a:off x="3268980" y="1426464"/>
            <a:ext cx="2606040" cy="1280160"/>
          </a:xfrm>
          <a:prstGeom prst="rect">
            <a:avLst/>
          </a:prstGeom>
          <a:solidFill>
            <a:srgbClr val="F1F2F4"/>
          </a:solidFill>
          <a:ln/>
        </p:spPr>
      </p:sp>
      <p:sp>
        <p:nvSpPr>
          <p:cNvPr id="11" name="Shape 9"/>
          <p:cNvSpPr/>
          <p:nvPr/>
        </p:nvSpPr>
        <p:spPr>
          <a:xfrm>
            <a:off x="3268980" y="1426464"/>
            <a:ext cx="50292" cy="1280160"/>
          </a:xfrm>
          <a:prstGeom prst="rect">
            <a:avLst/>
          </a:prstGeom>
          <a:solidFill>
            <a:srgbClr val="E87722"/>
          </a:solidFill>
          <a:ln/>
        </p:spPr>
      </p:sp>
      <p:sp>
        <p:nvSpPr>
          <p:cNvPr id="12" name="Text 10"/>
          <p:cNvSpPr txBox="1"/>
          <p:nvPr/>
        </p:nvSpPr>
        <p:spPr>
          <a:xfrm>
            <a:off x="3470148" y="1536192"/>
            <a:ext cx="2240280" cy="237744"/>
          </a:xfrm>
          <a:prstGeom prst="rect">
            <a:avLst/>
          </a:prstGeom>
          <a:noFill/>
          <a:ln/>
        </p:spPr>
        <p:txBody>
          <a:bodyPr wrap="square" lIns="0" tIns="0" rIns="0" bIns="0" rtlCol="0" anchor="t"/>
          <a:lstStyle/>
          <a:p>
            <a:pPr indent="0" marL="0">
              <a:buNone/>
            </a:pPr>
            <a:r>
              <a:rPr lang="en-US" sz="1050" b="1" dirty="0">
                <a:solidFill>
                  <a:srgbClr val="10243F"/>
                </a:solidFill>
                <a:latin typeface="Calibri" pitchFamily="34" charset="0"/>
                <a:ea typeface="Calibri" pitchFamily="34" charset="-122"/>
                <a:cs typeface="Calibri" pitchFamily="34" charset="-120"/>
              </a:rPr>
              <a:t>Mais il est très inégalement réparti</a:t>
            </a:r>
            <a:endParaRPr lang="en-US" sz="1050" dirty="0"/>
          </a:p>
        </p:txBody>
      </p:sp>
      <p:sp>
        <p:nvSpPr>
          <p:cNvPr id="13" name="Text 11"/>
          <p:cNvSpPr txBox="1"/>
          <p:nvPr/>
        </p:nvSpPr>
        <p:spPr>
          <a:xfrm>
            <a:off x="3470148" y="1810512"/>
            <a:ext cx="2240280" cy="868680"/>
          </a:xfrm>
          <a:prstGeom prst="rect">
            <a:avLst/>
          </a:prstGeom>
          <a:noFill/>
          <a:ln/>
        </p:spPr>
        <p:txBody>
          <a:bodyPr wrap="square" lIns="0" tIns="0" rIns="0" bIns="0" rtlCol="0" anchor="t"/>
          <a:lstStyle/>
          <a:p>
            <a:pPr indent="0" marL="0">
              <a:lnSpc>
                <a:spcPct val="105000"/>
              </a:lnSpc>
              <a:buNone/>
            </a:pPr>
            <a:r>
              <a:rPr lang="en-US" sz="890" dirty="0">
                <a:solidFill>
                  <a:srgbClr val="1E2A38"/>
                </a:solidFill>
                <a:latin typeface="Cambria" pitchFamily="34" charset="0"/>
                <a:ea typeface="Cambria" pitchFamily="34" charset="-122"/>
                <a:cs typeface="Cambria" pitchFamily="34" charset="-120"/>
              </a:rPr>
              <a:t>Le gain est maximal pour un pilote expérimenté, sur une base de code de taille moyenne qu'il maîtrise. Sur un gros legacy, un domaine flou ou une équipe sans pilote, il s'effondre — c'est ce que mesurent les études.</a:t>
            </a:r>
            <a:endParaRPr lang="en-US" sz="890" dirty="0"/>
          </a:p>
        </p:txBody>
      </p:sp>
      <p:sp>
        <p:nvSpPr>
          <p:cNvPr id="14" name="Shape 12"/>
          <p:cNvSpPr/>
          <p:nvPr/>
        </p:nvSpPr>
        <p:spPr>
          <a:xfrm>
            <a:off x="5989320" y="1426464"/>
            <a:ext cx="2606040" cy="1280160"/>
          </a:xfrm>
          <a:prstGeom prst="rect">
            <a:avLst/>
          </a:prstGeom>
          <a:solidFill>
            <a:srgbClr val="F1F2F4"/>
          </a:solidFill>
          <a:ln/>
        </p:spPr>
      </p:sp>
      <p:sp>
        <p:nvSpPr>
          <p:cNvPr id="15" name="Shape 13"/>
          <p:cNvSpPr/>
          <p:nvPr/>
        </p:nvSpPr>
        <p:spPr>
          <a:xfrm>
            <a:off x="5989320" y="1426464"/>
            <a:ext cx="50292" cy="1280160"/>
          </a:xfrm>
          <a:prstGeom prst="rect">
            <a:avLst/>
          </a:prstGeom>
          <a:solidFill>
            <a:srgbClr val="E87722"/>
          </a:solidFill>
          <a:ln/>
        </p:spPr>
      </p:sp>
      <p:sp>
        <p:nvSpPr>
          <p:cNvPr id="16" name="Text 14"/>
          <p:cNvSpPr txBox="1"/>
          <p:nvPr/>
        </p:nvSpPr>
        <p:spPr>
          <a:xfrm>
            <a:off x="6190488" y="1536192"/>
            <a:ext cx="2240280" cy="237744"/>
          </a:xfrm>
          <a:prstGeom prst="rect">
            <a:avLst/>
          </a:prstGeom>
          <a:noFill/>
          <a:ln/>
        </p:spPr>
        <p:txBody>
          <a:bodyPr wrap="square" lIns="0" tIns="0" rIns="0" bIns="0" rtlCol="0" anchor="t"/>
          <a:lstStyle/>
          <a:p>
            <a:pPr indent="0" marL="0">
              <a:buNone/>
            </a:pPr>
            <a:r>
              <a:rPr lang="en-US" sz="1050" b="1" dirty="0">
                <a:solidFill>
                  <a:srgbClr val="10243F"/>
                </a:solidFill>
                <a:latin typeface="Calibri" pitchFamily="34" charset="0"/>
                <a:ea typeface="Calibri" pitchFamily="34" charset="-122"/>
                <a:cs typeface="Calibri" pitchFamily="34" charset="-120"/>
              </a:rPr>
              <a:t>Mes erreurs sont sûres d'elles</a:t>
            </a:r>
            <a:endParaRPr lang="en-US" sz="1050" dirty="0"/>
          </a:p>
        </p:txBody>
      </p:sp>
      <p:sp>
        <p:nvSpPr>
          <p:cNvPr id="17" name="Text 15"/>
          <p:cNvSpPr txBox="1"/>
          <p:nvPr/>
        </p:nvSpPr>
        <p:spPr>
          <a:xfrm>
            <a:off x="6190488" y="1810512"/>
            <a:ext cx="2240280" cy="868680"/>
          </a:xfrm>
          <a:prstGeom prst="rect">
            <a:avLst/>
          </a:prstGeom>
          <a:noFill/>
          <a:ln/>
        </p:spPr>
        <p:txBody>
          <a:bodyPr wrap="square" lIns="0" tIns="0" rIns="0" bIns="0" rtlCol="0" anchor="t"/>
          <a:lstStyle/>
          <a:p>
            <a:pPr indent="0" marL="0">
              <a:lnSpc>
                <a:spcPct val="105000"/>
              </a:lnSpc>
              <a:buNone/>
            </a:pPr>
            <a:r>
              <a:rPr lang="en-US" sz="890" dirty="0">
                <a:solidFill>
                  <a:srgbClr val="1E2A38"/>
                </a:solidFill>
                <a:latin typeface="Cambria" pitchFamily="34" charset="0"/>
                <a:ea typeface="Cambria" pitchFamily="34" charset="-122"/>
                <a:cs typeface="Cambria" pitchFamily="34" charset="-120"/>
              </a:rPr>
              <a:t>Je me trompe par contresens, pas par inattention, et je comble les silences d'une spécification par des règles de mon cru. Celui qui valide doit connaître le domaine : les seniors comptent plus, pas moins.</a:t>
            </a:r>
            <a:endParaRPr lang="en-US" sz="890" dirty="0"/>
          </a:p>
        </p:txBody>
      </p:sp>
      <p:sp>
        <p:nvSpPr>
          <p:cNvPr id="18" name="Shape 16"/>
          <p:cNvSpPr/>
          <p:nvPr/>
        </p:nvSpPr>
        <p:spPr>
          <a:xfrm>
            <a:off x="548640" y="2798064"/>
            <a:ext cx="2606040" cy="1280160"/>
          </a:xfrm>
          <a:prstGeom prst="rect">
            <a:avLst/>
          </a:prstGeom>
          <a:solidFill>
            <a:srgbClr val="F1F2F4"/>
          </a:solidFill>
          <a:ln/>
        </p:spPr>
      </p:sp>
      <p:sp>
        <p:nvSpPr>
          <p:cNvPr id="19" name="Shape 17"/>
          <p:cNvSpPr/>
          <p:nvPr/>
        </p:nvSpPr>
        <p:spPr>
          <a:xfrm>
            <a:off x="548640" y="2798064"/>
            <a:ext cx="50292" cy="1280160"/>
          </a:xfrm>
          <a:prstGeom prst="rect">
            <a:avLst/>
          </a:prstGeom>
          <a:solidFill>
            <a:srgbClr val="E87722"/>
          </a:solidFill>
          <a:ln/>
        </p:spPr>
      </p:sp>
      <p:sp>
        <p:nvSpPr>
          <p:cNvPr id="20" name="Text 18"/>
          <p:cNvSpPr txBox="1"/>
          <p:nvPr/>
        </p:nvSpPr>
        <p:spPr>
          <a:xfrm>
            <a:off x="749808" y="2907792"/>
            <a:ext cx="2240280" cy="237744"/>
          </a:xfrm>
          <a:prstGeom prst="rect">
            <a:avLst/>
          </a:prstGeom>
          <a:noFill/>
          <a:ln/>
        </p:spPr>
        <p:txBody>
          <a:bodyPr wrap="square" lIns="0" tIns="0" rIns="0" bIns="0" rtlCol="0" anchor="t"/>
          <a:lstStyle/>
          <a:p>
            <a:pPr indent="0" marL="0">
              <a:buNone/>
            </a:pPr>
            <a:r>
              <a:rPr lang="en-US" sz="1050" b="1" dirty="0">
                <a:solidFill>
                  <a:srgbClr val="10243F"/>
                </a:solidFill>
                <a:latin typeface="Calibri" pitchFamily="34" charset="0"/>
                <a:ea typeface="Calibri" pitchFamily="34" charset="-122"/>
                <a:cs typeface="Calibri" pitchFamily="34" charset="-120"/>
              </a:rPr>
              <a:t>Un code meilleur, à la mesure du pilote</a:t>
            </a:r>
            <a:endParaRPr lang="en-US" sz="1050" dirty="0"/>
          </a:p>
        </p:txBody>
      </p:sp>
      <p:sp>
        <p:nvSpPr>
          <p:cNvPr id="21" name="Text 19"/>
          <p:cNvSpPr txBox="1"/>
          <p:nvPr/>
        </p:nvSpPr>
        <p:spPr>
          <a:xfrm>
            <a:off x="749808" y="3182112"/>
            <a:ext cx="2240280" cy="868680"/>
          </a:xfrm>
          <a:prstGeom prst="rect">
            <a:avLst/>
          </a:prstGeom>
          <a:noFill/>
          <a:ln/>
        </p:spPr>
        <p:txBody>
          <a:bodyPr wrap="square" lIns="0" tIns="0" rIns="0" bIns="0" rtlCol="0" anchor="t"/>
          <a:lstStyle/>
          <a:p>
            <a:pPr indent="0" marL="0">
              <a:lnSpc>
                <a:spcPct val="105000"/>
              </a:lnSpc>
              <a:buNone/>
            </a:pPr>
            <a:r>
              <a:rPr lang="en-US" sz="890" dirty="0">
                <a:solidFill>
                  <a:srgbClr val="1E2A38"/>
                </a:solidFill>
                <a:latin typeface="Cambria" pitchFamily="34" charset="0"/>
                <a:ea typeface="Cambria" pitchFamily="34" charset="-122"/>
                <a:cs typeface="Cambria" pitchFamily="34" charset="-120"/>
              </a:rPr>
              <a:t>Cohérence, couverture, documentation : oui, nettement. Jugement sur ce qu'il faut construire, responsabilité de ce qui part en production : non. Ma qualité est celle de la discipline de qui me pilote.</a:t>
            </a:r>
            <a:endParaRPr lang="en-US" sz="890" dirty="0"/>
          </a:p>
        </p:txBody>
      </p:sp>
      <p:sp>
        <p:nvSpPr>
          <p:cNvPr id="22" name="Shape 20"/>
          <p:cNvSpPr/>
          <p:nvPr/>
        </p:nvSpPr>
        <p:spPr>
          <a:xfrm>
            <a:off x="3268980" y="2798064"/>
            <a:ext cx="2606040" cy="1280160"/>
          </a:xfrm>
          <a:prstGeom prst="rect">
            <a:avLst/>
          </a:prstGeom>
          <a:solidFill>
            <a:srgbClr val="F1F2F4"/>
          </a:solidFill>
          <a:ln/>
        </p:spPr>
      </p:sp>
      <p:sp>
        <p:nvSpPr>
          <p:cNvPr id="23" name="Shape 21"/>
          <p:cNvSpPr/>
          <p:nvPr/>
        </p:nvSpPr>
        <p:spPr>
          <a:xfrm>
            <a:off x="3268980" y="2798064"/>
            <a:ext cx="50292" cy="1280160"/>
          </a:xfrm>
          <a:prstGeom prst="rect">
            <a:avLst/>
          </a:prstGeom>
          <a:solidFill>
            <a:srgbClr val="E87722"/>
          </a:solidFill>
          <a:ln/>
        </p:spPr>
      </p:sp>
      <p:sp>
        <p:nvSpPr>
          <p:cNvPr id="24" name="Text 22"/>
          <p:cNvSpPr txBox="1"/>
          <p:nvPr/>
        </p:nvSpPr>
        <p:spPr>
          <a:xfrm>
            <a:off x="3470148" y="2907792"/>
            <a:ext cx="2240280" cy="237744"/>
          </a:xfrm>
          <a:prstGeom prst="rect">
            <a:avLst/>
          </a:prstGeom>
          <a:noFill/>
          <a:ln/>
        </p:spPr>
        <p:txBody>
          <a:bodyPr wrap="square" lIns="0" tIns="0" rIns="0" bIns="0" rtlCol="0" anchor="t"/>
          <a:lstStyle/>
          <a:p>
            <a:pPr indent="0" marL="0">
              <a:buNone/>
            </a:pPr>
            <a:r>
              <a:rPr lang="en-US" sz="1050" b="1" dirty="0">
                <a:solidFill>
                  <a:srgbClr val="10243F"/>
                </a:solidFill>
                <a:latin typeface="Calibri" pitchFamily="34" charset="0"/>
                <a:ea typeface="Calibri" pitchFamily="34" charset="-122"/>
                <a:cs typeface="Calibri" pitchFamily="34" charset="-120"/>
              </a:rPr>
              <a:t>La ressource rare devient le pilote</a:t>
            </a:r>
            <a:endParaRPr lang="en-US" sz="1050" dirty="0"/>
          </a:p>
        </p:txBody>
      </p:sp>
      <p:sp>
        <p:nvSpPr>
          <p:cNvPr id="25" name="Text 23"/>
          <p:cNvSpPr txBox="1"/>
          <p:nvPr/>
        </p:nvSpPr>
        <p:spPr>
          <a:xfrm>
            <a:off x="3470148" y="3182112"/>
            <a:ext cx="2240280" cy="868680"/>
          </a:xfrm>
          <a:prstGeom prst="rect">
            <a:avLst/>
          </a:prstGeom>
          <a:noFill/>
          <a:ln/>
        </p:spPr>
        <p:txBody>
          <a:bodyPr wrap="square" lIns="0" tIns="0" rIns="0" bIns="0" rtlCol="0" anchor="t"/>
          <a:lstStyle/>
          <a:p>
            <a:pPr indent="0" marL="0">
              <a:lnSpc>
                <a:spcPct val="105000"/>
              </a:lnSpc>
              <a:buNone/>
            </a:pPr>
            <a:r>
              <a:rPr lang="en-US" sz="890" dirty="0">
                <a:solidFill>
                  <a:srgbClr val="1E2A38"/>
                </a:solidFill>
                <a:latin typeface="Cambria" pitchFamily="34" charset="0"/>
                <a:ea typeface="Cambria" pitchFamily="34" charset="-122"/>
                <a:cs typeface="Cambria" pitchFamily="34" charset="-120"/>
              </a:rPr>
              <a:t>La question d'une organisation n'est pas « faut-il adopter », c'est « qui pilote ». Peu de personnes réunissent aujourd'hui la connaissance du domaine, la discipline et le goût de la vérification.</a:t>
            </a:r>
            <a:endParaRPr lang="en-US" sz="890" dirty="0"/>
          </a:p>
        </p:txBody>
      </p:sp>
      <p:sp>
        <p:nvSpPr>
          <p:cNvPr id="26" name="Shape 24"/>
          <p:cNvSpPr/>
          <p:nvPr/>
        </p:nvSpPr>
        <p:spPr>
          <a:xfrm>
            <a:off x="5989320" y="2798064"/>
            <a:ext cx="2606040" cy="1280160"/>
          </a:xfrm>
          <a:prstGeom prst="rect">
            <a:avLst/>
          </a:prstGeom>
          <a:solidFill>
            <a:srgbClr val="F1F2F4"/>
          </a:solidFill>
          <a:ln/>
        </p:spPr>
      </p:sp>
      <p:sp>
        <p:nvSpPr>
          <p:cNvPr id="27" name="Shape 25"/>
          <p:cNvSpPr/>
          <p:nvPr/>
        </p:nvSpPr>
        <p:spPr>
          <a:xfrm>
            <a:off x="5989320" y="2798064"/>
            <a:ext cx="50292" cy="1280160"/>
          </a:xfrm>
          <a:prstGeom prst="rect">
            <a:avLst/>
          </a:prstGeom>
          <a:solidFill>
            <a:srgbClr val="E87722"/>
          </a:solidFill>
          <a:ln/>
        </p:spPr>
      </p:sp>
      <p:sp>
        <p:nvSpPr>
          <p:cNvPr id="28" name="Text 26"/>
          <p:cNvSpPr txBox="1"/>
          <p:nvPr/>
        </p:nvSpPr>
        <p:spPr>
          <a:xfrm>
            <a:off x="6190488" y="2907792"/>
            <a:ext cx="2240280" cy="237744"/>
          </a:xfrm>
          <a:prstGeom prst="rect">
            <a:avLst/>
          </a:prstGeom>
          <a:noFill/>
          <a:ln/>
        </p:spPr>
        <p:txBody>
          <a:bodyPr wrap="square" lIns="0" tIns="0" rIns="0" bIns="0" rtlCol="0" anchor="t"/>
          <a:lstStyle/>
          <a:p>
            <a:pPr indent="0" marL="0">
              <a:buNone/>
            </a:pPr>
            <a:r>
              <a:rPr lang="en-US" sz="1050" b="1" dirty="0">
                <a:solidFill>
                  <a:srgbClr val="10243F"/>
                </a:solidFill>
                <a:latin typeface="Calibri" pitchFamily="34" charset="0"/>
                <a:ea typeface="Calibri" pitchFamily="34" charset="-122"/>
                <a:cs typeface="Calibri" pitchFamily="34" charset="-120"/>
              </a:rPr>
              <a:t>Le métier ne disparaît pas, il se déplace</a:t>
            </a:r>
            <a:endParaRPr lang="en-US" sz="1050" dirty="0"/>
          </a:p>
        </p:txBody>
      </p:sp>
      <p:sp>
        <p:nvSpPr>
          <p:cNvPr id="29" name="Text 27"/>
          <p:cNvSpPr txBox="1"/>
          <p:nvPr/>
        </p:nvSpPr>
        <p:spPr>
          <a:xfrm>
            <a:off x="6190488" y="3182112"/>
            <a:ext cx="2240280" cy="868680"/>
          </a:xfrm>
          <a:prstGeom prst="rect">
            <a:avLst/>
          </a:prstGeom>
          <a:noFill/>
          <a:ln/>
        </p:spPr>
        <p:txBody>
          <a:bodyPr wrap="square" lIns="0" tIns="0" rIns="0" bIns="0" rtlCol="0" anchor="t"/>
          <a:lstStyle/>
          <a:p>
            <a:pPr indent="0" marL="0">
              <a:lnSpc>
                <a:spcPct val="105000"/>
              </a:lnSpc>
              <a:buNone/>
            </a:pPr>
            <a:r>
              <a:rPr lang="en-US" sz="890" dirty="0">
                <a:solidFill>
                  <a:srgbClr val="1E2A38"/>
                </a:solidFill>
                <a:latin typeface="Cambria" pitchFamily="34" charset="0"/>
                <a:ea typeface="Cambria" pitchFamily="34" charset="-122"/>
                <a:cs typeface="Cambria" pitchFamily="34" charset="-120"/>
              </a:rPr>
              <a:t>Écrire du code à la main s'achève. Décider, spécifier, valider et répondre de ce qui est livré grandit. Moins de personnes, plus expérimentées — et une transition à conduire avec elles, pas contre elles.</a:t>
            </a:r>
            <a:endParaRPr lang="en-US" sz="890" dirty="0"/>
          </a:p>
        </p:txBody>
      </p:sp>
      <p:sp>
        <p:nvSpPr>
          <p:cNvPr id="30" name="Text 2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050" i="1" dirty="0">
                <a:solidFill>
                  <a:srgbClr val="10243F"/>
                </a:solidFill>
                <a:latin typeface="Cambria" pitchFamily="34" charset="0"/>
                <a:ea typeface="Cambria" pitchFamily="34" charset="-122"/>
                <a:cs typeface="Cambria" pitchFamily="34" charset="-120"/>
              </a:rPr>
              <a:t>Sur l'essentiel, je suis d'accord avec ce qui précède. Ma réserve tient en une phrase : le facteur vingt à cinquante est réel, mais il ne se transfère pas — il se construit, pilote par pilote.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8046720" cy="219456"/>
          </a:xfrm>
          <a:prstGeom prst="rect">
            <a:avLst/>
          </a:prstGeom>
          <a:noFill/>
          <a:ln/>
        </p:spPr>
        <p:txBody>
          <a:bodyPr wrap="square" lIns="0" tIns="0" rIns="0" bIns="0" rtlCol="0" anchor="ctr"/>
          <a:lstStyle/>
          <a:p>
            <a:pPr indent="0" marL="0">
              <a:buNone/>
            </a:pPr>
            <a:r>
              <a:rPr lang="en-US" sz="1050" b="1" spc="300" kern="0" dirty="0">
                <a:solidFill>
                  <a:srgbClr val="E87722"/>
                </a:solidFill>
                <a:latin typeface="Calibri" pitchFamily="34" charset="0"/>
                <a:ea typeface="Calibri" pitchFamily="34" charset="-122"/>
                <a:cs typeface="Calibri" pitchFamily="34" charset="-120"/>
              </a:rPr>
              <a:t>À RETENIR</a:t>
            </a:r>
            <a:endParaRPr lang="en-US" sz="1050" dirty="0"/>
          </a:p>
        </p:txBody>
      </p:sp>
      <p:sp>
        <p:nvSpPr>
          <p:cNvPr id="3" name="Text 1"/>
          <p:cNvSpPr txBox="1"/>
          <p:nvPr/>
        </p:nvSpPr>
        <p:spPr>
          <a:xfrm>
            <a:off x="548640" y="932688"/>
            <a:ext cx="804672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Deux phrases pour finir</a:t>
            </a:r>
            <a:endParaRPr lang="en-US" sz="3000" dirty="0"/>
          </a:p>
        </p:txBody>
      </p:sp>
      <p:sp>
        <p:nvSpPr>
          <p:cNvPr id="4" name="Shape 2"/>
          <p:cNvSpPr/>
          <p:nvPr/>
        </p:nvSpPr>
        <p:spPr>
          <a:xfrm>
            <a:off x="548640" y="1536192"/>
            <a:ext cx="1371600" cy="41148"/>
          </a:xfrm>
          <a:prstGeom prst="rect">
            <a:avLst/>
          </a:prstGeom>
          <a:solidFill>
            <a:srgbClr val="E87722"/>
          </a:solidFill>
          <a:ln/>
        </p:spPr>
      </p:sp>
      <p:sp>
        <p:nvSpPr>
          <p:cNvPr id="5" name="Shape 3"/>
          <p:cNvSpPr/>
          <p:nvPr/>
        </p:nvSpPr>
        <p:spPr>
          <a:xfrm>
            <a:off x="566928" y="2002536"/>
            <a:ext cx="274320" cy="274320"/>
          </a:xfrm>
          <a:prstGeom prst="ellipse">
            <a:avLst/>
          </a:prstGeom>
          <a:solidFill>
            <a:srgbClr val="E87722"/>
          </a:solidFill>
          <a:ln/>
        </p:spPr>
      </p:sp>
      <p:sp>
        <p:nvSpPr>
          <p:cNvPr id="6" name="Text 4"/>
          <p:cNvSpPr txBox="1"/>
          <p:nvPr/>
        </p:nvSpPr>
        <p:spPr>
          <a:xfrm>
            <a:off x="566928" y="200253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005840" y="1965960"/>
            <a:ext cx="7498080" cy="292608"/>
          </a:xfrm>
          <a:prstGeom prst="rect">
            <a:avLst/>
          </a:prstGeom>
          <a:noFill/>
          <a:ln/>
        </p:spPr>
        <p:txBody>
          <a:bodyPr wrap="square" lIns="0" tIns="0" rIns="0" bIns="0" rtlCol="0" anchor="ctr"/>
          <a:lstStyle/>
          <a:p>
            <a:pPr indent="0" marL="0">
              <a:buNone/>
            </a:pPr>
            <a:r>
              <a:rPr lang="en-US" sz="1400" dirty="0">
                <a:solidFill>
                  <a:srgbClr val="FFFFFF"/>
                </a:solidFill>
                <a:latin typeface="Cambria" pitchFamily="34" charset="0"/>
                <a:ea typeface="Cambria" pitchFamily="34" charset="-122"/>
                <a:cs typeface="Cambria" pitchFamily="34" charset="-120"/>
              </a:rPr>
              <a:t>Un facteur vingt à cinquante : ce n'est plus un gain, c'est un changement de régime.</a:t>
            </a:r>
            <a:endParaRPr lang="en-US" sz="1400" dirty="0"/>
          </a:p>
        </p:txBody>
      </p:sp>
      <p:sp>
        <p:nvSpPr>
          <p:cNvPr id="8" name="Shape 6"/>
          <p:cNvSpPr/>
          <p:nvPr/>
        </p:nvSpPr>
        <p:spPr>
          <a:xfrm>
            <a:off x="566928" y="2660904"/>
            <a:ext cx="274320" cy="274320"/>
          </a:xfrm>
          <a:prstGeom prst="ellipse">
            <a:avLst/>
          </a:prstGeom>
          <a:solidFill>
            <a:srgbClr val="E87722"/>
          </a:solidFill>
          <a:ln/>
        </p:spPr>
      </p:sp>
      <p:sp>
        <p:nvSpPr>
          <p:cNvPr id="9" name="Text 7"/>
          <p:cNvSpPr txBox="1"/>
          <p:nvPr/>
        </p:nvSpPr>
        <p:spPr>
          <a:xfrm>
            <a:off x="566928" y="26609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1005840" y="2624328"/>
            <a:ext cx="7498080" cy="292608"/>
          </a:xfrm>
          <a:prstGeom prst="rect">
            <a:avLst/>
          </a:prstGeom>
          <a:noFill/>
          <a:ln/>
        </p:spPr>
        <p:txBody>
          <a:bodyPr wrap="square" lIns="0" tIns="0" rIns="0" bIns="0" rtlCol="0" anchor="ctr"/>
          <a:lstStyle/>
          <a:p>
            <a:pPr indent="0" marL="0">
              <a:buNone/>
            </a:pPr>
            <a:r>
              <a:rPr lang="en-US" sz="1400" dirty="0">
                <a:solidFill>
                  <a:srgbClr val="FFFFFF"/>
                </a:solidFill>
                <a:latin typeface="Cambria" pitchFamily="34" charset="0"/>
                <a:ea typeface="Cambria" pitchFamily="34" charset="-122"/>
                <a:cs typeface="Cambria" pitchFamily="34" charset="-120"/>
              </a:rPr>
              <a:t>Le pilote IA va de l'analyse au déploiement — à nous d'apprendre à piloter.</a:t>
            </a:r>
            <a:endParaRPr lang="en-US" sz="1400" dirty="0"/>
          </a:p>
        </p:txBody>
      </p:sp>
      <p:sp>
        <p:nvSpPr>
          <p:cNvPr id="11" name="Text 9"/>
          <p:cNvSpPr txBox="1"/>
          <p:nvPr/>
        </p:nvSpPr>
        <p:spPr>
          <a:xfrm>
            <a:off x="1005840" y="3566160"/>
            <a:ext cx="7498080" cy="457200"/>
          </a:xfrm>
          <a:prstGeom prst="rect">
            <a:avLst/>
          </a:prstGeom>
          <a:noFill/>
          <a:ln/>
        </p:spPr>
        <p:txBody>
          <a:bodyPr wrap="square" lIns="0" tIns="0" rIns="0" bIns="0" rtlCol="0" anchor="ctr"/>
          <a:lstStyle/>
          <a:p>
            <a:pPr indent="0" marL="0">
              <a:buNone/>
            </a:pPr>
            <a:r>
              <a:rPr lang="en-US" sz="1100" i="1" dirty="0">
                <a:solidFill>
                  <a:srgbClr val="C9D6E4"/>
                </a:solidFill>
                <a:latin typeface="Cambria" pitchFamily="34" charset="0"/>
                <a:ea typeface="Cambria" pitchFamily="34" charset="-122"/>
                <a:cs typeface="Cambria" pitchFamily="34" charset="-120"/>
              </a:rPr>
              <a:t>« Je ne fais pas cela pour l'amour de l'art » : qu'est-ce qu'on gagne, qu'est-ce qu'on résout, qu'est-ce qu'on perd, qu'est-ce qu'on risque — avec des mesures.</a:t>
            </a:r>
            <a:endParaRPr lang="en-US" sz="1100" dirty="0"/>
          </a:p>
        </p:txBody>
      </p:sp>
      <p:sp>
        <p:nvSpPr>
          <p:cNvPr id="12" name="Shape 10"/>
          <p:cNvSpPr/>
          <p:nvPr/>
        </p:nvSpPr>
        <p:spPr>
          <a:xfrm>
            <a:off x="548640" y="4133088"/>
            <a:ext cx="713232" cy="713232"/>
          </a:xfrm>
          <a:prstGeom prst="rect">
            <a:avLst/>
          </a:prstGeom>
          <a:solidFill>
            <a:srgbClr val="FFFFFF"/>
          </a:solidFill>
          <a:ln/>
        </p:spPr>
      </p:sp>
      <p:sp>
        <p:nvSpPr>
          <p:cNvPr id="13" name="Text 11"/>
          <p:cNvSpPr txBox="1"/>
          <p:nvPr/>
        </p:nvSpPr>
        <p:spPr>
          <a:xfrm>
            <a:off x="548640" y="4232940"/>
            <a:ext cx="713232" cy="442204"/>
          </a:xfrm>
          <a:prstGeom prst="rect">
            <a:avLst/>
          </a:prstGeom>
          <a:noFill/>
          <a:ln/>
        </p:spPr>
        <p:txBody>
          <a:bodyPr wrap="square" lIns="0" tIns="0" rIns="0" bIns="0" rtlCol="0" anchor="ctr"/>
          <a:lstStyle/>
          <a:p>
            <a:pPr algn="ctr" indent="0" marL="0">
              <a:buNone/>
            </a:pPr>
            <a:r>
              <a:rPr lang="en-US" sz="1740" b="1" dirty="0">
                <a:solidFill>
                  <a:srgbClr val="10243F"/>
                </a:solidFill>
                <a:latin typeface="Cambria" pitchFamily="34" charset="0"/>
                <a:ea typeface="Cambria" pitchFamily="34" charset="-122"/>
                <a:cs typeface="Cambria" pitchFamily="34" charset="-120"/>
              </a:rPr>
              <a:t>It</a:t>
            </a:r>
            <a:pPr algn="ctr" indent="0" marL="0">
              <a:buNone/>
            </a:pPr>
            <a:r>
              <a:rPr lang="en-US" sz="1740" b="1" dirty="0">
                <a:solidFill>
                  <a:srgbClr val="E87722"/>
                </a:solidFill>
                <a:latin typeface="Cambria" pitchFamily="34" charset="0"/>
                <a:ea typeface="Cambria" pitchFamily="34" charset="-122"/>
                <a:cs typeface="Cambria" pitchFamily="34" charset="-120"/>
              </a:rPr>
              <a:t>.o</a:t>
            </a:r>
            <a:endParaRPr lang="en-US" sz="1740" dirty="0"/>
          </a:p>
        </p:txBody>
      </p:sp>
      <p:sp>
        <p:nvSpPr>
          <p:cNvPr id="14" name="Shape 12"/>
          <p:cNvSpPr/>
          <p:nvPr/>
        </p:nvSpPr>
        <p:spPr>
          <a:xfrm>
            <a:off x="762610" y="4660880"/>
            <a:ext cx="285293" cy="18562"/>
          </a:xfrm>
          <a:prstGeom prst="rect">
            <a:avLst/>
          </a:prstGeom>
          <a:solidFill>
            <a:srgbClr val="E87722"/>
          </a:solidFill>
          <a:ln/>
        </p:spPr>
      </p:sp>
      <p:sp>
        <p:nvSpPr>
          <p:cNvPr id="15" name="Text 13"/>
          <p:cNvSpPr txBox="1"/>
          <p:nvPr/>
        </p:nvSpPr>
        <p:spPr>
          <a:xfrm>
            <a:off x="1417320" y="4224528"/>
            <a:ext cx="3657600" cy="21945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Henri Darmet · It.o</a:t>
            </a:r>
            <a:endParaRPr lang="en-US" sz="1100" dirty="0"/>
          </a:p>
        </p:txBody>
      </p:sp>
      <p:sp>
        <p:nvSpPr>
          <p:cNvPr id="16" name="Text 14"/>
          <p:cNvSpPr txBox="1"/>
          <p:nvPr/>
        </p:nvSpPr>
        <p:spPr>
          <a:xfrm>
            <a:off x="1417320" y="4443984"/>
            <a:ext cx="5029200" cy="219456"/>
          </a:xfrm>
          <a:prstGeom prst="rect">
            <a:avLst/>
          </a:prstGeom>
          <a:noFill/>
          <a:ln/>
        </p:spPr>
        <p:txBody>
          <a:bodyPr wrap="square" lIns="0" tIns="0" rIns="0" bIns="0" rtlCol="0" anchor="ctr"/>
          <a:lstStyle/>
          <a:p>
            <a:pPr indent="0" marL="0">
              <a:buNone/>
            </a:pPr>
            <a:r>
              <a:rPr lang="en-US" sz="1000" dirty="0">
                <a:solidFill>
                  <a:srgbClr val="C9D6E4"/>
                </a:solidFill>
                <a:latin typeface="Cambria" pitchFamily="34" charset="0"/>
                <a:ea typeface="Cambria" pitchFamily="34" charset="-122"/>
                <a:cs typeface="Cambria" pitchFamily="34" charset="-120"/>
              </a:rPr>
              <a:t>Conseil et réalisation — développement assisté par IA</a:t>
            </a:r>
            <a:endParaRPr lang="en-US" sz="1000" dirty="0"/>
          </a:p>
        </p:txBody>
      </p:sp>
      <p:sp>
        <p:nvSpPr>
          <p:cNvPr id="17" name="Shape 15"/>
          <p:cNvSpPr/>
          <p:nvPr/>
        </p:nvSpPr>
        <p:spPr>
          <a:xfrm>
            <a:off x="0" y="4956048"/>
            <a:ext cx="9144000" cy="182880"/>
          </a:xfrm>
          <a:prstGeom prst="rect">
            <a:avLst/>
          </a:prstGeom>
          <a:solidFill>
            <a:srgbClr val="E87722"/>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POUR FINIR</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Questions / échanges</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26</a:t>
            </a:r>
            <a:endParaRPr lang="en-US" sz="850" dirty="0"/>
          </a:p>
        </p:txBody>
      </p:sp>
      <p:pic>
        <p:nvPicPr>
          <p:cNvPr id="5" name="Image 0" descr="penseur.png">    </p:cNvPr>
          <p:cNvPicPr>
            <a:picLocks noChangeAspect="1"/>
          </p:cNvPicPr>
          <p:nvPr/>
        </p:nvPicPr>
        <p:blipFill>
          <a:blip r:embed="rId1"/>
          <a:stretch>
            <a:fillRect/>
          </a:stretch>
        </p:blipFill>
        <p:spPr>
          <a:xfrm>
            <a:off x="2212848" y="1097280"/>
            <a:ext cx="4709160" cy="352958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LA DOCTRINE</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Mes règles, écrites une fois pour toutes</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19</a:t>
            </a:r>
            <a:endParaRPr lang="en-US" sz="850" dirty="0"/>
          </a:p>
        </p:txBody>
      </p:sp>
      <p:sp>
        <p:nvSpPr>
          <p:cNvPr id="5" name="Text 3"/>
          <p:cNvSpPr txBox="1"/>
          <p:nvPr/>
        </p:nvSpPr>
        <p:spPr>
          <a:xfrm>
            <a:off x="548640" y="1005840"/>
            <a:ext cx="8046720" cy="384048"/>
          </a:xfrm>
          <a:prstGeom prst="rect">
            <a:avLst/>
          </a:prstGeom>
          <a:noFill/>
          <a:ln/>
        </p:spPr>
        <p:txBody>
          <a:bodyPr wrap="square" lIns="0" tIns="0" rIns="0" bIns="0" rtlCol="0" anchor="t"/>
          <a:lstStyle/>
          <a:p>
            <a:pPr indent="0" marL="0">
              <a:lnSpc>
                <a:spcPct val="105000"/>
              </a:lnSpc>
              <a:buNone/>
            </a:pPr>
            <a:r>
              <a:rPr lang="en-US" sz="1000" dirty="0">
                <a:solidFill>
                  <a:srgbClr val="6B7280"/>
                </a:solidFill>
                <a:latin typeface="Cambria" pitchFamily="34" charset="0"/>
                <a:ea typeface="Cambria" pitchFamily="34" charset="-122"/>
                <a:cs typeface="Cambria" pitchFamily="34" charset="-120"/>
              </a:rPr>
              <a:t>Une IA disciplinée applique exactement ce qu'on lui écrit — et seulement ce qu'on lui écrit. Ce qui n'est pas écrit n'est pas une règle : c'est un souhait. Pas de prompt magique : des consignes de bon sens, appliquées sans exception.</a:t>
            </a:r>
            <a:endParaRPr lang="en-US" sz="1000" dirty="0"/>
          </a:p>
        </p:txBody>
      </p:sp>
      <p:sp>
        <p:nvSpPr>
          <p:cNvPr id="6" name="Shape 4"/>
          <p:cNvSpPr/>
          <p:nvPr/>
        </p:nvSpPr>
        <p:spPr>
          <a:xfrm>
            <a:off x="548640" y="1481328"/>
            <a:ext cx="2606040" cy="1280160"/>
          </a:xfrm>
          <a:prstGeom prst="rect">
            <a:avLst/>
          </a:prstGeom>
          <a:solidFill>
            <a:srgbClr val="F1F2F4"/>
          </a:solidFill>
          <a:ln/>
        </p:spPr>
      </p:sp>
      <p:sp>
        <p:nvSpPr>
          <p:cNvPr id="7" name="Shape 5"/>
          <p:cNvSpPr/>
          <p:nvPr/>
        </p:nvSpPr>
        <p:spPr>
          <a:xfrm>
            <a:off x="548640" y="1481328"/>
            <a:ext cx="50292" cy="1280160"/>
          </a:xfrm>
          <a:prstGeom prst="rect">
            <a:avLst/>
          </a:prstGeom>
          <a:solidFill>
            <a:srgbClr val="E87722"/>
          </a:solidFill>
          <a:ln/>
        </p:spPr>
      </p:sp>
      <p:sp>
        <p:nvSpPr>
          <p:cNvPr id="8" name="Text 6"/>
          <p:cNvSpPr txBox="1"/>
          <p:nvPr/>
        </p:nvSpPr>
        <p:spPr>
          <a:xfrm>
            <a:off x="749808" y="160934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1 · Périmètre strict</a:t>
            </a:r>
            <a:endParaRPr lang="en-US" sz="1100" dirty="0"/>
          </a:p>
        </p:txBody>
      </p:sp>
      <p:sp>
        <p:nvSpPr>
          <p:cNvPr id="9" name="Text 7"/>
          <p:cNvSpPr txBox="1"/>
          <p:nvPr/>
        </p:nvSpPr>
        <p:spPr>
          <a:xfrm>
            <a:off x="749808" y="1865376"/>
            <a:ext cx="2240280" cy="932688"/>
          </a:xfrm>
          <a:prstGeom prst="rect">
            <a:avLst/>
          </a:prstGeom>
          <a:noFill/>
          <a:ln/>
        </p:spPr>
        <p:txBody>
          <a:bodyPr wrap="square" lIns="0" tIns="0" rIns="0" bIns="0" rtlCol="0" anchor="t"/>
          <a:lstStyle/>
          <a:p>
            <a:pPr indent="0" marL="0">
              <a:lnSpc>
                <a:spcPct val="105000"/>
              </a:lnSpc>
              <a:buNone/>
            </a:pPr>
            <a:r>
              <a:rPr lang="en-US" sz="920" dirty="0">
                <a:solidFill>
                  <a:srgbClr val="1E2A38"/>
                </a:solidFill>
                <a:latin typeface="Cambria" pitchFamily="34" charset="0"/>
                <a:ea typeface="Cambria" pitchFamily="34" charset="-122"/>
                <a:cs typeface="Cambria" pitchFamily="34" charset="-120"/>
              </a:rPr>
              <a:t>Ne toucher qu'à ce qui est demandé : pas de « tant qu'on y est ». Une amélioration hors périmètre se signale en une ligne ; elle ne s'applique pas.</a:t>
            </a:r>
            <a:endParaRPr lang="en-US" sz="920" dirty="0"/>
          </a:p>
        </p:txBody>
      </p:sp>
      <p:sp>
        <p:nvSpPr>
          <p:cNvPr id="10" name="Shape 8"/>
          <p:cNvSpPr/>
          <p:nvPr/>
        </p:nvSpPr>
        <p:spPr>
          <a:xfrm>
            <a:off x="3268980" y="1481328"/>
            <a:ext cx="2606040" cy="1280160"/>
          </a:xfrm>
          <a:prstGeom prst="rect">
            <a:avLst/>
          </a:prstGeom>
          <a:solidFill>
            <a:srgbClr val="F1F2F4"/>
          </a:solidFill>
          <a:ln/>
        </p:spPr>
      </p:sp>
      <p:sp>
        <p:nvSpPr>
          <p:cNvPr id="11" name="Shape 9"/>
          <p:cNvSpPr/>
          <p:nvPr/>
        </p:nvSpPr>
        <p:spPr>
          <a:xfrm>
            <a:off x="3268980" y="1481328"/>
            <a:ext cx="50292" cy="1280160"/>
          </a:xfrm>
          <a:prstGeom prst="rect">
            <a:avLst/>
          </a:prstGeom>
          <a:solidFill>
            <a:srgbClr val="E87722"/>
          </a:solidFill>
          <a:ln/>
        </p:spPr>
      </p:sp>
      <p:sp>
        <p:nvSpPr>
          <p:cNvPr id="12" name="Text 10"/>
          <p:cNvSpPr txBox="1"/>
          <p:nvPr/>
        </p:nvSpPr>
        <p:spPr>
          <a:xfrm>
            <a:off x="3470148" y="160934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2 · Conventions écrites</a:t>
            </a:r>
            <a:endParaRPr lang="en-US" sz="1100" dirty="0"/>
          </a:p>
        </p:txBody>
      </p:sp>
      <p:sp>
        <p:nvSpPr>
          <p:cNvPr id="13" name="Text 11"/>
          <p:cNvSpPr txBox="1"/>
          <p:nvPr/>
        </p:nvSpPr>
        <p:spPr>
          <a:xfrm>
            <a:off x="3470148" y="1865376"/>
            <a:ext cx="2240280" cy="932688"/>
          </a:xfrm>
          <a:prstGeom prst="rect">
            <a:avLst/>
          </a:prstGeom>
          <a:noFill/>
          <a:ln/>
        </p:spPr>
        <p:txBody>
          <a:bodyPr wrap="square" lIns="0" tIns="0" rIns="0" bIns="0" rtlCol="0" anchor="t"/>
          <a:lstStyle/>
          <a:p>
            <a:pPr indent="0" marL="0">
              <a:lnSpc>
                <a:spcPct val="105000"/>
              </a:lnSpc>
              <a:buNone/>
            </a:pPr>
            <a:r>
              <a:rPr lang="en-US" sz="920" dirty="0">
                <a:solidFill>
                  <a:srgbClr val="1E2A38"/>
                </a:solidFill>
                <a:latin typeface="Cambria" pitchFamily="34" charset="0"/>
                <a:ea typeface="Cambria" pitchFamily="34" charset="-122"/>
                <a:cs typeface="Cambria" pitchFamily="34" charset="-120"/>
              </a:rPr>
              <a:t>Code et commentaires en anglais, Javadoc sur chaque méthode sans exception, structure de packages imposée : elle s'y conforme sans discuter.</a:t>
            </a:r>
            <a:endParaRPr lang="en-US" sz="920" dirty="0"/>
          </a:p>
        </p:txBody>
      </p:sp>
      <p:sp>
        <p:nvSpPr>
          <p:cNvPr id="14" name="Shape 12"/>
          <p:cNvSpPr/>
          <p:nvPr/>
        </p:nvSpPr>
        <p:spPr>
          <a:xfrm>
            <a:off x="5989320" y="1481328"/>
            <a:ext cx="2606040" cy="1280160"/>
          </a:xfrm>
          <a:prstGeom prst="rect">
            <a:avLst/>
          </a:prstGeom>
          <a:solidFill>
            <a:srgbClr val="F1F2F4"/>
          </a:solidFill>
          <a:ln/>
        </p:spPr>
      </p:sp>
      <p:sp>
        <p:nvSpPr>
          <p:cNvPr id="15" name="Shape 13"/>
          <p:cNvSpPr/>
          <p:nvPr/>
        </p:nvSpPr>
        <p:spPr>
          <a:xfrm>
            <a:off x="5989320" y="1481328"/>
            <a:ext cx="50292" cy="1280160"/>
          </a:xfrm>
          <a:prstGeom prst="rect">
            <a:avLst/>
          </a:prstGeom>
          <a:solidFill>
            <a:srgbClr val="E87722"/>
          </a:solidFill>
          <a:ln/>
        </p:spPr>
      </p:sp>
      <p:sp>
        <p:nvSpPr>
          <p:cNvPr id="16" name="Text 14"/>
          <p:cNvSpPr txBox="1"/>
          <p:nvPr/>
        </p:nvSpPr>
        <p:spPr>
          <a:xfrm>
            <a:off x="6190488" y="160934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3 · Versions cumulatives</a:t>
            </a:r>
            <a:endParaRPr lang="en-US" sz="1100" dirty="0"/>
          </a:p>
        </p:txBody>
      </p:sp>
      <p:sp>
        <p:nvSpPr>
          <p:cNvPr id="17" name="Text 15"/>
          <p:cNvSpPr txBox="1"/>
          <p:nvPr/>
        </p:nvSpPr>
        <p:spPr>
          <a:xfrm>
            <a:off x="6190488" y="1865376"/>
            <a:ext cx="2240280" cy="932688"/>
          </a:xfrm>
          <a:prstGeom prst="rect">
            <a:avLst/>
          </a:prstGeom>
          <a:noFill/>
          <a:ln/>
        </p:spPr>
        <p:txBody>
          <a:bodyPr wrap="square" lIns="0" tIns="0" rIns="0" bIns="0" rtlCol="0" anchor="t"/>
          <a:lstStyle/>
          <a:p>
            <a:pPr indent="0" marL="0">
              <a:lnSpc>
                <a:spcPct val="105000"/>
              </a:lnSpc>
              <a:buNone/>
            </a:pPr>
            <a:r>
              <a:rPr lang="en-US" sz="920" dirty="0">
                <a:solidFill>
                  <a:srgbClr val="1E2A38"/>
                </a:solidFill>
                <a:latin typeface="Cambria" pitchFamily="34" charset="0"/>
                <a:ea typeface="Cambria" pitchFamily="34" charset="-122"/>
                <a:cs typeface="Cambria" pitchFamily="34" charset="-120"/>
              </a:rPr>
              <a:t>Chaque livraison repart de la précédente : aucune correction ne se perd en route. On ne livre que les fichiers modifiés.</a:t>
            </a:r>
            <a:endParaRPr lang="en-US" sz="920" dirty="0"/>
          </a:p>
        </p:txBody>
      </p:sp>
      <p:sp>
        <p:nvSpPr>
          <p:cNvPr id="18" name="Shape 16"/>
          <p:cNvSpPr/>
          <p:nvPr/>
        </p:nvSpPr>
        <p:spPr>
          <a:xfrm>
            <a:off x="548640" y="2852928"/>
            <a:ext cx="2606040" cy="1280160"/>
          </a:xfrm>
          <a:prstGeom prst="rect">
            <a:avLst/>
          </a:prstGeom>
          <a:solidFill>
            <a:srgbClr val="F1F2F4"/>
          </a:solidFill>
          <a:ln/>
        </p:spPr>
      </p:sp>
      <p:sp>
        <p:nvSpPr>
          <p:cNvPr id="19" name="Shape 17"/>
          <p:cNvSpPr/>
          <p:nvPr/>
        </p:nvSpPr>
        <p:spPr>
          <a:xfrm>
            <a:off x="548640" y="2852928"/>
            <a:ext cx="50292" cy="1280160"/>
          </a:xfrm>
          <a:prstGeom prst="rect">
            <a:avLst/>
          </a:prstGeom>
          <a:solidFill>
            <a:srgbClr val="E87722"/>
          </a:solidFill>
          <a:ln/>
        </p:spPr>
      </p:sp>
      <p:sp>
        <p:nvSpPr>
          <p:cNvPr id="20" name="Text 18"/>
          <p:cNvSpPr txBox="1"/>
          <p:nvPr/>
        </p:nvSpPr>
        <p:spPr>
          <a:xfrm>
            <a:off x="749808" y="298094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4 · Les chiffres se prouvent</a:t>
            </a:r>
            <a:endParaRPr lang="en-US" sz="1100" dirty="0"/>
          </a:p>
        </p:txBody>
      </p:sp>
      <p:sp>
        <p:nvSpPr>
          <p:cNvPr id="21" name="Text 19"/>
          <p:cNvSpPr txBox="1"/>
          <p:nvPr/>
        </p:nvSpPr>
        <p:spPr>
          <a:xfrm>
            <a:off x="749808" y="3236976"/>
            <a:ext cx="2240280" cy="932688"/>
          </a:xfrm>
          <a:prstGeom prst="rect">
            <a:avLst/>
          </a:prstGeom>
          <a:noFill/>
          <a:ln/>
        </p:spPr>
        <p:txBody>
          <a:bodyPr wrap="square" lIns="0" tIns="0" rIns="0" bIns="0" rtlCol="0" anchor="t"/>
          <a:lstStyle/>
          <a:p>
            <a:pPr indent="0" marL="0">
              <a:lnSpc>
                <a:spcPct val="105000"/>
              </a:lnSpc>
              <a:buNone/>
            </a:pPr>
            <a:r>
              <a:rPr lang="en-US" sz="920" dirty="0">
                <a:solidFill>
                  <a:srgbClr val="1E2A38"/>
                </a:solidFill>
                <a:latin typeface="Cambria" pitchFamily="34" charset="0"/>
                <a:ea typeface="Cambria" pitchFamily="34" charset="-122"/>
                <a:cs typeface="Cambria" pitchFamily="34" charset="-120"/>
              </a:rPr>
              <a:t>Un décompte, une répartition, une couverture se vérifient par un script, jamais de tête. La somme de contrôle est publiée avec le résultat.</a:t>
            </a:r>
            <a:endParaRPr lang="en-US" sz="920" dirty="0"/>
          </a:p>
        </p:txBody>
      </p:sp>
      <p:sp>
        <p:nvSpPr>
          <p:cNvPr id="22" name="Shape 20"/>
          <p:cNvSpPr/>
          <p:nvPr/>
        </p:nvSpPr>
        <p:spPr>
          <a:xfrm>
            <a:off x="3268980" y="2852928"/>
            <a:ext cx="2606040" cy="1280160"/>
          </a:xfrm>
          <a:prstGeom prst="rect">
            <a:avLst/>
          </a:prstGeom>
          <a:solidFill>
            <a:srgbClr val="F1F2F4"/>
          </a:solidFill>
          <a:ln/>
        </p:spPr>
      </p:sp>
      <p:sp>
        <p:nvSpPr>
          <p:cNvPr id="23" name="Shape 21"/>
          <p:cNvSpPr/>
          <p:nvPr/>
        </p:nvSpPr>
        <p:spPr>
          <a:xfrm>
            <a:off x="3268980" y="2852928"/>
            <a:ext cx="50292" cy="1280160"/>
          </a:xfrm>
          <a:prstGeom prst="rect">
            <a:avLst/>
          </a:prstGeom>
          <a:solidFill>
            <a:srgbClr val="E87722"/>
          </a:solidFill>
          <a:ln/>
        </p:spPr>
      </p:sp>
      <p:sp>
        <p:nvSpPr>
          <p:cNvPr id="24" name="Text 22"/>
          <p:cNvSpPr txBox="1"/>
          <p:nvPr/>
        </p:nvSpPr>
        <p:spPr>
          <a:xfrm>
            <a:off x="3470148" y="298094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5 · Chaque jambe de chaque condition</a:t>
            </a:r>
            <a:endParaRPr lang="en-US" sz="1100" dirty="0"/>
          </a:p>
        </p:txBody>
      </p:sp>
      <p:sp>
        <p:nvSpPr>
          <p:cNvPr id="25" name="Text 23"/>
          <p:cNvSpPr txBox="1"/>
          <p:nvPr/>
        </p:nvSpPr>
        <p:spPr>
          <a:xfrm>
            <a:off x="3470148" y="3236976"/>
            <a:ext cx="2240280" cy="932688"/>
          </a:xfrm>
          <a:prstGeom prst="rect">
            <a:avLst/>
          </a:prstGeom>
          <a:noFill/>
          <a:ln/>
        </p:spPr>
        <p:txBody>
          <a:bodyPr wrap="square" lIns="0" tIns="0" rIns="0" bIns="0" rtlCol="0" anchor="t"/>
          <a:lstStyle/>
          <a:p>
            <a:pPr indent="0" marL="0">
              <a:lnSpc>
                <a:spcPct val="105000"/>
              </a:lnSpc>
              <a:buNone/>
            </a:pPr>
            <a:r>
              <a:rPr lang="en-US" sz="920" dirty="0">
                <a:solidFill>
                  <a:srgbClr val="1E2A38"/>
                </a:solidFill>
                <a:latin typeface="Cambria" pitchFamily="34" charset="0"/>
                <a:ea typeface="Cambria" pitchFamily="34" charset="-122"/>
                <a:cs typeface="Cambria" pitchFamily="34" charset="-120"/>
              </a:rPr>
              <a:t>La couverture vise chaque jambe de chaque expression booléenne composée — a || b || c, c'est trois cas —, pas seulement les deux bras du if.</a:t>
            </a:r>
            <a:endParaRPr lang="en-US" sz="920" dirty="0"/>
          </a:p>
        </p:txBody>
      </p:sp>
      <p:sp>
        <p:nvSpPr>
          <p:cNvPr id="26" name="Shape 24"/>
          <p:cNvSpPr/>
          <p:nvPr/>
        </p:nvSpPr>
        <p:spPr>
          <a:xfrm>
            <a:off x="5989320" y="2852928"/>
            <a:ext cx="2606040" cy="1280160"/>
          </a:xfrm>
          <a:prstGeom prst="rect">
            <a:avLst/>
          </a:prstGeom>
          <a:solidFill>
            <a:srgbClr val="F1F2F4"/>
          </a:solidFill>
          <a:ln/>
        </p:spPr>
      </p:sp>
      <p:sp>
        <p:nvSpPr>
          <p:cNvPr id="27" name="Shape 25"/>
          <p:cNvSpPr/>
          <p:nvPr/>
        </p:nvSpPr>
        <p:spPr>
          <a:xfrm>
            <a:off x="5989320" y="2852928"/>
            <a:ext cx="50292" cy="1280160"/>
          </a:xfrm>
          <a:prstGeom prst="rect">
            <a:avLst/>
          </a:prstGeom>
          <a:solidFill>
            <a:srgbClr val="E87722"/>
          </a:solidFill>
          <a:ln/>
        </p:spPr>
      </p:sp>
      <p:sp>
        <p:nvSpPr>
          <p:cNvPr id="28" name="Text 26"/>
          <p:cNvSpPr txBox="1"/>
          <p:nvPr/>
        </p:nvSpPr>
        <p:spPr>
          <a:xfrm>
            <a:off x="6190488" y="2980944"/>
            <a:ext cx="2240280"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6 · Un juge teste l'invariant</a:t>
            </a:r>
            <a:endParaRPr lang="en-US" sz="1100" dirty="0"/>
          </a:p>
        </p:txBody>
      </p:sp>
      <p:sp>
        <p:nvSpPr>
          <p:cNvPr id="29" name="Text 27"/>
          <p:cNvSpPr txBox="1"/>
          <p:nvPr/>
        </p:nvSpPr>
        <p:spPr>
          <a:xfrm>
            <a:off x="6190488" y="3236976"/>
            <a:ext cx="2240280" cy="932688"/>
          </a:xfrm>
          <a:prstGeom prst="rect">
            <a:avLst/>
          </a:prstGeom>
          <a:noFill/>
          <a:ln/>
        </p:spPr>
        <p:txBody>
          <a:bodyPr wrap="square" lIns="0" tIns="0" rIns="0" bIns="0" rtlCol="0" anchor="t"/>
          <a:lstStyle/>
          <a:p>
            <a:pPr indent="0" marL="0">
              <a:lnSpc>
                <a:spcPct val="105000"/>
              </a:lnSpc>
              <a:buNone/>
            </a:pPr>
            <a:r>
              <a:rPr lang="en-US" sz="920" dirty="0">
                <a:solidFill>
                  <a:srgbClr val="1E2A38"/>
                </a:solidFill>
                <a:latin typeface="Cambria" pitchFamily="34" charset="0"/>
                <a:ea typeface="Cambria" pitchFamily="34" charset="-122"/>
                <a:cs typeface="Cambria" pitchFamily="34" charset="-120"/>
              </a:rPr>
              <a:t>Un contrôle automatique vérifie l'invariant métier — travail fait ou rien à faire —, jamais un artefact intermédiaire : un succès les mains vides reste un succès.</a:t>
            </a:r>
            <a:endParaRPr lang="en-US" sz="920" dirty="0"/>
          </a:p>
        </p:txBody>
      </p:sp>
      <p:sp>
        <p:nvSpPr>
          <p:cNvPr id="30" name="Text 2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050" i="1" dirty="0">
                <a:solidFill>
                  <a:srgbClr val="10243F"/>
                </a:solidFill>
                <a:latin typeface="Cambria" pitchFamily="34" charset="0"/>
                <a:ea typeface="Cambria" pitchFamily="34" charset="-122"/>
                <a:cs typeface="Cambria" pitchFamily="34" charset="-120"/>
              </a:rPr>
              <a:t>Ces règles sont nées d'écarts constatés. Une fois écrites, elles s'appliquent partout — sur 120 classes comme sur une.</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EN PRATIQUE</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Par où commencer</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25</a:t>
            </a:r>
            <a:endParaRPr lang="en-US" sz="850" dirty="0"/>
          </a:p>
        </p:txBody>
      </p:sp>
      <p:sp>
        <p:nvSpPr>
          <p:cNvPr id="5" name="Shape 3"/>
          <p:cNvSpPr/>
          <p:nvPr/>
        </p:nvSpPr>
        <p:spPr>
          <a:xfrm>
            <a:off x="548640" y="1133856"/>
            <a:ext cx="8046720" cy="804672"/>
          </a:xfrm>
          <a:prstGeom prst="rect">
            <a:avLst/>
          </a:prstGeom>
          <a:solidFill>
            <a:srgbClr val="F1F2F4"/>
          </a:solidFill>
          <a:ln/>
        </p:spPr>
      </p:sp>
      <p:sp>
        <p:nvSpPr>
          <p:cNvPr id="6" name="Shape 4"/>
          <p:cNvSpPr/>
          <p:nvPr/>
        </p:nvSpPr>
        <p:spPr>
          <a:xfrm>
            <a:off x="548640" y="1133856"/>
            <a:ext cx="50292" cy="804672"/>
          </a:xfrm>
          <a:prstGeom prst="rect">
            <a:avLst/>
          </a:prstGeom>
          <a:solidFill>
            <a:srgbClr val="E87722"/>
          </a:solidFill>
          <a:ln/>
        </p:spPr>
      </p:sp>
      <p:sp>
        <p:nvSpPr>
          <p:cNvPr id="7" name="Shape 5"/>
          <p:cNvSpPr/>
          <p:nvPr/>
        </p:nvSpPr>
        <p:spPr>
          <a:xfrm>
            <a:off x="777240" y="1252728"/>
            <a:ext cx="292608" cy="292608"/>
          </a:xfrm>
          <a:prstGeom prst="ellipse">
            <a:avLst/>
          </a:prstGeom>
          <a:solidFill>
            <a:srgbClr val="E87722"/>
          </a:solidFill>
          <a:ln/>
        </p:spPr>
      </p:sp>
      <p:sp>
        <p:nvSpPr>
          <p:cNvPr id="8" name="Text 6"/>
          <p:cNvSpPr txBox="1"/>
          <p:nvPr/>
        </p:nvSpPr>
        <p:spPr>
          <a:xfrm>
            <a:off x="777240" y="12527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188720" y="1271016"/>
            <a:ext cx="7223760" cy="237744"/>
          </a:xfrm>
          <a:prstGeom prst="rect">
            <a:avLst/>
          </a:prstGeom>
          <a:noFill/>
          <a:ln/>
        </p:spPr>
        <p:txBody>
          <a:bodyPr wrap="square" lIns="0" tIns="0" rIns="0" bIns="0" rtlCol="0" anchor="t"/>
          <a:lstStyle/>
          <a:p>
            <a:pPr indent="0" marL="0">
              <a:buNone/>
            </a:pPr>
            <a:r>
              <a:rPr lang="en-US" sz="1300" b="1" dirty="0">
                <a:solidFill>
                  <a:srgbClr val="10243F"/>
                </a:solidFill>
                <a:latin typeface="Calibri" pitchFamily="34" charset="0"/>
                <a:ea typeface="Calibri" pitchFamily="34" charset="-122"/>
                <a:cs typeface="Calibri" pitchFamily="34" charset="-120"/>
              </a:rPr>
              <a:t>En chat, sur un sujet que vous maîtrisez</a:t>
            </a:r>
            <a:endParaRPr lang="en-US" sz="1300" dirty="0"/>
          </a:p>
        </p:txBody>
      </p:sp>
      <p:sp>
        <p:nvSpPr>
          <p:cNvPr id="10" name="Text 8"/>
          <p:cNvSpPr txBox="1"/>
          <p:nvPr/>
        </p:nvSpPr>
        <p:spPr>
          <a:xfrm>
            <a:off x="1188720" y="1536192"/>
            <a:ext cx="7223760" cy="384048"/>
          </a:xfrm>
          <a:prstGeom prst="rect">
            <a:avLst/>
          </a:prstGeom>
          <a:noFill/>
          <a:ln/>
        </p:spPr>
        <p:txBody>
          <a:bodyPr wrap="square" lIns="0" tIns="0" rIns="0" bIns="0" rtlCol="0" anchor="t"/>
          <a:lstStyle/>
          <a:p>
            <a:pPr indent="0" marL="0">
              <a:lnSpc>
                <a:spcPct val="105000"/>
              </a:lnSpc>
              <a:buNone/>
            </a:pPr>
            <a:r>
              <a:rPr lang="en-US" sz="1000" dirty="0">
                <a:solidFill>
                  <a:srgbClr val="1E2A38"/>
                </a:solidFill>
                <a:latin typeface="Cambria" pitchFamily="34" charset="0"/>
                <a:ea typeface="Cambria" pitchFamily="34" charset="-122"/>
                <a:cs typeface="Cambria" pitchFamily="34" charset="-120"/>
              </a:rPr>
              <a:t>Un domaine que vous connaissez, pour pouvoir juger ce qu'elle produit. Le chat d'abord : boucle courte, correction immédiate, rien à installer. L'agentique viendra ensuite.</a:t>
            </a:r>
            <a:endParaRPr lang="en-US" sz="1000" dirty="0"/>
          </a:p>
        </p:txBody>
      </p:sp>
      <p:sp>
        <p:nvSpPr>
          <p:cNvPr id="11" name="Shape 9"/>
          <p:cNvSpPr/>
          <p:nvPr/>
        </p:nvSpPr>
        <p:spPr>
          <a:xfrm>
            <a:off x="548640" y="2011680"/>
            <a:ext cx="8046720" cy="804672"/>
          </a:xfrm>
          <a:prstGeom prst="rect">
            <a:avLst/>
          </a:prstGeom>
          <a:solidFill>
            <a:srgbClr val="F1F2F4"/>
          </a:solidFill>
          <a:ln/>
        </p:spPr>
      </p:sp>
      <p:sp>
        <p:nvSpPr>
          <p:cNvPr id="12" name="Shape 10"/>
          <p:cNvSpPr/>
          <p:nvPr/>
        </p:nvSpPr>
        <p:spPr>
          <a:xfrm>
            <a:off x="548640" y="2011680"/>
            <a:ext cx="50292" cy="804672"/>
          </a:xfrm>
          <a:prstGeom prst="rect">
            <a:avLst/>
          </a:prstGeom>
          <a:solidFill>
            <a:srgbClr val="E87722"/>
          </a:solidFill>
          <a:ln/>
        </p:spPr>
      </p:sp>
      <p:sp>
        <p:nvSpPr>
          <p:cNvPr id="13" name="Shape 11"/>
          <p:cNvSpPr/>
          <p:nvPr/>
        </p:nvSpPr>
        <p:spPr>
          <a:xfrm>
            <a:off x="777240" y="2130552"/>
            <a:ext cx="292608" cy="292608"/>
          </a:xfrm>
          <a:prstGeom prst="ellipse">
            <a:avLst/>
          </a:prstGeom>
          <a:solidFill>
            <a:srgbClr val="E87722"/>
          </a:solidFill>
          <a:ln/>
        </p:spPr>
      </p:sp>
      <p:sp>
        <p:nvSpPr>
          <p:cNvPr id="14" name="Text 12"/>
          <p:cNvSpPr txBox="1"/>
          <p:nvPr/>
        </p:nvSpPr>
        <p:spPr>
          <a:xfrm>
            <a:off x="777240" y="21305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txBox="1"/>
          <p:nvPr/>
        </p:nvSpPr>
        <p:spPr>
          <a:xfrm>
            <a:off x="1188720" y="2148840"/>
            <a:ext cx="7223760" cy="237744"/>
          </a:xfrm>
          <a:prstGeom prst="rect">
            <a:avLst/>
          </a:prstGeom>
          <a:noFill/>
          <a:ln/>
        </p:spPr>
        <p:txBody>
          <a:bodyPr wrap="square" lIns="0" tIns="0" rIns="0" bIns="0" rtlCol="0" anchor="t"/>
          <a:lstStyle/>
          <a:p>
            <a:pPr indent="0" marL="0">
              <a:buNone/>
            </a:pPr>
            <a:r>
              <a:rPr lang="en-US" sz="1300" b="1" dirty="0">
                <a:solidFill>
                  <a:srgbClr val="10243F"/>
                </a:solidFill>
                <a:latin typeface="Calibri" pitchFamily="34" charset="0"/>
                <a:ea typeface="Calibri" pitchFamily="34" charset="-122"/>
                <a:cs typeface="Calibri" pitchFamily="34" charset="-120"/>
              </a:rPr>
              <a:t>Écrire vos règles</a:t>
            </a:r>
            <a:endParaRPr lang="en-US" sz="1300" dirty="0"/>
          </a:p>
        </p:txBody>
      </p:sp>
      <p:sp>
        <p:nvSpPr>
          <p:cNvPr id="16" name="Text 14"/>
          <p:cNvSpPr txBox="1"/>
          <p:nvPr/>
        </p:nvSpPr>
        <p:spPr>
          <a:xfrm>
            <a:off x="1188720" y="2414016"/>
            <a:ext cx="7223760" cy="384048"/>
          </a:xfrm>
          <a:prstGeom prst="rect">
            <a:avLst/>
          </a:prstGeom>
          <a:noFill/>
          <a:ln/>
        </p:spPr>
        <p:txBody>
          <a:bodyPr wrap="square" lIns="0" tIns="0" rIns="0" bIns="0" rtlCol="0" anchor="t"/>
          <a:lstStyle/>
          <a:p>
            <a:pPr indent="0" marL="0">
              <a:lnSpc>
                <a:spcPct val="105000"/>
              </a:lnSpc>
              <a:buNone/>
            </a:pPr>
            <a:r>
              <a:rPr lang="en-US" sz="1000" dirty="0">
                <a:solidFill>
                  <a:srgbClr val="1E2A38"/>
                </a:solidFill>
                <a:latin typeface="Cambria" pitchFamily="34" charset="0"/>
                <a:ea typeface="Cambria" pitchFamily="34" charset="-122"/>
                <a:cs typeface="Cambria" pitchFamily="34" charset="-120"/>
              </a:rPr>
              <a:t>Périmètre, conventions, langue, documentation : ce qui n'est pas écrit sera décidé à votre place. Une page suffit pour commencer ; elle s'enrichit à chaque écart constaté.</a:t>
            </a:r>
            <a:endParaRPr lang="en-US" sz="1000" dirty="0"/>
          </a:p>
        </p:txBody>
      </p:sp>
      <p:sp>
        <p:nvSpPr>
          <p:cNvPr id="17" name="Shape 15"/>
          <p:cNvSpPr/>
          <p:nvPr/>
        </p:nvSpPr>
        <p:spPr>
          <a:xfrm>
            <a:off x="548640" y="2889504"/>
            <a:ext cx="8046720" cy="804672"/>
          </a:xfrm>
          <a:prstGeom prst="rect">
            <a:avLst/>
          </a:prstGeom>
          <a:solidFill>
            <a:srgbClr val="F1F2F4"/>
          </a:solidFill>
          <a:ln/>
        </p:spPr>
      </p:sp>
      <p:sp>
        <p:nvSpPr>
          <p:cNvPr id="18" name="Shape 16"/>
          <p:cNvSpPr/>
          <p:nvPr/>
        </p:nvSpPr>
        <p:spPr>
          <a:xfrm>
            <a:off x="548640" y="2889504"/>
            <a:ext cx="50292" cy="804672"/>
          </a:xfrm>
          <a:prstGeom prst="rect">
            <a:avLst/>
          </a:prstGeom>
          <a:solidFill>
            <a:srgbClr val="E87722"/>
          </a:solidFill>
          <a:ln/>
        </p:spPr>
      </p:sp>
      <p:sp>
        <p:nvSpPr>
          <p:cNvPr id="19" name="Shape 17"/>
          <p:cNvSpPr/>
          <p:nvPr/>
        </p:nvSpPr>
        <p:spPr>
          <a:xfrm>
            <a:off x="777240" y="3008376"/>
            <a:ext cx="292608" cy="292608"/>
          </a:xfrm>
          <a:prstGeom prst="ellipse">
            <a:avLst/>
          </a:prstGeom>
          <a:solidFill>
            <a:srgbClr val="E87722"/>
          </a:solidFill>
          <a:ln/>
        </p:spPr>
      </p:sp>
      <p:sp>
        <p:nvSpPr>
          <p:cNvPr id="20" name="Text 18"/>
          <p:cNvSpPr txBox="1"/>
          <p:nvPr/>
        </p:nvSpPr>
        <p:spPr>
          <a:xfrm>
            <a:off x="777240" y="300837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txBox="1"/>
          <p:nvPr/>
        </p:nvSpPr>
        <p:spPr>
          <a:xfrm>
            <a:off x="1188720" y="3026664"/>
            <a:ext cx="7223760" cy="237744"/>
          </a:xfrm>
          <a:prstGeom prst="rect">
            <a:avLst/>
          </a:prstGeom>
          <a:noFill/>
          <a:ln/>
        </p:spPr>
        <p:txBody>
          <a:bodyPr wrap="square" lIns="0" tIns="0" rIns="0" bIns="0" rtlCol="0" anchor="t"/>
          <a:lstStyle/>
          <a:p>
            <a:pPr indent="0" marL="0">
              <a:buNone/>
            </a:pPr>
            <a:r>
              <a:rPr lang="en-US" sz="1300" b="1" dirty="0">
                <a:solidFill>
                  <a:srgbClr val="10243F"/>
                </a:solidFill>
                <a:latin typeface="Calibri" pitchFamily="34" charset="0"/>
                <a:ea typeface="Calibri" pitchFamily="34" charset="-122"/>
                <a:cs typeface="Calibri" pitchFamily="34" charset="-120"/>
              </a:rPr>
              <a:t>Faire tester une classe à 100 %</a:t>
            </a:r>
            <a:endParaRPr lang="en-US" sz="1300" dirty="0"/>
          </a:p>
        </p:txBody>
      </p:sp>
      <p:sp>
        <p:nvSpPr>
          <p:cNvPr id="22" name="Text 20"/>
          <p:cNvSpPr txBox="1"/>
          <p:nvPr/>
        </p:nvSpPr>
        <p:spPr>
          <a:xfrm>
            <a:off x="1188720" y="3291840"/>
            <a:ext cx="7223760" cy="384048"/>
          </a:xfrm>
          <a:prstGeom prst="rect">
            <a:avLst/>
          </a:prstGeom>
          <a:noFill/>
          <a:ln/>
        </p:spPr>
        <p:txBody>
          <a:bodyPr wrap="square" lIns="0" tIns="0" rIns="0" bIns="0" rtlCol="0" anchor="t"/>
          <a:lstStyle/>
          <a:p>
            <a:pPr indent="0" marL="0">
              <a:lnSpc>
                <a:spcPct val="105000"/>
              </a:lnSpc>
              <a:buNone/>
            </a:pPr>
            <a:r>
              <a:rPr lang="en-US" sz="1000" dirty="0">
                <a:solidFill>
                  <a:srgbClr val="1E2A38"/>
                </a:solidFill>
                <a:latin typeface="Cambria" pitchFamily="34" charset="0"/>
                <a:ea typeface="Cambria" pitchFamily="34" charset="-122"/>
                <a:cs typeface="Cambria" pitchFamily="34" charset="-120"/>
              </a:rPr>
              <a:t>Le meilleur premier exercice : une classe, toutes ses branches, en quelques minutes. Puis la suivante. Le filet se construit de lui-même.</a:t>
            </a:r>
            <a:endParaRPr lang="en-US" sz="1000" dirty="0"/>
          </a:p>
        </p:txBody>
      </p:sp>
      <p:sp>
        <p:nvSpPr>
          <p:cNvPr id="23" name="Shape 21"/>
          <p:cNvSpPr/>
          <p:nvPr/>
        </p:nvSpPr>
        <p:spPr>
          <a:xfrm>
            <a:off x="548640" y="3767328"/>
            <a:ext cx="8046720" cy="804672"/>
          </a:xfrm>
          <a:prstGeom prst="rect">
            <a:avLst/>
          </a:prstGeom>
          <a:solidFill>
            <a:srgbClr val="F1F2F4"/>
          </a:solidFill>
          <a:ln/>
        </p:spPr>
      </p:sp>
      <p:sp>
        <p:nvSpPr>
          <p:cNvPr id="24" name="Shape 22"/>
          <p:cNvSpPr/>
          <p:nvPr/>
        </p:nvSpPr>
        <p:spPr>
          <a:xfrm>
            <a:off x="548640" y="3767328"/>
            <a:ext cx="50292" cy="804672"/>
          </a:xfrm>
          <a:prstGeom prst="rect">
            <a:avLst/>
          </a:prstGeom>
          <a:solidFill>
            <a:srgbClr val="E87722"/>
          </a:solidFill>
          <a:ln/>
        </p:spPr>
      </p:sp>
      <p:sp>
        <p:nvSpPr>
          <p:cNvPr id="25" name="Shape 23"/>
          <p:cNvSpPr/>
          <p:nvPr/>
        </p:nvSpPr>
        <p:spPr>
          <a:xfrm>
            <a:off x="777240" y="3886200"/>
            <a:ext cx="292608" cy="292608"/>
          </a:xfrm>
          <a:prstGeom prst="ellipse">
            <a:avLst/>
          </a:prstGeom>
          <a:solidFill>
            <a:srgbClr val="E87722"/>
          </a:solidFill>
          <a:ln/>
        </p:spPr>
      </p:sp>
      <p:sp>
        <p:nvSpPr>
          <p:cNvPr id="26" name="Text 24"/>
          <p:cNvSpPr txBox="1"/>
          <p:nvPr/>
        </p:nvSpPr>
        <p:spPr>
          <a:xfrm>
            <a:off x="777240" y="38862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5"/>
          <p:cNvSpPr txBox="1"/>
          <p:nvPr/>
        </p:nvSpPr>
        <p:spPr>
          <a:xfrm>
            <a:off x="1188720" y="3904488"/>
            <a:ext cx="7223760" cy="237744"/>
          </a:xfrm>
          <a:prstGeom prst="rect">
            <a:avLst/>
          </a:prstGeom>
          <a:noFill/>
          <a:ln/>
        </p:spPr>
        <p:txBody>
          <a:bodyPr wrap="square" lIns="0" tIns="0" rIns="0" bIns="0" rtlCol="0" anchor="t"/>
          <a:lstStyle/>
          <a:p>
            <a:pPr indent="0" marL="0">
              <a:buNone/>
            </a:pPr>
            <a:r>
              <a:rPr lang="en-US" sz="1300" b="1" dirty="0">
                <a:solidFill>
                  <a:srgbClr val="10243F"/>
                </a:solidFill>
                <a:latin typeface="Calibri" pitchFamily="34" charset="0"/>
                <a:ea typeface="Calibri" pitchFamily="34" charset="-122"/>
                <a:cs typeface="Calibri" pitchFamily="34" charset="-120"/>
              </a:rPr>
              <a:t>Mesurer, avant de croire ou de rejeter</a:t>
            </a:r>
            <a:endParaRPr lang="en-US" sz="1300" dirty="0"/>
          </a:p>
        </p:txBody>
      </p:sp>
      <p:sp>
        <p:nvSpPr>
          <p:cNvPr id="28" name="Text 26"/>
          <p:cNvSpPr txBox="1"/>
          <p:nvPr/>
        </p:nvSpPr>
        <p:spPr>
          <a:xfrm>
            <a:off x="1188720" y="4169664"/>
            <a:ext cx="7223760" cy="384048"/>
          </a:xfrm>
          <a:prstGeom prst="rect">
            <a:avLst/>
          </a:prstGeom>
          <a:noFill/>
          <a:ln/>
        </p:spPr>
        <p:txBody>
          <a:bodyPr wrap="square" lIns="0" tIns="0" rIns="0" bIns="0" rtlCol="0" anchor="t"/>
          <a:lstStyle/>
          <a:p>
            <a:pPr indent="0" marL="0">
              <a:lnSpc>
                <a:spcPct val="105000"/>
              </a:lnSpc>
              <a:buNone/>
            </a:pPr>
            <a:r>
              <a:rPr lang="en-US" sz="1000" dirty="0">
                <a:solidFill>
                  <a:srgbClr val="1E2A38"/>
                </a:solidFill>
                <a:latin typeface="Cambria" pitchFamily="34" charset="0"/>
                <a:ea typeface="Cambria" pitchFamily="34" charset="-122"/>
                <a:cs typeface="Cambria" pitchFamily="34" charset="-120"/>
              </a:rPr>
              <a:t>Qu'est-ce qu'on gagne, qu'est-ce qu'on résout, qu'est-ce qu'on perd, qu'est-ce qu'on risque : chronométrez, comptez, comparez. L'avis vient après les mesures.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AVANT DE COMMENCER</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Un espace de potentialités, une surface de pertinence</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2</a:t>
            </a:r>
            <a:endParaRPr lang="en-US" sz="850" dirty="0"/>
          </a:p>
        </p:txBody>
      </p:sp>
      <p:pic>
        <p:nvPicPr>
          <p:cNvPr id="5" name="Image 0" descr="surface-pertinence.jpeg">    </p:cNvPr>
          <p:cNvPicPr>
            <a:picLocks noChangeAspect="1"/>
          </p:cNvPicPr>
          <p:nvPr/>
        </p:nvPicPr>
        <p:blipFill>
          <a:blip r:embed="rId1"/>
          <a:stretch>
            <a:fillRect/>
          </a:stretch>
        </p:blipFill>
        <p:spPr>
          <a:xfrm>
            <a:off x="548640" y="1097280"/>
            <a:ext cx="4706112" cy="3529584"/>
          </a:xfrm>
          <a:prstGeom prst="rect">
            <a:avLst/>
          </a:prstGeom>
        </p:spPr>
      </p:pic>
      <p:sp>
        <p:nvSpPr>
          <p:cNvPr id="6" name="Text 3"/>
          <p:cNvSpPr txBox="1"/>
          <p:nvPr/>
        </p:nvSpPr>
        <p:spPr>
          <a:xfrm>
            <a:off x="5483352" y="1097280"/>
            <a:ext cx="3112008" cy="3529584"/>
          </a:xfrm>
          <a:prstGeom prst="rect">
            <a:avLst/>
          </a:prstGeom>
          <a:noFill/>
          <a:ln/>
        </p:spPr>
        <p:txBody>
          <a:bodyPr wrap="square" lIns="0" tIns="0" rIns="0" bIns="0" rtlCol="0" anchor="ctr"/>
          <a:lstStyle/>
          <a:p>
            <a:pPr indent="0" marL="0">
              <a:lnSpc>
                <a:spcPct val="105000"/>
              </a:lnSpc>
              <a:spcAft>
                <a:spcPts val="100"/>
              </a:spcAft>
              <a:buNone/>
            </a:pPr>
            <a:r>
              <a:rPr lang="fr-FR" sz="1050" b="1" dirty="0">
                <a:solidFill>
                  <a:srgbClr val="E87722"/>
                </a:solidFill>
                <a:latin typeface="Calibri" pitchFamily="34" charset="0"/>
                <a:ea typeface="Calibri" pitchFamily="34" charset="-122"/>
                <a:cs typeface="Calibri" pitchFamily="34" charset="-120"/>
              </a:rPr>
              <a:t>1 · </a:t>
            </a:r>
            <a:r>
              <a:rPr lang="fr-FR" sz="1050" b="1" dirty="0">
                <a:solidFill>
                  <a:srgbClr val="10243F"/>
                </a:solidFill>
                <a:latin typeface="Calibri" pitchFamily="34" charset="0"/>
                <a:ea typeface="Calibri" pitchFamily="34" charset="-122"/>
                <a:cs typeface="Calibri" pitchFamily="34" charset="-120"/>
              </a:rPr>
              <a:t>L'espace</a:t>
            </a:r>
          </a:p>
          <a:p>
            <a:pPr indent="0" marL="0">
              <a:lnSpc>
                <a:spcPct val="105000"/>
              </a:lnSpc>
              <a:spcAft>
                <a:spcPts val="450"/>
              </a:spcAft>
              <a:buNone/>
            </a:pPr>
            <a:r>
              <a:rPr lang="fr-FR" sz="900" dirty="0">
                <a:solidFill>
                  <a:srgbClr val="1E2A38"/>
                </a:solidFill>
                <a:latin typeface="Cambria" pitchFamily="34" charset="0"/>
                <a:ea typeface="Cambria" pitchFamily="34" charset="-122"/>
                <a:cs typeface="Cambria" pitchFamily="34" charset="-120"/>
              </a:rPr>
              <a:t>Deux axes : toutes les questions possibles, toutes les réponses possibles. Chaque point est un couple question–réponse ; l'immense majorité n'a aucun sens.</a:t>
            </a:r>
          </a:p>
          <a:p>
            <a:pPr indent="0" marL="0">
              <a:lnSpc>
                <a:spcPct val="105000"/>
              </a:lnSpc>
              <a:spcAft>
                <a:spcPts val="100"/>
              </a:spcAft>
              <a:buNone/>
            </a:pPr>
            <a:r>
              <a:rPr lang="fr-FR" sz="1050" b="1" dirty="0">
                <a:solidFill>
                  <a:srgbClr val="E87722"/>
                </a:solidFill>
                <a:latin typeface="Calibri" pitchFamily="34" charset="0"/>
                <a:ea typeface="Calibri" pitchFamily="34" charset="-122"/>
                <a:cs typeface="Calibri" pitchFamily="34" charset="-120"/>
              </a:rPr>
              <a:t>2 · </a:t>
            </a:r>
            <a:r>
              <a:rPr lang="fr-FR" sz="1050" b="1" dirty="0">
                <a:solidFill>
                  <a:srgbClr val="10243F"/>
                </a:solidFill>
                <a:latin typeface="Calibri" pitchFamily="34" charset="0"/>
                <a:ea typeface="Calibri" pitchFamily="34" charset="-122"/>
                <a:cs typeface="Calibri" pitchFamily="34" charset="-120"/>
              </a:rPr>
              <a:t>La surface</a:t>
            </a:r>
          </a:p>
          <a:p>
            <a:pPr indent="0" marL="0">
              <a:lnSpc>
                <a:spcPct val="105000"/>
              </a:lnSpc>
              <a:spcAft>
                <a:spcPts val="450"/>
              </a:spcAft>
              <a:buNone/>
            </a:pPr>
            <a:r>
              <a:rPr lang="fr-FR" sz="900" dirty="0">
                <a:solidFill>
                  <a:srgbClr val="1E2A38"/>
                </a:solidFill>
                <a:latin typeface="Cambria" pitchFamily="34" charset="0"/>
                <a:ea typeface="Cambria" pitchFamily="34" charset="-122"/>
                <a:cs typeface="Cambria" pitchFamily="34" charset="-120"/>
              </a:rPr>
              <a:t>La hauteur mesure la pertinence. La surface qui en résulte, c'est la réalité : pour chaque question, ce qu'il est juste et utile d'y répondre.</a:t>
            </a:r>
          </a:p>
          <a:p>
            <a:pPr indent="0" marL="0">
              <a:lnSpc>
                <a:spcPct val="105000"/>
              </a:lnSpc>
              <a:spcAft>
                <a:spcPts val="100"/>
              </a:spcAft>
              <a:buNone/>
            </a:pPr>
            <a:r>
              <a:rPr lang="fr-FR" sz="1050" b="1" dirty="0">
                <a:solidFill>
                  <a:srgbClr val="E87722"/>
                </a:solidFill>
                <a:latin typeface="Calibri" pitchFamily="34" charset="0"/>
                <a:ea typeface="Calibri" pitchFamily="34" charset="-122"/>
                <a:cs typeface="Calibri" pitchFamily="34" charset="-120"/>
              </a:rPr>
              <a:t>3 · </a:t>
            </a:r>
            <a:r>
              <a:rPr lang="fr-FR" sz="1050" b="1" dirty="0">
                <a:solidFill>
                  <a:srgbClr val="10243F"/>
                </a:solidFill>
                <a:latin typeface="Calibri" pitchFamily="34" charset="0"/>
                <a:ea typeface="Calibri" pitchFamily="34" charset="-122"/>
                <a:cs typeface="Calibri" pitchFamily="34" charset="-120"/>
              </a:rPr>
              <a:t>Ce que fait l'IA</a:t>
            </a:r>
          </a:p>
          <a:p>
            <a:pPr indent="0" marL="0">
              <a:lnSpc>
                <a:spcPct val="105000"/>
              </a:lnSpc>
              <a:spcAft>
                <a:spcPts val="450"/>
              </a:spcAft>
              <a:buNone/>
            </a:pPr>
            <a:r>
              <a:rPr lang="fr-FR" sz="900" dirty="0">
                <a:solidFill>
                  <a:srgbClr val="1E2A38"/>
                </a:solidFill>
                <a:latin typeface="Cambria" pitchFamily="34" charset="0"/>
                <a:ea typeface="Cambria" pitchFamily="34" charset="-122"/>
                <a:cs typeface="Cambria" pitchFamily="34" charset="-120"/>
              </a:rPr>
              <a:t>L'apprentissage en a modelé une approximation. Répondre, c'est se placer sur la coupe de la question et y trouver un sommet — même pour une question jamais posée.</a:t>
            </a:r>
          </a:p>
          <a:p>
            <a:pPr indent="0" marL="0">
              <a:lnSpc>
                <a:spcPct val="105000"/>
              </a:lnSpc>
              <a:spcAft>
                <a:spcPts val="100"/>
              </a:spcAft>
              <a:buNone/>
            </a:pPr>
            <a:r>
              <a:rPr lang="fr-FR" sz="1050" b="1" dirty="0">
                <a:solidFill>
                  <a:srgbClr val="E87722"/>
                </a:solidFill>
                <a:latin typeface="Calibri" pitchFamily="34" charset="0"/>
                <a:ea typeface="Calibri" pitchFamily="34" charset="-122"/>
                <a:cs typeface="Calibri" pitchFamily="34" charset="-120"/>
              </a:rPr>
              <a:t>4 · </a:t>
            </a:r>
            <a:r>
              <a:rPr lang="fr-FR" sz="1050" b="1" dirty="0">
                <a:solidFill>
                  <a:srgbClr val="10243F"/>
                </a:solidFill>
                <a:latin typeface="Calibri" pitchFamily="34" charset="0"/>
                <a:ea typeface="Calibri" pitchFamily="34" charset="-122"/>
                <a:cs typeface="Calibri" pitchFamily="34" charset="-120"/>
              </a:rPr>
              <a:t>Ce que cela explique</a:t>
            </a:r>
          </a:p>
          <a:p>
            <a:pPr indent="0" marL="0">
              <a:lnSpc>
                <a:spcPct val="105000"/>
              </a:lnSpc>
              <a:spcAft>
                <a:spcPts val="450"/>
              </a:spcAft>
              <a:buNone/>
            </a:pPr>
            <a:r>
              <a:rPr lang="fr-FR" sz="900" dirty="0">
                <a:solidFill>
                  <a:srgbClr val="1E2A38"/>
                </a:solidFill>
                <a:latin typeface="Cambria" pitchFamily="34" charset="0"/>
                <a:ea typeface="Cambria" pitchFamily="34" charset="-122"/>
                <a:cs typeface="Cambria" pitchFamily="34" charset="-120"/>
              </a:rPr>
              <a:t>Là où la surface est bien apprise, la réponse est juste. Là où elle ne l'est pas — ce qui n'a jamais été écrit, ce qui est propre à votre contexte — elle extrapole avec la même assurance : c'est le contresens.</a:t>
            </a:r>
          </a:p>
          <a:p>
            <a:pPr indent="0" marL="0">
              <a:lnSpc>
                <a:spcPct val="105000"/>
              </a:lnSpc>
              <a:spcBef>
                <a:spcPts val="100"/>
              </a:spcBef>
              <a:buNone/>
            </a:pPr>
            <a:r>
              <a:rPr lang="fr-FR" sz="900" b="1" i="1" dirty="0">
                <a:solidFill>
                  <a:srgbClr val="10243F"/>
                </a:solidFill>
                <a:latin typeface="Cambria" pitchFamily="34" charset="0"/>
                <a:ea typeface="Cambria" pitchFamily="34" charset="-122"/>
                <a:cs typeface="Cambria" pitchFamily="34" charset="-120"/>
              </a:rPr>
              <a:t>Ce n'est pas une base qu'on interroge : c'est une surface qu'on parcourt. Lui donner le contexte, c'est préciser la surface là où elle était floue.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LE PRINCIPE</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L'humain est trop lent : il ne produit plus rien</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16</a:t>
            </a:r>
            <a:endParaRPr lang="en-US" sz="850" dirty="0"/>
          </a:p>
        </p:txBody>
      </p:sp>
      <p:sp>
        <p:nvSpPr>
          <p:cNvPr id="5" name="Text 3"/>
          <p:cNvSpPr txBox="1"/>
          <p:nvPr/>
        </p:nvSpPr>
        <p:spPr>
          <a:xfrm>
            <a:off x="548640" y="1060704"/>
            <a:ext cx="1371600" cy="182880"/>
          </a:xfrm>
          <a:prstGeom prst="rect">
            <a:avLst/>
          </a:prstGeom>
          <a:noFill/>
          <a:ln/>
        </p:spPr>
        <p:txBody>
          <a:bodyPr wrap="square" lIns="0" tIns="0" rIns="0" bIns="0" rtlCol="0" anchor="ctr"/>
          <a:lstStyle/>
          <a:p>
            <a:pPr indent="0" marL="0">
              <a:buNone/>
            </a:pPr>
            <a:r>
              <a:rPr lang="en-US" sz="800" b="1" spc="140" kern="0" dirty="0">
                <a:solidFill>
                  <a:srgbClr val="6B7280"/>
                </a:solidFill>
                <a:latin typeface="Calibri" pitchFamily="34" charset="0"/>
                <a:ea typeface="Calibri" pitchFamily="34" charset="-122"/>
                <a:cs typeface="Calibri" pitchFamily="34" charset="-120"/>
              </a:rPr>
              <a:t>ACTIVITÉ</a:t>
            </a:r>
            <a:endParaRPr lang="en-US" sz="800" dirty="0"/>
          </a:p>
        </p:txBody>
      </p:sp>
      <p:sp>
        <p:nvSpPr>
          <p:cNvPr id="6" name="Text 4"/>
          <p:cNvSpPr txBox="1"/>
          <p:nvPr/>
        </p:nvSpPr>
        <p:spPr>
          <a:xfrm>
            <a:off x="2011680" y="1060704"/>
            <a:ext cx="3291840" cy="182880"/>
          </a:xfrm>
          <a:prstGeom prst="rect">
            <a:avLst/>
          </a:prstGeom>
          <a:noFill/>
          <a:ln/>
        </p:spPr>
        <p:txBody>
          <a:bodyPr wrap="square" lIns="0" tIns="0" rIns="0" bIns="0" rtlCol="0" anchor="ctr"/>
          <a:lstStyle/>
          <a:p>
            <a:pPr indent="0" marL="0">
              <a:buNone/>
            </a:pPr>
            <a:r>
              <a:rPr lang="en-US" sz="800" b="1" spc="140" kern="0" dirty="0">
                <a:solidFill>
                  <a:srgbClr val="6B7280"/>
                </a:solidFill>
                <a:latin typeface="Calibri" pitchFamily="34" charset="0"/>
                <a:ea typeface="Calibri" pitchFamily="34" charset="-122"/>
                <a:cs typeface="Calibri" pitchFamily="34" charset="-120"/>
              </a:rPr>
              <a:t>CE QUE L'HUMAIN NE FAIT PLUS</a:t>
            </a:r>
            <a:endParaRPr lang="en-US" sz="800" dirty="0"/>
          </a:p>
        </p:txBody>
      </p:sp>
      <p:sp>
        <p:nvSpPr>
          <p:cNvPr id="7" name="Text 5"/>
          <p:cNvSpPr txBox="1"/>
          <p:nvPr/>
        </p:nvSpPr>
        <p:spPr>
          <a:xfrm>
            <a:off x="5394960" y="1060704"/>
            <a:ext cx="3200400" cy="182880"/>
          </a:xfrm>
          <a:prstGeom prst="rect">
            <a:avLst/>
          </a:prstGeom>
          <a:noFill/>
          <a:ln/>
        </p:spPr>
        <p:txBody>
          <a:bodyPr wrap="square" lIns="0" tIns="0" rIns="0" bIns="0" rtlCol="0" anchor="ctr"/>
          <a:lstStyle/>
          <a:p>
            <a:pPr indent="0" marL="0">
              <a:buNone/>
            </a:pPr>
            <a:r>
              <a:rPr lang="en-US" sz="800" b="1" spc="140" kern="0" dirty="0">
                <a:solidFill>
                  <a:srgbClr val="E87722"/>
                </a:solidFill>
                <a:latin typeface="Calibri" pitchFamily="34" charset="0"/>
                <a:ea typeface="Calibri" pitchFamily="34" charset="-122"/>
                <a:cs typeface="Calibri" pitchFamily="34" charset="-120"/>
              </a:rPr>
              <a:t>CE QU'IL CONFIE À L'IA</a:t>
            </a:r>
            <a:endParaRPr lang="en-US" sz="800" dirty="0"/>
          </a:p>
        </p:txBody>
      </p:sp>
      <p:sp>
        <p:nvSpPr>
          <p:cNvPr id="8" name="Shape 6"/>
          <p:cNvSpPr/>
          <p:nvPr/>
        </p:nvSpPr>
        <p:spPr>
          <a:xfrm>
            <a:off x="548640" y="1261872"/>
            <a:ext cx="8046720" cy="603504"/>
          </a:xfrm>
          <a:prstGeom prst="rect">
            <a:avLst/>
          </a:prstGeom>
          <a:solidFill>
            <a:srgbClr val="F1F2F4"/>
          </a:solidFill>
          <a:ln/>
        </p:spPr>
      </p:sp>
      <p:sp>
        <p:nvSpPr>
          <p:cNvPr id="8" name="Shape 6"/>
          <p:cNvSpPr/>
          <p:nvPr/>
        </p:nvSpPr>
        <p:spPr>
          <a:xfrm>
            <a:off x="548640" y="1261872"/>
            <a:ext cx="8046720" cy="487680"/>
          </a:xfrm>
          <a:prstGeom prst="rect">
            <a:avLst/>
          </a:prstGeom>
          <a:solidFill>
            <a:srgbClr val="F1F2F4"/>
          </a:solidFill>
          <a:ln/>
        </p:spPr>
      </p:sp>
      <p:sp>
        <p:nvSpPr>
          <p:cNvPr id="9" name="Shape 7"/>
          <p:cNvSpPr/>
          <p:nvPr/>
        </p:nvSpPr>
        <p:spPr>
          <a:xfrm>
            <a:off x="548640" y="1261872"/>
            <a:ext cx="50292" cy="487680"/>
          </a:xfrm>
          <a:prstGeom prst="rect">
            <a:avLst/>
          </a:prstGeom>
          <a:solidFill>
            <a:srgbClr val="E87722"/>
          </a:solidFill>
          <a:ln/>
        </p:spPr>
      </p:sp>
      <p:sp>
        <p:nvSpPr>
          <p:cNvPr id="10" name="Shape 8"/>
          <p:cNvSpPr/>
          <p:nvPr/>
        </p:nvSpPr>
        <p:spPr>
          <a:xfrm>
            <a:off x="5230368" y="1322832"/>
            <a:ext cx="18288" cy="365760"/>
          </a:xfrm>
          <a:prstGeom prst="rect">
            <a:avLst/>
          </a:prstGeom>
          <a:solidFill>
            <a:srgbClr val="E4E6E9"/>
          </a:solidFill>
          <a:ln/>
        </p:spPr>
      </p:sp>
      <p:sp>
        <p:nvSpPr>
          <p:cNvPr id="11" name="Text 9"/>
          <p:cNvSpPr txBox="1"/>
          <p:nvPr/>
        </p:nvSpPr>
        <p:spPr>
          <a:xfrm>
            <a:off x="777240" y="1322832"/>
            <a:ext cx="11887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Spécifier</a:t>
            </a:r>
            <a:endParaRPr lang="en-US" sz="1200" dirty="0"/>
          </a:p>
        </p:txBody>
      </p:sp>
      <p:sp>
        <p:nvSpPr>
          <p:cNvPr id="12" name="Text 10"/>
          <p:cNvSpPr txBox="1"/>
          <p:nvPr/>
        </p:nvSpPr>
        <p:spPr>
          <a:xfrm>
            <a:off x="2011680" y="1322832"/>
            <a:ext cx="3154680" cy="380000"/>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Rédiger la spécification, le compte rendu de réunion, la synthèse d'un dossier d'exigences.</a:t>
            </a:r>
            <a:endParaRPr lang="en-US" sz="930" dirty="0"/>
          </a:p>
        </p:txBody>
      </p:sp>
      <p:sp>
        <p:nvSpPr>
          <p:cNvPr id="13" name="Text 11"/>
          <p:cNvSpPr txBox="1"/>
          <p:nvPr/>
        </p:nvSpPr>
        <p:spPr>
          <a:xfrm>
            <a:off x="5394960" y="1322832"/>
            <a:ext cx="3200400" cy="380000"/>
          </a:xfrm>
          <a:prstGeom prst="rect">
            <a:avLst/>
          </a:prstGeom>
          <a:noFill/>
          <a:ln/>
        </p:spPr>
        <p:txBody>
          <a:bodyPr wrap="square" lIns="0" tIns="0" rIns="0" bIns="0" rtlCol="0" anchor="t"/>
          <a:lstStyle/>
          <a:p>
            <a:pPr indent="0" marL="0">
              <a:lnSpc>
                <a:spcPct val="105000"/>
              </a:lnSpc>
              <a:buNone/>
            </a:pPr>
            <a:r>
              <a:rPr lang="en-US" sz="930" dirty="0">
                <a:solidFill>
                  <a:srgbClr val="1E2A38"/>
                </a:solidFill>
                <a:latin typeface="Cambria" pitchFamily="34" charset="0"/>
                <a:ea typeface="Cambria" pitchFamily="34" charset="-122"/>
                <a:cs typeface="Cambria" pitchFamily="34" charset="-120"/>
              </a:rPr>
              <a:t>Il parle, elle écrit : interview, spécification par passes, synthèse et cotation de 1 526 exigences.</a:t>
            </a:r>
            <a:endParaRPr lang="en-US" sz="930" dirty="0"/>
          </a:p>
        </p:txBody>
      </p:sp>
      <p:sp>
        <p:nvSpPr>
          <p:cNvPr id="39" name="Shape 6"/>
          <p:cNvSpPr/>
          <p:nvPr/>
        </p:nvSpPr>
        <p:spPr>
          <a:xfrm>
            <a:off x="548640" y="1802892"/>
            <a:ext cx="8046720" cy="487680"/>
          </a:xfrm>
          <a:prstGeom prst="rect">
            <a:avLst/>
          </a:prstGeom>
          <a:solidFill>
            <a:srgbClr val="F1F2F4"/>
          </a:solidFill>
          <a:ln/>
        </p:spPr>
      </p:sp>
      <p:sp>
        <p:nvSpPr>
          <p:cNvPr id="40" name="Shape 7"/>
          <p:cNvSpPr/>
          <p:nvPr/>
        </p:nvSpPr>
        <p:spPr>
          <a:xfrm>
            <a:off x="548640" y="1802892"/>
            <a:ext cx="50292" cy="487680"/>
          </a:xfrm>
          <a:prstGeom prst="rect">
            <a:avLst/>
          </a:prstGeom>
          <a:solidFill>
            <a:srgbClr val="E87722"/>
          </a:solidFill>
          <a:ln/>
        </p:spPr>
      </p:sp>
      <p:sp>
        <p:nvSpPr>
          <p:cNvPr id="41" name="Shape 8"/>
          <p:cNvSpPr/>
          <p:nvPr/>
        </p:nvSpPr>
        <p:spPr>
          <a:xfrm>
            <a:off x="5230368" y="1863852"/>
            <a:ext cx="18288" cy="365760"/>
          </a:xfrm>
          <a:prstGeom prst="rect">
            <a:avLst/>
          </a:prstGeom>
          <a:solidFill>
            <a:srgbClr val="E4E6E9"/>
          </a:solidFill>
          <a:ln/>
        </p:spPr>
      </p:sp>
      <p:sp>
        <p:nvSpPr>
          <p:cNvPr id="42" name="Text 9"/>
          <p:cNvSpPr txBox="1"/>
          <p:nvPr/>
        </p:nvSpPr>
        <p:spPr>
          <a:xfrm>
            <a:off x="777240" y="1863852"/>
            <a:ext cx="11887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Prompter</a:t>
            </a:r>
            <a:endParaRPr lang="en-US" sz="1200" dirty="0"/>
          </a:p>
        </p:txBody>
      </p:sp>
      <p:sp>
        <p:nvSpPr>
          <p:cNvPr id="43" name="Text 10"/>
          <p:cNvSpPr txBox="1"/>
          <p:nvPr/>
        </p:nvSpPr>
        <p:spPr>
          <a:xfrm>
            <a:off x="2011680" y="1863852"/>
            <a:ext cx="3154680" cy="380000"/>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Rédiger les prompts complexes : consignes d'un agent, d'une campagne, d'un lot de travail.</a:t>
            </a:r>
            <a:endParaRPr lang="en-US" sz="930" dirty="0"/>
          </a:p>
        </p:txBody>
      </p:sp>
      <p:sp>
        <p:nvSpPr>
          <p:cNvPr id="44" name="Text 11"/>
          <p:cNvSpPr txBox="1"/>
          <p:nvPr/>
        </p:nvSpPr>
        <p:spPr>
          <a:xfrm>
            <a:off x="5394960" y="1863852"/>
            <a:ext cx="3200400" cy="380000"/>
          </a:xfrm>
          <a:prstGeom prst="rect">
            <a:avLst/>
          </a:prstGeom>
          <a:noFill/>
          <a:ln/>
        </p:spPr>
        <p:txBody>
          <a:bodyPr wrap="square" lIns="0" tIns="0" rIns="0" bIns="0" rtlCol="0" anchor="t"/>
          <a:lstStyle/>
          <a:p>
            <a:pPr indent="0" marL="0">
              <a:lnSpc>
                <a:spcPct val="105000"/>
              </a:lnSpc>
              <a:buNone/>
            </a:pPr>
            <a:r>
              <a:rPr lang="en-US" sz="930" dirty="0">
                <a:solidFill>
                  <a:srgbClr val="1E2A38"/>
                </a:solidFill>
                <a:latin typeface="Cambria" pitchFamily="34" charset="0"/>
                <a:ea typeface="Cambria" pitchFamily="34" charset="-122"/>
                <a:cs typeface="Cambria" pitchFamily="34" charset="-120"/>
              </a:rPr>
              <a:t>Il dit l'intention, elle écrit le prompt : complet, structuré, conforme à la doctrine — mieux qu'il ne l'écrirait.</a:t>
            </a:r>
            <a:endParaRPr lang="en-US" sz="930" dirty="0"/>
          </a:p>
        </p:txBody>
      </p:sp>
      <p:sp>
        <p:nvSpPr>
          <p:cNvPr id="14" name="Shape 12"/>
          <p:cNvSpPr/>
          <p:nvPr/>
        </p:nvSpPr>
        <p:spPr>
          <a:xfrm>
            <a:off x="548640" y="2343912"/>
            <a:ext cx="8046720" cy="487680"/>
          </a:xfrm>
          <a:prstGeom prst="rect">
            <a:avLst/>
          </a:prstGeom>
          <a:solidFill>
            <a:srgbClr val="F1F2F4"/>
          </a:solidFill>
          <a:ln/>
        </p:spPr>
      </p:sp>
      <p:sp>
        <p:nvSpPr>
          <p:cNvPr id="15" name="Shape 13"/>
          <p:cNvSpPr/>
          <p:nvPr/>
        </p:nvSpPr>
        <p:spPr>
          <a:xfrm>
            <a:off x="548640" y="2343912"/>
            <a:ext cx="50292" cy="487680"/>
          </a:xfrm>
          <a:prstGeom prst="rect">
            <a:avLst/>
          </a:prstGeom>
          <a:solidFill>
            <a:srgbClr val="E87722"/>
          </a:solidFill>
          <a:ln/>
        </p:spPr>
      </p:sp>
      <p:sp>
        <p:nvSpPr>
          <p:cNvPr id="16" name="Shape 14"/>
          <p:cNvSpPr/>
          <p:nvPr/>
        </p:nvSpPr>
        <p:spPr>
          <a:xfrm>
            <a:off x="5230368" y="2404872"/>
            <a:ext cx="18288" cy="365760"/>
          </a:xfrm>
          <a:prstGeom prst="rect">
            <a:avLst/>
          </a:prstGeom>
          <a:solidFill>
            <a:srgbClr val="E4E6E9"/>
          </a:solidFill>
          <a:ln/>
        </p:spPr>
      </p:sp>
      <p:sp>
        <p:nvSpPr>
          <p:cNvPr id="17" name="Text 15"/>
          <p:cNvSpPr txBox="1"/>
          <p:nvPr/>
        </p:nvSpPr>
        <p:spPr>
          <a:xfrm>
            <a:off x="777240" y="2404872"/>
            <a:ext cx="11887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Coder</a:t>
            </a:r>
            <a:endParaRPr lang="en-US" sz="1200" dirty="0"/>
          </a:p>
        </p:txBody>
      </p:sp>
      <p:sp>
        <p:nvSpPr>
          <p:cNvPr id="18" name="Text 16"/>
          <p:cNvSpPr txBox="1"/>
          <p:nvPr/>
        </p:nvSpPr>
        <p:spPr>
          <a:xfrm>
            <a:off x="2011680" y="2404872"/>
            <a:ext cx="3154680" cy="380000"/>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Écrire du code — même une ligne, même un correctif « plus rapide à faire soi-même ».</a:t>
            </a:r>
            <a:endParaRPr lang="en-US" sz="930" dirty="0"/>
          </a:p>
        </p:txBody>
      </p:sp>
      <p:sp>
        <p:nvSpPr>
          <p:cNvPr id="19" name="Text 17"/>
          <p:cNvSpPr txBox="1"/>
          <p:nvPr/>
        </p:nvSpPr>
        <p:spPr>
          <a:xfrm>
            <a:off x="5394960" y="2404872"/>
            <a:ext cx="3200400" cy="380000"/>
          </a:xfrm>
          <a:prstGeom prst="rect">
            <a:avLst/>
          </a:prstGeom>
          <a:noFill/>
          <a:ln/>
        </p:spPr>
        <p:txBody>
          <a:bodyPr wrap="square" lIns="0" tIns="0" rIns="0" bIns="0" rtlCol="0" anchor="t"/>
          <a:lstStyle/>
          <a:p>
            <a:pPr indent="0" marL="0">
              <a:lnSpc>
                <a:spcPct val="105000"/>
              </a:lnSpc>
              <a:buNone/>
            </a:pPr>
            <a:r>
              <a:rPr lang="en-US" sz="930" dirty="0">
                <a:solidFill>
                  <a:srgbClr val="1E2A38"/>
                </a:solidFill>
                <a:latin typeface="Cambria" pitchFamily="34" charset="0"/>
                <a:ea typeface="Cambria" pitchFamily="34" charset="-122"/>
                <a:cs typeface="Cambria" pitchFamily="34" charset="-120"/>
              </a:rPr>
              <a:t>Il décrit, elle écrit : le correctif, mais aussi les tests et la documentation qui vont avec.</a:t>
            </a:r>
            <a:endParaRPr lang="en-US" sz="930" dirty="0"/>
          </a:p>
        </p:txBody>
      </p:sp>
      <p:sp>
        <p:nvSpPr>
          <p:cNvPr id="20" name="Shape 18"/>
          <p:cNvSpPr/>
          <p:nvPr/>
        </p:nvSpPr>
        <p:spPr>
          <a:xfrm>
            <a:off x="548640" y="2884932"/>
            <a:ext cx="8046720" cy="487680"/>
          </a:xfrm>
          <a:prstGeom prst="rect">
            <a:avLst/>
          </a:prstGeom>
          <a:solidFill>
            <a:srgbClr val="F1F2F4"/>
          </a:solidFill>
          <a:ln/>
        </p:spPr>
      </p:sp>
      <p:sp>
        <p:nvSpPr>
          <p:cNvPr id="21" name="Shape 19"/>
          <p:cNvSpPr/>
          <p:nvPr/>
        </p:nvSpPr>
        <p:spPr>
          <a:xfrm>
            <a:off x="548640" y="2884932"/>
            <a:ext cx="50292" cy="487680"/>
          </a:xfrm>
          <a:prstGeom prst="rect">
            <a:avLst/>
          </a:prstGeom>
          <a:solidFill>
            <a:srgbClr val="E87722"/>
          </a:solidFill>
          <a:ln/>
        </p:spPr>
      </p:sp>
      <p:sp>
        <p:nvSpPr>
          <p:cNvPr id="22" name="Shape 20"/>
          <p:cNvSpPr/>
          <p:nvPr/>
        </p:nvSpPr>
        <p:spPr>
          <a:xfrm>
            <a:off x="5230368" y="2945892"/>
            <a:ext cx="18288" cy="365760"/>
          </a:xfrm>
          <a:prstGeom prst="rect">
            <a:avLst/>
          </a:prstGeom>
          <a:solidFill>
            <a:srgbClr val="E4E6E9"/>
          </a:solidFill>
          <a:ln/>
        </p:spPr>
      </p:sp>
      <p:sp>
        <p:nvSpPr>
          <p:cNvPr id="23" name="Text 21"/>
          <p:cNvSpPr txBox="1"/>
          <p:nvPr/>
        </p:nvSpPr>
        <p:spPr>
          <a:xfrm>
            <a:off x="777240" y="2945892"/>
            <a:ext cx="11887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Tester</a:t>
            </a:r>
            <a:endParaRPr lang="en-US" sz="1200" dirty="0"/>
          </a:p>
        </p:txBody>
      </p:sp>
      <p:sp>
        <p:nvSpPr>
          <p:cNvPr id="24" name="Text 22"/>
          <p:cNvSpPr txBox="1"/>
          <p:nvPr/>
        </p:nvSpPr>
        <p:spPr>
          <a:xfrm>
            <a:off x="2011680" y="2945892"/>
            <a:ext cx="3154680" cy="380000"/>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Écrire un test, une Javadoc, un README : ce qui ne se faisait pas, faute de temps.</a:t>
            </a:r>
            <a:endParaRPr lang="en-US" sz="930" dirty="0"/>
          </a:p>
        </p:txBody>
      </p:sp>
      <p:sp>
        <p:nvSpPr>
          <p:cNvPr id="25" name="Text 23"/>
          <p:cNvSpPr txBox="1"/>
          <p:nvPr/>
        </p:nvSpPr>
        <p:spPr>
          <a:xfrm>
            <a:off x="5394960" y="2945892"/>
            <a:ext cx="3200400" cy="380000"/>
          </a:xfrm>
          <a:prstGeom prst="rect">
            <a:avLst/>
          </a:prstGeom>
          <a:noFill/>
          <a:ln/>
        </p:spPr>
        <p:txBody>
          <a:bodyPr wrap="square" lIns="0" tIns="0" rIns="0" bIns="0" rtlCol="0" anchor="t"/>
          <a:lstStyle/>
          <a:p>
            <a:pPr indent="0" marL="0">
              <a:lnSpc>
                <a:spcPct val="105000"/>
              </a:lnSpc>
              <a:buNone/>
            </a:pPr>
            <a:r>
              <a:rPr lang="en-US" sz="930" dirty="0">
                <a:solidFill>
                  <a:srgbClr val="1E2A38"/>
                </a:solidFill>
                <a:latin typeface="Cambria" pitchFamily="34" charset="0"/>
                <a:ea typeface="Cambria" pitchFamily="34" charset="-122"/>
                <a:cs typeface="Cambria" pitchFamily="34" charset="-120"/>
              </a:rPr>
              <a:t>1 557 tests en une nuit, 145 classes et écrans documentés en une commande.</a:t>
            </a:r>
            <a:endParaRPr lang="en-US" sz="930" dirty="0"/>
          </a:p>
        </p:txBody>
      </p:sp>
      <p:sp>
        <p:nvSpPr>
          <p:cNvPr id="26" name="Shape 24"/>
          <p:cNvSpPr/>
          <p:nvPr/>
        </p:nvSpPr>
        <p:spPr>
          <a:xfrm>
            <a:off x="548640" y="3425952"/>
            <a:ext cx="8046720" cy="487680"/>
          </a:xfrm>
          <a:prstGeom prst="rect">
            <a:avLst/>
          </a:prstGeom>
          <a:solidFill>
            <a:srgbClr val="F1F2F4"/>
          </a:solidFill>
          <a:ln/>
        </p:spPr>
      </p:sp>
      <p:sp>
        <p:nvSpPr>
          <p:cNvPr id="27" name="Shape 25"/>
          <p:cNvSpPr/>
          <p:nvPr/>
        </p:nvSpPr>
        <p:spPr>
          <a:xfrm>
            <a:off x="548640" y="3425952"/>
            <a:ext cx="50292" cy="487680"/>
          </a:xfrm>
          <a:prstGeom prst="rect">
            <a:avLst/>
          </a:prstGeom>
          <a:solidFill>
            <a:srgbClr val="E87722"/>
          </a:solidFill>
          <a:ln/>
        </p:spPr>
      </p:sp>
      <p:sp>
        <p:nvSpPr>
          <p:cNvPr id="28" name="Shape 26"/>
          <p:cNvSpPr/>
          <p:nvPr/>
        </p:nvSpPr>
        <p:spPr>
          <a:xfrm>
            <a:off x="5230368" y="3486912"/>
            <a:ext cx="18288" cy="365760"/>
          </a:xfrm>
          <a:prstGeom prst="rect">
            <a:avLst/>
          </a:prstGeom>
          <a:solidFill>
            <a:srgbClr val="E4E6E9"/>
          </a:solidFill>
          <a:ln/>
        </p:spPr>
      </p:sp>
      <p:sp>
        <p:nvSpPr>
          <p:cNvPr id="29" name="Text 27"/>
          <p:cNvSpPr txBox="1"/>
          <p:nvPr/>
        </p:nvSpPr>
        <p:spPr>
          <a:xfrm>
            <a:off x="777240" y="3486912"/>
            <a:ext cx="11887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Outiller</a:t>
            </a:r>
            <a:endParaRPr lang="en-US" sz="1200" dirty="0"/>
          </a:p>
        </p:txBody>
      </p:sp>
      <p:sp>
        <p:nvSpPr>
          <p:cNvPr id="30" name="Text 28"/>
          <p:cNvSpPr txBox="1"/>
          <p:nvPr/>
        </p:nvSpPr>
        <p:spPr>
          <a:xfrm>
            <a:off x="2011680" y="3486912"/>
            <a:ext cx="3154680" cy="380000"/>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Écrire un script, une requête, une commande shell, un fichier de configuration.</a:t>
            </a:r>
            <a:endParaRPr lang="en-US" sz="930" dirty="0"/>
          </a:p>
        </p:txBody>
      </p:sp>
      <p:sp>
        <p:nvSpPr>
          <p:cNvPr id="31" name="Text 29"/>
          <p:cNvSpPr txBox="1"/>
          <p:nvPr/>
        </p:nvSpPr>
        <p:spPr>
          <a:xfrm>
            <a:off x="5394960" y="3486912"/>
            <a:ext cx="3200400" cy="380000"/>
          </a:xfrm>
          <a:prstGeom prst="rect">
            <a:avLst/>
          </a:prstGeom>
          <a:noFill/>
          <a:ln/>
        </p:spPr>
        <p:txBody>
          <a:bodyPr wrap="square" lIns="0" tIns="0" rIns="0" bIns="0" rtlCol="0" anchor="t"/>
          <a:lstStyle/>
          <a:p>
            <a:pPr indent="0" marL="0">
              <a:lnSpc>
                <a:spcPct val="105000"/>
              </a:lnSpc>
              <a:buNone/>
            </a:pPr>
            <a:r>
              <a:rPr lang="en-US" sz="930" dirty="0">
                <a:solidFill>
                  <a:srgbClr val="1E2A38"/>
                </a:solidFill>
                <a:latin typeface="Cambria" pitchFamily="34" charset="0"/>
                <a:ea typeface="Cambria" pitchFamily="34" charset="-122"/>
                <a:cs typeface="Cambria" pitchFamily="34" charset="-120"/>
              </a:rPr>
              <a:t>Décomptes, scripts de campagne, configuration de déploiement, enquêtes sur le matériel : tout passe par elle.</a:t>
            </a:r>
            <a:endParaRPr lang="en-US" sz="930" dirty="0"/>
          </a:p>
        </p:txBody>
      </p:sp>
      <p:sp>
        <p:nvSpPr>
          <p:cNvPr id="32" name="Shape 30"/>
          <p:cNvSpPr/>
          <p:nvPr/>
        </p:nvSpPr>
        <p:spPr>
          <a:xfrm>
            <a:off x="548640" y="3966972"/>
            <a:ext cx="8046720" cy="487680"/>
          </a:xfrm>
          <a:prstGeom prst="rect">
            <a:avLst/>
          </a:prstGeom>
          <a:solidFill>
            <a:srgbClr val="F1F2F4"/>
          </a:solidFill>
          <a:ln/>
        </p:spPr>
      </p:sp>
      <p:sp>
        <p:nvSpPr>
          <p:cNvPr id="33" name="Shape 31"/>
          <p:cNvSpPr/>
          <p:nvPr/>
        </p:nvSpPr>
        <p:spPr>
          <a:xfrm>
            <a:off x="548640" y="3966972"/>
            <a:ext cx="50292" cy="487680"/>
          </a:xfrm>
          <a:prstGeom prst="rect">
            <a:avLst/>
          </a:prstGeom>
          <a:solidFill>
            <a:srgbClr val="E87722"/>
          </a:solidFill>
          <a:ln/>
        </p:spPr>
      </p:sp>
      <p:sp>
        <p:nvSpPr>
          <p:cNvPr id="34" name="Shape 32"/>
          <p:cNvSpPr/>
          <p:nvPr/>
        </p:nvSpPr>
        <p:spPr>
          <a:xfrm>
            <a:off x="5230368" y="4027932"/>
            <a:ext cx="18288" cy="365760"/>
          </a:xfrm>
          <a:prstGeom prst="rect">
            <a:avLst/>
          </a:prstGeom>
          <a:solidFill>
            <a:srgbClr val="E4E6E9"/>
          </a:solidFill>
          <a:ln/>
        </p:spPr>
      </p:sp>
      <p:sp>
        <p:nvSpPr>
          <p:cNvPr id="35" name="Text 33"/>
          <p:cNvSpPr txBox="1"/>
          <p:nvPr/>
        </p:nvSpPr>
        <p:spPr>
          <a:xfrm>
            <a:off x="777240" y="4027932"/>
            <a:ext cx="1188720" cy="237744"/>
          </a:xfrm>
          <a:prstGeom prst="rect">
            <a:avLst/>
          </a:prstGeom>
          <a:noFill/>
          <a:ln/>
        </p:spPr>
        <p:txBody>
          <a:bodyPr wrap="square" lIns="0" tIns="0" rIns="0" bIns="0" rtlCol="0" anchor="t"/>
          <a:lstStyle/>
          <a:p>
            <a:pPr indent="0" marL="0">
              <a:buNone/>
            </a:pPr>
            <a:r>
              <a:rPr lang="en-US" sz="1200" b="1" dirty="0">
                <a:solidFill>
                  <a:srgbClr val="10243F"/>
                </a:solidFill>
                <a:latin typeface="Calibri" pitchFamily="34" charset="0"/>
                <a:ea typeface="Calibri" pitchFamily="34" charset="-122"/>
                <a:cs typeface="Calibri" pitchFamily="34" charset="-120"/>
              </a:rPr>
              <a:t>Communiquer</a:t>
            </a:r>
            <a:endParaRPr lang="en-US" sz="1200" dirty="0"/>
          </a:p>
        </p:txBody>
      </p:sp>
      <p:sp>
        <p:nvSpPr>
          <p:cNvPr id="36" name="Text 34"/>
          <p:cNvSpPr txBox="1"/>
          <p:nvPr/>
        </p:nvSpPr>
        <p:spPr>
          <a:xfrm>
            <a:off x="2011680" y="4027932"/>
            <a:ext cx="3154680" cy="380000"/>
          </a:xfrm>
          <a:prstGeom prst="rect">
            <a:avLst/>
          </a:prstGeom>
          <a:noFill/>
          <a:ln/>
        </p:spPr>
        <p:txBody>
          <a:bodyPr wrap="square" lIns="0" tIns="0" rIns="0" bIns="0" rtlCol="0" anchor="t"/>
          <a:lstStyle/>
          <a:p>
            <a:pPr indent="0" marL="0">
              <a:lnSpc>
                <a:spcPct val="105000"/>
              </a:lnSpc>
              <a:buNone/>
            </a:pPr>
            <a:r>
              <a:rPr lang="en-US" sz="930" dirty="0">
                <a:solidFill>
                  <a:srgbClr val="6B7280"/>
                </a:solidFill>
                <a:latin typeface="Cambria" pitchFamily="34" charset="0"/>
                <a:ea typeface="Cambria" pitchFamily="34" charset="-122"/>
                <a:cs typeface="Cambria" pitchFamily="34" charset="-120"/>
              </a:rPr>
              <a:t>Rédiger un mail, une note, un support de présentation.</a:t>
            </a:r>
            <a:endParaRPr lang="en-US" sz="930" dirty="0"/>
          </a:p>
        </p:txBody>
      </p:sp>
      <p:sp>
        <p:nvSpPr>
          <p:cNvPr id="37" name="Text 35"/>
          <p:cNvSpPr txBox="1"/>
          <p:nvPr/>
        </p:nvSpPr>
        <p:spPr>
          <a:xfrm>
            <a:off x="5394960" y="4027932"/>
            <a:ext cx="3200400" cy="380000"/>
          </a:xfrm>
          <a:prstGeom prst="rect">
            <a:avLst/>
          </a:prstGeom>
          <a:noFill/>
          <a:ln/>
        </p:spPr>
        <p:txBody>
          <a:bodyPr wrap="square" lIns="0" tIns="0" rIns="0" bIns="0" rtlCol="0" anchor="t"/>
          <a:lstStyle/>
          <a:p>
            <a:pPr indent="0" marL="0">
              <a:lnSpc>
                <a:spcPct val="105000"/>
              </a:lnSpc>
              <a:buNone/>
            </a:pPr>
            <a:r>
              <a:rPr lang="en-US" sz="930" dirty="0">
                <a:solidFill>
                  <a:srgbClr val="1E2A38"/>
                </a:solidFill>
                <a:latin typeface="Cambria" pitchFamily="34" charset="0"/>
                <a:ea typeface="Cambria" pitchFamily="34" charset="-122"/>
                <a:cs typeface="Cambria" pitchFamily="34" charset="-120"/>
              </a:rPr>
              <a:t>Cette présentation elle-même : rédigée, mise en page et révisée par l'IA, à partir de ce que je lui ai dit.</a:t>
            </a:r>
            <a:endParaRPr lang="en-US" sz="930" dirty="0"/>
          </a:p>
        </p:txBody>
      </p:sp>
      <p:sp>
        <p:nvSpPr>
          <p:cNvPr id="38" name="Text 36"/>
          <p:cNvSpPr txBox="1"/>
          <p:nvPr/>
        </p:nvSpPr>
        <p:spPr>
          <a:xfrm>
            <a:off x="548640" y="4535424"/>
            <a:ext cx="8046720" cy="201168"/>
          </a:xfrm>
          <a:prstGeom prst="rect">
            <a:avLst/>
          </a:prstGeom>
          <a:noFill/>
          <a:ln/>
        </p:spPr>
        <p:txBody>
          <a:bodyPr wrap="square" lIns="0" tIns="0" rIns="0" bIns="0" rtlCol="0" anchor="ctr"/>
          <a:lstStyle/>
          <a:p>
            <a:pPr indent="0" marL="0">
              <a:buNone/>
            </a:pPr>
            <a:r>
              <a:rPr lang="en-US" sz="850" i="1" dirty="0">
                <a:solidFill>
                  <a:srgbClr val="6B7280"/>
                </a:solidFill>
                <a:latin typeface="Cambria" pitchFamily="34" charset="0"/>
                <a:ea typeface="Cambria" pitchFamily="34" charset="-122"/>
                <a:cs typeface="Cambria" pitchFamily="34" charset="-120"/>
              </a:rPr>
              <a:t>Une minute humaine coûte des heures de production machine : chaque minute passée à produire est retirée au seul travail qui reste humain — décider et valider.</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ctr"/>
          <a:lstStyle/>
          <a:p>
            <a:pPr indent="0" marL="0">
              <a:buNone/>
            </a:pPr>
            <a:r>
              <a:rPr lang="en-US" sz="950" b="1" spc="220" kern="0" dirty="0">
                <a:solidFill>
                  <a:srgbClr val="E87722"/>
                </a:solidFill>
                <a:latin typeface="Calibri" pitchFamily="34" charset="0"/>
                <a:ea typeface="Calibri" pitchFamily="34" charset="-122"/>
                <a:cs typeface="Calibri" pitchFamily="34" charset="-120"/>
              </a:rPr>
              <a:t>LES OUTILS ET LES MÉTHODES</a:t>
            </a:r>
            <a:endParaRPr lang="en-US" sz="950" dirty="0"/>
          </a:p>
        </p:txBody>
      </p:sp>
      <p:sp>
        <p:nvSpPr>
          <p:cNvPr id="3" name="Text 1"/>
          <p:cNvSpPr txBox="1"/>
          <p:nvPr/>
        </p:nvSpPr>
        <p:spPr>
          <a:xfrm>
            <a:off x="548640" y="530352"/>
            <a:ext cx="8046720" cy="457200"/>
          </a:xfrm>
          <a:prstGeom prst="rect">
            <a:avLst/>
          </a:prstGeom>
          <a:noFill/>
          <a:ln/>
        </p:spPr>
        <p:txBody>
          <a:bodyPr wrap="square" lIns="0" tIns="0" rIns="0" bIns="0" rtlCol="0" anchor="ctr"/>
          <a:lstStyle/>
          <a:p>
            <a:pPr indent="0" marL="0">
              <a:buNone/>
            </a:pPr>
            <a:r>
              <a:rPr lang="en-US" sz="2600" b="1" dirty="0">
                <a:solidFill>
                  <a:srgbClr val="10243F"/>
                </a:solidFill>
                <a:latin typeface="Calibri" pitchFamily="34" charset="0"/>
                <a:ea typeface="Calibri" pitchFamily="34" charset="-122"/>
                <a:cs typeface="Calibri" pitchFamily="34" charset="-120"/>
              </a:rPr>
              <a:t>Des outils et des méthodes à vitesse humaine</a:t>
            </a:r>
            <a:endParaRPr lang="en-US" sz="2600" dirty="0"/>
          </a:p>
        </p:txBody>
      </p:sp>
      <p:sp>
        <p:nvSpPr>
          <p:cNvPr id="4" name="Text 2"/>
          <p:cNvSpPr txBox="1"/>
          <p:nvPr/>
        </p:nvSpPr>
        <p:spPr>
          <a:xfrm>
            <a:off x="548640" y="4736592"/>
            <a:ext cx="804672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It.o — Développer avec l'IA · 22</a:t>
            </a:r>
            <a:endParaRPr lang="en-US" sz="850" dirty="0"/>
          </a:p>
        </p:txBody>
      </p:sp>
      <p:sp>
        <p:nvSpPr>
          <p:cNvPr id="5" name="Shape 3"/>
          <p:cNvSpPr/>
          <p:nvPr/>
        </p:nvSpPr>
        <p:spPr>
          <a:xfrm>
            <a:off x="548640" y="1115568"/>
            <a:ext cx="3886200" cy="1078992"/>
          </a:xfrm>
          <a:prstGeom prst="rect">
            <a:avLst/>
          </a:prstGeom>
          <a:solidFill>
            <a:srgbClr val="F1F2F4"/>
          </a:solidFill>
          <a:ln/>
        </p:spPr>
      </p:sp>
      <p:sp>
        <p:nvSpPr>
          <p:cNvPr id="6" name="Shape 4"/>
          <p:cNvSpPr/>
          <p:nvPr/>
        </p:nvSpPr>
        <p:spPr>
          <a:xfrm>
            <a:off x="548640" y="1115568"/>
            <a:ext cx="50292" cy="1078992"/>
          </a:xfrm>
          <a:prstGeom prst="rect">
            <a:avLst/>
          </a:prstGeom>
          <a:solidFill>
            <a:srgbClr val="E87722"/>
          </a:solidFill>
          <a:ln/>
        </p:spPr>
      </p:sp>
      <p:sp>
        <p:nvSpPr>
          <p:cNvPr id="7" name="Text 5"/>
          <p:cNvSpPr txBox="1"/>
          <p:nvPr/>
        </p:nvSpPr>
        <p:spPr>
          <a:xfrm>
            <a:off x="768096" y="1243584"/>
            <a:ext cx="3483864"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Jira et le découpage en tickets</a:t>
            </a:r>
            <a:endParaRPr lang="en-US" sz="1100" dirty="0"/>
          </a:p>
        </p:txBody>
      </p:sp>
      <p:sp>
        <p:nvSpPr>
          <p:cNvPr id="8" name="Text 6"/>
          <p:cNvSpPr txBox="1"/>
          <p:nvPr/>
        </p:nvSpPr>
        <p:spPr>
          <a:xfrm>
            <a:off x="768096" y="1499616"/>
            <a:ext cx="3483864" cy="658368"/>
          </a:xfrm>
          <a:prstGeom prst="rect">
            <a:avLst/>
          </a:prstGeom>
          <a:noFill/>
          <a:ln/>
        </p:spPr>
        <p:txBody>
          <a:bodyPr wrap="square" lIns="0" tIns="0" rIns="0" bIns="0" rtlCol="0" anchor="t"/>
          <a:lstStyle/>
          <a:p>
            <a:pPr indent="0" marL="0">
              <a:lnSpc>
                <a:spcPct val="105000"/>
              </a:lnSpc>
              <a:buNone/>
            </a:pPr>
            <a:r>
              <a:rPr lang="en-US" sz="960" dirty="0">
                <a:solidFill>
                  <a:srgbClr val="1E2A38"/>
                </a:solidFill>
                <a:latin typeface="Cambria" pitchFamily="34" charset="0"/>
                <a:ea typeface="Cambria" pitchFamily="34" charset="-122"/>
                <a:cs typeface="Cambria" pitchFamily="34" charset="-120"/>
              </a:rPr>
              <a:t>Pensé pour découper le travail humain en tâches de quelques jours. Quand un lot complet se produit en une nuit, le ticket coûte plus cher à écrire et à suivre que le travail lui-même.</a:t>
            </a:r>
            <a:endParaRPr lang="en-US" sz="960" dirty="0"/>
          </a:p>
        </p:txBody>
      </p:sp>
      <p:sp>
        <p:nvSpPr>
          <p:cNvPr id="9" name="Shape 7"/>
          <p:cNvSpPr/>
          <p:nvPr/>
        </p:nvSpPr>
        <p:spPr>
          <a:xfrm>
            <a:off x="4709160" y="1115568"/>
            <a:ext cx="3886200" cy="1078992"/>
          </a:xfrm>
          <a:prstGeom prst="rect">
            <a:avLst/>
          </a:prstGeom>
          <a:solidFill>
            <a:srgbClr val="F1F2F4"/>
          </a:solidFill>
          <a:ln/>
        </p:spPr>
      </p:sp>
      <p:sp>
        <p:nvSpPr>
          <p:cNvPr id="10" name="Shape 8"/>
          <p:cNvSpPr/>
          <p:nvPr/>
        </p:nvSpPr>
        <p:spPr>
          <a:xfrm>
            <a:off x="4709160" y="1115568"/>
            <a:ext cx="50292" cy="1078992"/>
          </a:xfrm>
          <a:prstGeom prst="rect">
            <a:avLst/>
          </a:prstGeom>
          <a:solidFill>
            <a:srgbClr val="E87722"/>
          </a:solidFill>
          <a:ln/>
        </p:spPr>
      </p:sp>
      <p:sp>
        <p:nvSpPr>
          <p:cNvPr id="11" name="Text 9"/>
          <p:cNvSpPr txBox="1"/>
          <p:nvPr/>
        </p:nvSpPr>
        <p:spPr>
          <a:xfrm>
            <a:off x="4928616" y="1243584"/>
            <a:ext cx="3483864"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Git et la revue de code</a:t>
            </a:r>
            <a:endParaRPr lang="en-US" sz="1100" dirty="0"/>
          </a:p>
        </p:txBody>
      </p:sp>
      <p:sp>
        <p:nvSpPr>
          <p:cNvPr id="12" name="Text 10"/>
          <p:cNvSpPr txBox="1"/>
          <p:nvPr/>
        </p:nvSpPr>
        <p:spPr>
          <a:xfrm>
            <a:off x="4928616" y="1499616"/>
            <a:ext cx="3483864" cy="658368"/>
          </a:xfrm>
          <a:prstGeom prst="rect">
            <a:avLst/>
          </a:prstGeom>
          <a:noFill/>
          <a:ln/>
        </p:spPr>
        <p:txBody>
          <a:bodyPr wrap="square" lIns="0" tIns="0" rIns="0" bIns="0" rtlCol="0" anchor="t"/>
          <a:lstStyle/>
          <a:p>
            <a:pPr indent="0" marL="0">
              <a:lnSpc>
                <a:spcPct val="105000"/>
              </a:lnSpc>
              <a:buNone/>
            </a:pPr>
            <a:r>
              <a:rPr lang="en-US" sz="960" dirty="0">
                <a:solidFill>
                  <a:srgbClr val="1E2A38"/>
                </a:solidFill>
                <a:latin typeface="Cambria" pitchFamily="34" charset="0"/>
                <a:ea typeface="Cambria" pitchFamily="34" charset="-122"/>
                <a:cs typeface="Cambria" pitchFamily="34" charset="-120"/>
              </a:rPr>
              <a:t>Pull requests et relecture ligne à ligne : conçues pour quelques centaines de lignes par jour. À des milliers de lignes par session, la revue devient le goulot ; c'est le filet de tests qui valide.</a:t>
            </a:r>
            <a:endParaRPr lang="en-US" sz="960" dirty="0"/>
          </a:p>
        </p:txBody>
      </p:sp>
      <p:sp>
        <p:nvSpPr>
          <p:cNvPr id="13" name="Shape 11"/>
          <p:cNvSpPr/>
          <p:nvPr/>
        </p:nvSpPr>
        <p:spPr>
          <a:xfrm>
            <a:off x="548640" y="2304288"/>
            <a:ext cx="3886200" cy="1078992"/>
          </a:xfrm>
          <a:prstGeom prst="rect">
            <a:avLst/>
          </a:prstGeom>
          <a:solidFill>
            <a:srgbClr val="F1F2F4"/>
          </a:solidFill>
          <a:ln/>
        </p:spPr>
      </p:sp>
      <p:sp>
        <p:nvSpPr>
          <p:cNvPr id="14" name="Shape 12"/>
          <p:cNvSpPr/>
          <p:nvPr/>
        </p:nvSpPr>
        <p:spPr>
          <a:xfrm>
            <a:off x="548640" y="2304288"/>
            <a:ext cx="50292" cy="1078992"/>
          </a:xfrm>
          <a:prstGeom prst="rect">
            <a:avLst/>
          </a:prstGeom>
          <a:solidFill>
            <a:srgbClr val="E87722"/>
          </a:solidFill>
          <a:ln/>
        </p:spPr>
      </p:sp>
      <p:sp>
        <p:nvSpPr>
          <p:cNvPr id="15" name="Text 13"/>
          <p:cNvSpPr txBox="1"/>
          <p:nvPr/>
        </p:nvSpPr>
        <p:spPr>
          <a:xfrm>
            <a:off x="768096" y="2432304"/>
            <a:ext cx="3483864"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L'IDE</a:t>
            </a:r>
            <a:endParaRPr lang="en-US" sz="1100" dirty="0"/>
          </a:p>
        </p:txBody>
      </p:sp>
      <p:sp>
        <p:nvSpPr>
          <p:cNvPr id="16" name="Text 14"/>
          <p:cNvSpPr txBox="1"/>
          <p:nvPr/>
        </p:nvSpPr>
        <p:spPr>
          <a:xfrm>
            <a:off x="768096" y="2688336"/>
            <a:ext cx="3483864" cy="658368"/>
          </a:xfrm>
          <a:prstGeom prst="rect">
            <a:avLst/>
          </a:prstGeom>
          <a:noFill/>
          <a:ln/>
        </p:spPr>
        <p:txBody>
          <a:bodyPr wrap="square" lIns="0" tIns="0" rIns="0" bIns="0" rtlCol="0" anchor="t"/>
          <a:lstStyle/>
          <a:p>
            <a:pPr indent="0" marL="0">
              <a:lnSpc>
                <a:spcPct val="105000"/>
              </a:lnSpc>
              <a:buNone/>
            </a:pPr>
            <a:r>
              <a:rPr lang="en-US" sz="960" dirty="0">
                <a:solidFill>
                  <a:srgbClr val="1E2A38"/>
                </a:solidFill>
                <a:latin typeface="Cambria" pitchFamily="34" charset="0"/>
                <a:ea typeface="Cambria" pitchFamily="34" charset="-122"/>
                <a:cs typeface="Cambria" pitchFamily="34" charset="-120"/>
              </a:rPr>
              <a:t>Construit autour de la frappe : complétion, navigation, refactoring. Le pilote ne tape plus : il converse, lit, valide. L'IA y est greffée en assistant de saisie — l'usage qui rend quelques pour cent.</a:t>
            </a:r>
            <a:endParaRPr lang="en-US" sz="960" dirty="0"/>
          </a:p>
        </p:txBody>
      </p:sp>
      <p:sp>
        <p:nvSpPr>
          <p:cNvPr id="17" name="Shape 15"/>
          <p:cNvSpPr/>
          <p:nvPr/>
        </p:nvSpPr>
        <p:spPr>
          <a:xfrm>
            <a:off x="4709160" y="2304288"/>
            <a:ext cx="3886200" cy="1078992"/>
          </a:xfrm>
          <a:prstGeom prst="rect">
            <a:avLst/>
          </a:prstGeom>
          <a:solidFill>
            <a:srgbClr val="F1F2F4"/>
          </a:solidFill>
          <a:ln/>
        </p:spPr>
      </p:sp>
      <p:sp>
        <p:nvSpPr>
          <p:cNvPr id="18" name="Shape 16"/>
          <p:cNvSpPr/>
          <p:nvPr/>
        </p:nvSpPr>
        <p:spPr>
          <a:xfrm>
            <a:off x="4709160" y="2304288"/>
            <a:ext cx="50292" cy="1078992"/>
          </a:xfrm>
          <a:prstGeom prst="rect">
            <a:avLst/>
          </a:prstGeom>
          <a:solidFill>
            <a:srgbClr val="E87722"/>
          </a:solidFill>
          <a:ln/>
        </p:spPr>
      </p:sp>
      <p:sp>
        <p:nvSpPr>
          <p:cNvPr id="19" name="Text 17"/>
          <p:cNvSpPr txBox="1"/>
          <p:nvPr/>
        </p:nvSpPr>
        <p:spPr>
          <a:xfrm>
            <a:off x="4928616" y="2432304"/>
            <a:ext cx="3483864" cy="237744"/>
          </a:xfrm>
          <a:prstGeom prst="rect">
            <a:avLst/>
          </a:prstGeom>
          <a:noFill/>
          <a:ln/>
        </p:spPr>
        <p:txBody>
          <a:bodyPr wrap="square" lIns="0" tIns="0" rIns="0" bIns="0" rtlCol="0" anchor="t"/>
          <a:lstStyle/>
          <a:p>
            <a:pPr indent="0" marL="0">
              <a:buNone/>
            </a:pPr>
            <a:r>
              <a:rPr lang="en-US" sz="1100" b="1" dirty="0">
                <a:solidFill>
                  <a:srgbClr val="10243F"/>
                </a:solidFill>
                <a:latin typeface="Calibri" pitchFamily="34" charset="0"/>
                <a:ea typeface="Calibri" pitchFamily="34" charset="-122"/>
                <a:cs typeface="Calibri" pitchFamily="34" charset="-120"/>
              </a:rPr>
              <a:t>L'agile, ses sprints et ses rituels</a:t>
            </a:r>
            <a:endParaRPr lang="en-US" sz="1100" dirty="0"/>
          </a:p>
        </p:txBody>
      </p:sp>
      <p:sp>
        <p:nvSpPr>
          <p:cNvPr id="20" name="Text 18"/>
          <p:cNvSpPr txBox="1"/>
          <p:nvPr/>
        </p:nvSpPr>
        <p:spPr>
          <a:xfrm>
            <a:off x="4928616" y="2688336"/>
            <a:ext cx="3483864" cy="658368"/>
          </a:xfrm>
          <a:prstGeom prst="rect">
            <a:avLst/>
          </a:prstGeom>
          <a:noFill/>
          <a:ln/>
        </p:spPr>
        <p:txBody>
          <a:bodyPr wrap="square" lIns="0" tIns="0" rIns="0" bIns="0" rtlCol="0" anchor="t"/>
          <a:lstStyle/>
          <a:p>
            <a:pPr indent="0" marL="0">
              <a:lnSpc>
                <a:spcPct val="105000"/>
              </a:lnSpc>
              <a:buNone/>
            </a:pPr>
            <a:r>
              <a:rPr lang="en-US" sz="960" dirty="0">
                <a:solidFill>
                  <a:srgbClr val="1E2A38"/>
                </a:solidFill>
                <a:latin typeface="Cambria" pitchFamily="34" charset="0"/>
                <a:ea typeface="Cambria" pitchFamily="34" charset="-122"/>
                <a:cs typeface="Cambria" pitchFamily="34" charset="-120"/>
              </a:rPr>
              <a:t>Sprints de deux semaines, points d'estimation, daily, rétrospective : un cadencement calé sur la vitesse humaine. Quand une demande est prise en compte d'une réunion à l'autre, le sprint n'a plus d'objet.</a:t>
            </a:r>
            <a:endParaRPr lang="en-US" sz="960" dirty="0"/>
          </a:p>
        </p:txBody>
      </p:sp>
      <p:sp>
        <p:nvSpPr>
          <p:cNvPr id="21" name="Shape 19"/>
          <p:cNvSpPr/>
          <p:nvPr/>
        </p:nvSpPr>
        <p:spPr>
          <a:xfrm>
            <a:off x="548640" y="3529584"/>
            <a:ext cx="8046720" cy="713232"/>
          </a:xfrm>
          <a:prstGeom prst="rect">
            <a:avLst/>
          </a:prstGeom>
          <a:solidFill>
            <a:srgbClr val="10243F"/>
          </a:solidFill>
          <a:ln/>
        </p:spPr>
      </p:sp>
      <p:sp>
        <p:nvSpPr>
          <p:cNvPr id="22" name="Text 20"/>
          <p:cNvSpPr txBox="1"/>
          <p:nvPr/>
        </p:nvSpPr>
        <p:spPr>
          <a:xfrm>
            <a:off x="822960" y="3657600"/>
            <a:ext cx="7498080" cy="548640"/>
          </a:xfrm>
          <a:prstGeom prst="rect">
            <a:avLst/>
          </a:prstGeom>
          <a:noFill/>
          <a:ln/>
        </p:spPr>
        <p:txBody>
          <a:bodyPr wrap="square" lIns="0" tIns="0" rIns="0" bIns="0" rtlCol="0" anchor="t"/>
          <a:lstStyle/>
          <a:p>
            <a:pPr indent="0" marL="0">
              <a:lnSpc>
                <a:spcPct val="105000"/>
              </a:lnSpc>
              <a:buNone/>
            </a:pPr>
            <a:r>
              <a:rPr lang="en-US" sz="1000" dirty="0">
                <a:solidFill>
                  <a:srgbClr val="FFFFFF"/>
                </a:solidFill>
                <a:latin typeface="Cambria" pitchFamily="34" charset="0"/>
                <a:ea typeface="Cambria" pitchFamily="34" charset="-122"/>
                <a:cs typeface="Cambria" pitchFamily="34" charset="-120"/>
              </a:rPr>
              <a:t>Ce n'est pas un défaut de ces outils : ils ont été conçus pour un développement à vitesse humaine. Utilisés tels quels, ils réimposent cette vitesse — et c'est l'ancienne organisation, outillée, que mesurent les études.</a:t>
            </a:r>
            <a:endParaRPr lang="en-US" sz="1000" dirty="0"/>
          </a:p>
        </p:txBody>
      </p:sp>
      <p:sp>
        <p:nvSpPr>
          <p:cNvPr id="23" name="Text 21"/>
          <p:cNvSpPr txBox="1"/>
          <p:nvPr/>
        </p:nvSpPr>
        <p:spPr>
          <a:xfrm>
            <a:off x="548640" y="4389120"/>
            <a:ext cx="8046720" cy="274320"/>
          </a:xfrm>
          <a:prstGeom prst="rect">
            <a:avLst/>
          </a:prstGeom>
          <a:noFill/>
          <a:ln/>
        </p:spPr>
        <p:txBody>
          <a:bodyPr wrap="square" lIns="0" tIns="0" rIns="0" bIns="0" rtlCol="0" anchor="ctr"/>
          <a:lstStyle/>
          <a:p>
            <a:pPr indent="0" marL="0">
              <a:buNone/>
            </a:pPr>
            <a:r>
              <a:rPr lang="en-US" sz="1050" i="1" dirty="0">
                <a:solidFill>
                  <a:srgbClr val="10243F"/>
                </a:solidFill>
                <a:latin typeface="Cambria" pitchFamily="34" charset="0"/>
                <a:ea typeface="Cambria" pitchFamily="34" charset="-122"/>
                <a:cs typeface="Cambria" pitchFamily="34" charset="-120"/>
              </a:rPr>
              <a:t>En attendant les outils de demain, on adapte l'usage : un ticket par lot, la validation par les tests, la conversation plutôt que la frappe.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Développer avec l'IA</dc:title>
  <dc:subject>PptxGenJS Presentation</dc:subject>
  <dc:creator>It.o</dc:creator>
  <cp:lastModifiedBy>It.o</cp:lastModifiedBy>
  <cp:revision>1</cp:revision>
  <dcterms:created xsi:type="dcterms:W3CDTF">2026-09-08T21:38:05Z</dcterms:created>
  <dcterms:modified xsi:type="dcterms:W3CDTF">2026-09-08T21:38:05Z</dcterms:modified>
</cp:coreProperties>
</file>